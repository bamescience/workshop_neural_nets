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83" r:id="rId2"/>
    <p:sldId id="273" r:id="rId3"/>
    <p:sldId id="257" r:id="rId4"/>
    <p:sldId id="258" r:id="rId5"/>
    <p:sldId id="260" r:id="rId6"/>
    <p:sldId id="261" r:id="rId7"/>
    <p:sldId id="269" r:id="rId8"/>
    <p:sldId id="275" r:id="rId9"/>
    <p:sldId id="277" r:id="rId10"/>
    <p:sldId id="276" r:id="rId11"/>
    <p:sldId id="262" r:id="rId12"/>
    <p:sldId id="284" r:id="rId13"/>
    <p:sldId id="268" r:id="rId14"/>
    <p:sldId id="274" r:id="rId15"/>
    <p:sldId id="267" r:id="rId16"/>
    <p:sldId id="279" r:id="rId17"/>
    <p:sldId id="278" r:id="rId18"/>
    <p:sldId id="265" r:id="rId19"/>
    <p:sldId id="281" r:id="rId20"/>
    <p:sldId id="282" r:id="rId21"/>
    <p:sldId id="271" r:id="rId22"/>
    <p:sldId id="280" r:id="rId23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15" userDrawn="1">
          <p15:clr>
            <a:srgbClr val="A4A3A4"/>
          </p15:clr>
        </p15:guide>
        <p15:guide id="2" orient="horz" pos="826" userDrawn="1">
          <p15:clr>
            <a:srgbClr val="A4A3A4"/>
          </p15:clr>
        </p15:guide>
        <p15:guide id="3" orient="horz" pos="690" userDrawn="1">
          <p15:clr>
            <a:srgbClr val="A4A3A4"/>
          </p15:clr>
        </p15:guide>
        <p15:guide id="5" orient="horz" pos="804" userDrawn="1">
          <p15:clr>
            <a:srgbClr val="A4A3A4"/>
          </p15:clr>
        </p15:guide>
        <p15:guide id="6" orient="horz" pos="2845" userDrawn="1">
          <p15:clr>
            <a:srgbClr val="A4A3A4"/>
          </p15:clr>
        </p15:guide>
        <p15:guide id="7" pos="340">
          <p15:clr>
            <a:srgbClr val="A4A3A4"/>
          </p15:clr>
        </p15:guide>
        <p15:guide id="8" pos="5420">
          <p15:clr>
            <a:srgbClr val="A4A3A4"/>
          </p15:clr>
        </p15:guide>
        <p15:guide id="9" pos="2971" userDrawn="1">
          <p15:clr>
            <a:srgbClr val="A4A3A4"/>
          </p15:clr>
        </p15:guide>
        <p15:guide id="10" pos="2812" userDrawn="1">
          <p15:clr>
            <a:srgbClr val="A4A3A4"/>
          </p15:clr>
        </p15:guide>
        <p15:guide id="12" pos="4536" userDrawn="1">
          <p15:clr>
            <a:srgbClr val="A4A3A4"/>
          </p15:clr>
        </p15:guide>
        <p15:guide id="13" pos="2080">
          <p15:clr>
            <a:srgbClr val="A4A3A4"/>
          </p15:clr>
        </p15:guide>
        <p15:guide id="14" pos="179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4646"/>
    <a:srgbClr val="181818"/>
    <a:srgbClr val="D1DBC9"/>
    <a:srgbClr val="F1F1F1"/>
    <a:srgbClr val="C9F6AB"/>
    <a:srgbClr val="FFB2AC"/>
    <a:srgbClr val="D2DFC5"/>
    <a:srgbClr val="B11F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7974" autoAdjust="0"/>
  </p:normalViewPr>
  <p:slideViewPr>
    <p:cSldViewPr snapToGrid="0" snapToObjects="1" showGuides="1">
      <p:cViewPr varScale="1">
        <p:scale>
          <a:sx n="91" d="100"/>
          <a:sy n="91" d="100"/>
        </p:scale>
        <p:origin x="1166" y="72"/>
      </p:cViewPr>
      <p:guideLst>
        <p:guide orient="horz" pos="1915"/>
        <p:guide orient="horz" pos="826"/>
        <p:guide orient="horz" pos="690"/>
        <p:guide orient="horz" pos="804"/>
        <p:guide orient="horz" pos="2845"/>
        <p:guide pos="340"/>
        <p:guide pos="5420"/>
        <p:guide pos="2971"/>
        <p:guide pos="2812"/>
        <p:guide pos="4536"/>
        <p:guide pos="2080"/>
        <p:guide pos="17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5BC77-E589-FC43-842C-314DEB76EF88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4BCADE-75F8-C143-8D6A-11EFEA56B0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94934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1DCD43-2D46-4F8F-A5DD-26B42E953E0E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D62D0-23E2-4DD5-9BB6-D6C7194C924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5478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chine-learning/epoch-in-machine-learning/" TargetMode="External"/><Relationship Id="rId3" Type="http://schemas.openxmlformats.org/officeDocument/2006/relationships/hyperlink" Target="https://medium.com/syntaxerrorpub/what-are-steps-epochs-and-batch-size-in-deep-learning-5c942539a5f8" TargetMode="External"/><Relationship Id="rId7" Type="http://schemas.openxmlformats.org/officeDocument/2006/relationships/hyperlink" Target="https://www.eimt.edu.eu/difference-between-epoch-and-batch-machine-learning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youtube.com/watch?v=1EGnVNd6b6Q&amp;t=154" TargetMode="External"/><Relationship Id="rId5" Type="http://schemas.openxmlformats.org/officeDocument/2006/relationships/hyperlink" Target="https://www.youtube.com/watch?v=TcsrNmZNGLE&amp;t=28" TargetMode="External"/><Relationship Id="rId10" Type="http://schemas.openxmlformats.org/officeDocument/2006/relationships/hyperlink" Target="https://medium.com/@akankshaverma136/epochs-batch-and-iterations-in-deep-learning-ed319565e85e" TargetMode="External"/><Relationship Id="rId4" Type="http://schemas.openxmlformats.org/officeDocument/2006/relationships/hyperlink" Target="https://www.youtube.com/shorts/O7OIG8XQqgw" TargetMode="External"/><Relationship Id="rId9" Type="http://schemas.openxmlformats.org/officeDocument/2006/relationships/hyperlink" Target="https://www.youtube.com/watch?v=NFLlXE-6vno" TargetMode="External"/></Relationships>
</file>

<file path=ppt/notesSlides/_rels/notes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chine-learning/epoch-in-machine-learning/" TargetMode="External"/><Relationship Id="rId3" Type="http://schemas.openxmlformats.org/officeDocument/2006/relationships/hyperlink" Target="https://medium.com/syntaxerrorpub/what-are-steps-epochs-and-batch-size-in-deep-learning-5c942539a5f8" TargetMode="External"/><Relationship Id="rId7" Type="http://schemas.openxmlformats.org/officeDocument/2006/relationships/hyperlink" Target="https://www.eimt.edu.eu/difference-between-epoch-and-batch-machine-learning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youtube.com/watch?v=1EGnVNd6b6Q&amp;t=154" TargetMode="External"/><Relationship Id="rId5" Type="http://schemas.openxmlformats.org/officeDocument/2006/relationships/hyperlink" Target="https://www.youtube.com/watch?v=TcsrNmZNGLE&amp;t=28" TargetMode="External"/><Relationship Id="rId10" Type="http://schemas.openxmlformats.org/officeDocument/2006/relationships/hyperlink" Target="https://medium.com/@akankshaverma136/epochs-batch-and-iterations-in-deep-learning-ed319565e85e" TargetMode="External"/><Relationship Id="rId4" Type="http://schemas.openxmlformats.org/officeDocument/2006/relationships/hyperlink" Target="https://www.youtube.com/shorts/O7OIG8XQqgw" TargetMode="External"/><Relationship Id="rId9" Type="http://schemas.openxmlformats.org/officeDocument/2006/relationships/hyperlink" Target="https://www.youtube.com/watch?v=NFLlXE-6vno" TargetMode="External"/></Relationships>
</file>

<file path=ppt/notesSlides/_rels/notes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chine-learning/epoch-in-machine-learning/" TargetMode="External"/><Relationship Id="rId3" Type="http://schemas.openxmlformats.org/officeDocument/2006/relationships/hyperlink" Target="https://medium.com/syntaxerrorpub/what-are-steps-epochs-and-batch-size-in-deep-learning-5c942539a5f8" TargetMode="External"/><Relationship Id="rId7" Type="http://schemas.openxmlformats.org/officeDocument/2006/relationships/hyperlink" Target="https://www.eimt.edu.eu/difference-between-epoch-and-batch-machine-learning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youtube.com/watch?v=1EGnVNd6b6Q&amp;t=154" TargetMode="External"/><Relationship Id="rId5" Type="http://schemas.openxmlformats.org/officeDocument/2006/relationships/hyperlink" Target="https://www.youtube.com/watch?v=TcsrNmZNGLE&amp;t=28" TargetMode="External"/><Relationship Id="rId10" Type="http://schemas.openxmlformats.org/officeDocument/2006/relationships/hyperlink" Target="https://medium.com/@akankshaverma136/epochs-batch-and-iterations-in-deep-learning-ed319565e85e" TargetMode="External"/><Relationship Id="rId4" Type="http://schemas.openxmlformats.org/officeDocument/2006/relationships/hyperlink" Target="https://www.youtube.com/shorts/O7OIG8XQqgw" TargetMode="External"/><Relationship Id="rId9" Type="http://schemas.openxmlformats.org/officeDocument/2006/relationships/hyperlink" Target="https://www.youtube.com/watch?v=NFLlXE-6vno" TargetMode="Externa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More emphasis on machine learning! When does it make sense, what can it do?</a:t>
            </a:r>
          </a:p>
          <a:p>
            <a:r>
              <a:rPr lang="en-GB" dirty="0"/>
              <a:t>Data key point! They are not there out of thin air!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8472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02B1-8F12-468C-1314-84502417F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A620B92-0473-C049-BC93-7B9AE5DFDC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17B4D1E-3682-826C-2FD9-CB31BDA864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AA9453-FD04-BBBA-8E63-E9ED496E64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91980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0951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Methods = functions that belong to objects or classes</a:t>
            </a:r>
          </a:p>
          <a:p>
            <a:endParaRPr lang="en-GB" dirty="0"/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Tracks Parameters: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automatically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tracks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biases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inside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Enables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.to() and .</a:t>
            </a:r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cuda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all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variables to a GPU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command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Manages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Training Modes: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It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switch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behavior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 and .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eval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().</a:t>
            </a:r>
          </a:p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59738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nn.Modules</a:t>
            </a:r>
            <a:r>
              <a:rPr lang="en-GB" dirty="0"/>
              <a:t> are python classes that have internal attributes like </a:t>
            </a:r>
            <a:r>
              <a:rPr lang="en-GB" dirty="0" err="1"/>
              <a:t>self.weight</a:t>
            </a:r>
            <a:r>
              <a:rPr lang="en-GB" dirty="0"/>
              <a:t> or </a:t>
            </a:r>
            <a:r>
              <a:rPr lang="en-GB" dirty="0" err="1"/>
              <a:t>self.bias</a:t>
            </a:r>
            <a:r>
              <a:rPr lang="en-GB" dirty="0"/>
              <a:t>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GB" dirty="0"/>
              <a:t>these are tuned automatically with internal functions and do not have to be defined or given every time this module is called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Internally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modules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will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usually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their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functional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counterpart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 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forward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somewhere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GB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GB" dirty="0"/>
              <a:t>Easier than using </a:t>
            </a:r>
            <a:r>
              <a:rPr lang="en-GB" dirty="0" err="1"/>
              <a:t>nn.functional.linear</a:t>
            </a:r>
            <a:r>
              <a:rPr lang="en-GB" dirty="0"/>
              <a:t>(), which would just be a function. But: more flexibility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47259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Questions: </a:t>
            </a:r>
          </a:p>
          <a:p>
            <a:r>
              <a:rPr lang="en-GB" dirty="0"/>
              <a:t>What are input dimensions? 784</a:t>
            </a:r>
          </a:p>
          <a:p>
            <a:r>
              <a:rPr lang="en-GB" dirty="0"/>
              <a:t>What are the output dimensions? 10</a:t>
            </a:r>
          </a:p>
          <a:p>
            <a:r>
              <a:rPr lang="en-GB" dirty="0"/>
              <a:t>What are the hidden dimensions? arbitrary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59433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nn.Modules</a:t>
            </a:r>
            <a:r>
              <a:rPr lang="en-GB" dirty="0"/>
              <a:t> are python classes that have internal attributes like </a:t>
            </a:r>
            <a:r>
              <a:rPr lang="en-GB" dirty="0" err="1"/>
              <a:t>self.weight</a:t>
            </a:r>
            <a:r>
              <a:rPr lang="en-GB" dirty="0"/>
              <a:t> or </a:t>
            </a:r>
            <a:r>
              <a:rPr lang="en-GB" dirty="0" err="1"/>
              <a:t>self.bias</a:t>
            </a:r>
            <a:r>
              <a:rPr lang="en-GB" dirty="0"/>
              <a:t>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GB" dirty="0"/>
              <a:t>these are tuned automatically with internal functions and do not have to be defined or given every time this module is called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Internally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modules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will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usually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their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functional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counterpart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 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forward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somewhere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GB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GB" dirty="0"/>
              <a:t>Easier than using </a:t>
            </a:r>
            <a:r>
              <a:rPr lang="en-GB" dirty="0" err="1"/>
              <a:t>nn.functional.linear</a:t>
            </a:r>
            <a:r>
              <a:rPr lang="en-GB" dirty="0"/>
              <a:t>(), which would just be a function. But: more flexibility</a:t>
            </a:r>
          </a:p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29466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7154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 train for multiple “epochs” -&gt; one epoch runs with batches</a:t>
            </a:r>
          </a:p>
          <a:p>
            <a:endParaRPr lang="en-GB" dirty="0"/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cycle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sample in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Training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usually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multiple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patterns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portion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chosen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update internal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samples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contained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inside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Iteration (</a:t>
            </a:r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feeding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updating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[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2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3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4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5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6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7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10"/>
              </a:rPr>
              <a:t>8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535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504C4-B30B-ED3D-C1AC-B05ED508C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0EE5878-E6D9-A962-800F-1AD04EF9B2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73C9EA0-643F-45C8-D94E-5DA6CADF9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 train for multiple “epochs” -&gt; one epoch runs with batches</a:t>
            </a:r>
          </a:p>
          <a:p>
            <a:endParaRPr lang="en-GB" dirty="0"/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cycle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sample in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Training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usually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multiple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patterns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portion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chosen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update internal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samples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contained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inside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Iteration (</a:t>
            </a:r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feeding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updating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[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2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3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4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5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6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7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10"/>
              </a:rPr>
              <a:t>8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C94653-E802-C63F-C327-3AB8EDD4F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8491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704AD-92CE-D954-D1ED-578EB15BD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AD774DC-5B84-BD6D-E3A9-BA7DD8C29F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F4193A-87E3-73E7-F65C-5AD58234E8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 train for multiple “epochs” -&gt; one epoch runs with batches</a:t>
            </a:r>
          </a:p>
          <a:p>
            <a:endParaRPr lang="en-GB" dirty="0"/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cycle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sample in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Training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usually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multiple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patterns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accurately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portion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chosen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update internal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samples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contained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inside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Iteration (</a:t>
            </a:r>
            <a:r>
              <a:rPr lang="de-DE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Step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single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feeding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updating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weights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[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2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3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4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5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6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7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10"/>
              </a:rPr>
              <a:t>8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439F67-B907-90F5-ABC0-1EA42ED628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5023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936AD-6959-90E3-7435-E4C25040E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2B0FFA5-FA4E-37D2-598E-E15833DE9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18CE26-4E6D-657E-F608-7F0CFCC98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354212-400C-E217-9C70-C4C57B25ED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61161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901519"/>
            <a:ext cx="1614683" cy="356961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88000"/>
            <a:ext cx="9143998" cy="3563111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40000" y="1965601"/>
            <a:ext cx="7200000" cy="750166"/>
          </a:xfrm>
        </p:spPr>
        <p:txBody>
          <a:bodyPr/>
          <a:lstStyle>
            <a:lvl1pPr>
              <a:lnSpc>
                <a:spcPts val="3000"/>
              </a:lnSpc>
              <a:defRPr sz="2400" b="1" cap="all" baseline="0"/>
            </a:lvl1pPr>
          </a:lstStyle>
          <a:p>
            <a:r>
              <a:rPr lang="de-DE" dirty="0"/>
              <a:t>TITEL DER PRÄSENTATION</a:t>
            </a:r>
            <a:br>
              <a:rPr lang="de-DE" dirty="0"/>
            </a:br>
            <a:r>
              <a:rPr lang="de-DE" dirty="0"/>
              <a:t>SCHRIFT VERDANA BOLD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40000" y="2728800"/>
            <a:ext cx="7200000" cy="1643150"/>
          </a:xfrm>
        </p:spPr>
        <p:txBody>
          <a:bodyPr/>
          <a:lstStyle>
            <a:lvl1pPr marL="0" indent="0" algn="l">
              <a:lnSpc>
                <a:spcPts val="3000"/>
              </a:lnSpc>
              <a:spcBef>
                <a:spcPts val="0"/>
              </a:spcBef>
              <a:buNone/>
              <a:defRPr sz="2400" b="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Untertitel (optional), Name des Redners</a:t>
            </a:r>
          </a:p>
          <a:p>
            <a:r>
              <a:rPr lang="de-DE" dirty="0" err="1"/>
              <a:t>Veranstatungstitel</a:t>
            </a:r>
            <a:endParaRPr lang="de-DE" dirty="0"/>
          </a:p>
          <a:p>
            <a:r>
              <a:rPr lang="de-DE" dirty="0" err="1"/>
              <a:t>Verdana</a:t>
            </a:r>
            <a:r>
              <a:rPr lang="de-DE" dirty="0"/>
              <a:t> Regular 24 </a:t>
            </a:r>
            <a:r>
              <a:rPr lang="de-DE" dirty="0" err="1"/>
              <a:t>pt</a:t>
            </a:r>
            <a:r>
              <a:rPr lang="de-DE" dirty="0"/>
              <a:t>, ZAB 30 </a:t>
            </a:r>
            <a:r>
              <a:rPr lang="de-DE" dirty="0" err="1"/>
              <a:t>pt</a:t>
            </a:r>
            <a:endParaRPr lang="de-DE" dirty="0"/>
          </a:p>
          <a:p>
            <a:r>
              <a:rPr lang="de-DE" dirty="0"/>
              <a:t>Maximal vier Zeilen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900000"/>
          </a:xfrm>
          <a:prstGeom prst="rect">
            <a:avLst/>
          </a:prstGeom>
        </p:spPr>
      </p:pic>
      <p:cxnSp>
        <p:nvCxnSpPr>
          <p:cNvPr id="11" name="Gerade Verbindung 10"/>
          <p:cNvCxnSpPr/>
          <p:nvPr userDrawn="1"/>
        </p:nvCxnSpPr>
        <p:spPr>
          <a:xfrm>
            <a:off x="539750" y="1771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281600"/>
            <a:ext cx="1440000" cy="2872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Datum</a:t>
            </a:r>
          </a:p>
        </p:txBody>
      </p:sp>
      <p:sp>
        <p:nvSpPr>
          <p:cNvPr id="13" name="Textfeld 12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4622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Titelfolie (ausführlich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901519"/>
            <a:ext cx="1614683" cy="356961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88000"/>
            <a:ext cx="9143998" cy="3563111"/>
          </a:xfrm>
          <a:prstGeom prst="rect">
            <a:avLst/>
          </a:prstGeom>
        </p:spPr>
      </p:pic>
      <p:cxnSp>
        <p:nvCxnSpPr>
          <p:cNvPr id="13" name="Gerade Verbindung 12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39750" y="1771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40000" y="1965600"/>
            <a:ext cx="8064000" cy="748800"/>
          </a:xfrm>
        </p:spPr>
        <p:txBody>
          <a:bodyPr/>
          <a:lstStyle>
            <a:lvl1pPr>
              <a:lnSpc>
                <a:spcPts val="3000"/>
              </a:lnSpc>
              <a:defRPr sz="2400" b="1" cap="all" baseline="0"/>
            </a:lvl1pPr>
          </a:lstStyle>
          <a:p>
            <a:r>
              <a:rPr lang="de-DE" dirty="0"/>
              <a:t>TITEL DER PRÄSENTATION (AUSFÜHRLICH)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40000" y="2340000"/>
            <a:ext cx="8064000" cy="748800"/>
          </a:xfrm>
        </p:spPr>
        <p:txBody>
          <a:bodyPr/>
          <a:lstStyle>
            <a:lvl1pPr marL="0" indent="0" algn="l">
              <a:lnSpc>
                <a:spcPts val="3000"/>
              </a:lnSpc>
              <a:spcBef>
                <a:spcPts val="0"/>
              </a:spcBef>
              <a:buNone/>
              <a:defRPr sz="2400" b="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Untertitel </a:t>
            </a:r>
            <a:r>
              <a:rPr lang="de-DE" dirty="0" err="1"/>
              <a:t>Verdana</a:t>
            </a:r>
            <a:r>
              <a:rPr lang="de-DE" dirty="0"/>
              <a:t> Regular, 24 </a:t>
            </a:r>
            <a:r>
              <a:rPr lang="de-DE" dirty="0" err="1"/>
              <a:t>pt</a:t>
            </a:r>
            <a:r>
              <a:rPr lang="de-DE" dirty="0"/>
              <a:t> ZAB 30 </a:t>
            </a:r>
            <a:r>
              <a:rPr lang="de-DE" dirty="0" err="1"/>
              <a:t>pt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900000"/>
          </a:xfrm>
          <a:prstGeom prst="rect">
            <a:avLst/>
          </a:prstGeom>
        </p:spPr>
      </p:pic>
      <p:sp>
        <p:nvSpPr>
          <p:cNvPr id="15" name="Textplatzhalt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540000" y="3042000"/>
            <a:ext cx="8064000" cy="75388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Auflistung der Beteiligten Personen </a:t>
            </a:r>
            <a:r>
              <a:rPr lang="de-DE" dirty="0" err="1"/>
              <a:t>Verdana</a:t>
            </a:r>
            <a:r>
              <a:rPr lang="de-DE" dirty="0"/>
              <a:t> Regular 16 </a:t>
            </a:r>
            <a:r>
              <a:rPr lang="de-DE" dirty="0" err="1"/>
              <a:t>pt</a:t>
            </a:r>
            <a:r>
              <a:rPr lang="de-DE" dirty="0"/>
              <a:t>, ZAB 21 </a:t>
            </a:r>
            <a:r>
              <a:rPr lang="de-DE" dirty="0" err="1"/>
              <a:t>pt</a:t>
            </a:r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Textplatzhalter 16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3579862"/>
            <a:ext cx="6264498" cy="720080"/>
          </a:xfrm>
        </p:spPr>
        <p:txBody>
          <a:bodyPr anchor="b" anchorCtr="0"/>
          <a:lstStyle>
            <a:lvl1pPr>
              <a:lnSpc>
                <a:spcPts val="1500"/>
              </a:lnSpc>
              <a:spcBef>
                <a:spcPts val="0"/>
              </a:spcBef>
              <a:defRPr sz="1200" baseline="0"/>
            </a:lvl1pPr>
            <a:lvl2pPr>
              <a:lnSpc>
                <a:spcPts val="1500"/>
              </a:lnSpc>
              <a:spcBef>
                <a:spcPts val="0"/>
              </a:spcBef>
              <a:defRPr sz="1200"/>
            </a:lvl2pPr>
            <a:lvl3pPr>
              <a:lnSpc>
                <a:spcPts val="1500"/>
              </a:lnSpc>
              <a:spcBef>
                <a:spcPts val="0"/>
              </a:spcBef>
              <a:defRPr sz="1200"/>
            </a:lvl3pPr>
            <a:lvl4pPr>
              <a:lnSpc>
                <a:spcPts val="1500"/>
              </a:lnSpc>
              <a:spcBef>
                <a:spcPts val="0"/>
              </a:spcBef>
              <a:defRPr sz="1200"/>
            </a:lvl4pPr>
            <a:lvl5pPr>
              <a:lnSpc>
                <a:spcPts val="1500"/>
              </a:lnSpc>
              <a:spcBef>
                <a:spcPts val="0"/>
              </a:spcBef>
              <a:defRPr sz="1200"/>
            </a:lvl5pPr>
          </a:lstStyle>
          <a:p>
            <a:pPr lvl="0"/>
            <a:r>
              <a:rPr lang="de-DE" dirty="0"/>
              <a:t>Auflistung der beteiligten Einrichtungen </a:t>
            </a:r>
            <a:r>
              <a:rPr lang="de-DE" dirty="0" err="1"/>
              <a:t>Verdana</a:t>
            </a:r>
            <a:r>
              <a:rPr lang="de-DE" dirty="0"/>
              <a:t> Regular 12 </a:t>
            </a:r>
            <a:r>
              <a:rPr lang="de-DE" dirty="0" err="1"/>
              <a:t>pt</a:t>
            </a:r>
            <a:r>
              <a:rPr lang="de-DE" dirty="0"/>
              <a:t>, ZAB 15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18" name="Textplatzhalt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281600"/>
            <a:ext cx="1440000" cy="2872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Datum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1183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Gliede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Gliederung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Textplatzhalter 2"/>
          <p:cNvSpPr>
            <a:spLocks noGrp="1"/>
          </p:cNvSpPr>
          <p:nvPr>
            <p:ph idx="1" hasCustomPrompt="1"/>
          </p:nvPr>
        </p:nvSpPr>
        <p:spPr>
          <a:xfrm>
            <a:off x="540000" y="1151999"/>
            <a:ext cx="6822000" cy="3546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tabLst>
                <a:tab pos="6794500" algn="r"/>
              </a:tabLst>
              <a:defRPr/>
            </a:lvl1pPr>
          </a:lstStyle>
          <a:p>
            <a:pPr lvl="0"/>
            <a:r>
              <a:rPr lang="de-DE" dirty="0"/>
              <a:t>Seitenbeschreibung	5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5057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/>
          <p:cNvSpPr/>
          <p:nvPr userDrawn="1"/>
        </p:nvSpPr>
        <p:spPr>
          <a:xfrm>
            <a:off x="539750" y="1080000"/>
            <a:ext cx="8064500" cy="36724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8000"/>
            <a:ext cx="9144000" cy="3563111"/>
          </a:xfrm>
          <a:prstGeom prst="rect">
            <a:avLst/>
          </a:prstGeom>
        </p:spPr>
      </p:pic>
      <p:cxnSp>
        <p:nvCxnSpPr>
          <p:cNvPr id="10" name="Gerade Verbindung 9"/>
          <p:cNvCxnSpPr/>
          <p:nvPr userDrawn="1"/>
        </p:nvCxnSpPr>
        <p:spPr>
          <a:xfrm>
            <a:off x="539750" y="1483168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platzhalter 6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1677600"/>
            <a:ext cx="6822250" cy="748800"/>
          </a:xfrm>
        </p:spPr>
        <p:txBody>
          <a:bodyPr/>
          <a:lstStyle>
            <a:lvl1pPr>
              <a:lnSpc>
                <a:spcPts val="3000"/>
              </a:lnSpc>
              <a:defRPr sz="2400" b="1"/>
            </a:lvl1pPr>
          </a:lstStyle>
          <a:p>
            <a:pPr lvl="0"/>
            <a:r>
              <a:rPr lang="de-DE" dirty="0" err="1"/>
              <a:t>Kapiteltrenner</a:t>
            </a:r>
            <a:endParaRPr lang="de-DE" dirty="0"/>
          </a:p>
          <a:p>
            <a:pPr lvl="0"/>
            <a:r>
              <a:rPr lang="de-DE" dirty="0" err="1"/>
              <a:t>Verdana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 24 PT, ZAB 30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6" hasCustomPrompt="1"/>
          </p:nvPr>
        </p:nvSpPr>
        <p:spPr>
          <a:xfrm>
            <a:off x="539750" y="2440800"/>
            <a:ext cx="6822250" cy="1641600"/>
          </a:xfrm>
        </p:spPr>
        <p:txBody>
          <a:bodyPr/>
          <a:lstStyle>
            <a:lvl1pPr>
              <a:lnSpc>
                <a:spcPts val="3000"/>
              </a:lnSpc>
              <a:defRPr sz="2400"/>
            </a:lvl1pPr>
          </a:lstStyle>
          <a:p>
            <a:pPr lvl="0"/>
            <a:r>
              <a:rPr lang="de-DE" dirty="0"/>
              <a:t>Untertitel </a:t>
            </a:r>
            <a:r>
              <a:rPr lang="de-DE" dirty="0" err="1"/>
              <a:t>Verdana</a:t>
            </a:r>
            <a:r>
              <a:rPr lang="de-DE" dirty="0"/>
              <a:t> Regular 24 </a:t>
            </a:r>
            <a:r>
              <a:rPr lang="de-DE" dirty="0" err="1"/>
              <a:t>pt</a:t>
            </a:r>
            <a:r>
              <a:rPr lang="de-DE" dirty="0"/>
              <a:t>, ZAB 30 </a:t>
            </a:r>
            <a:r>
              <a:rPr lang="de-DE" dirty="0" err="1"/>
              <a:t>pt</a:t>
            </a:r>
            <a:endParaRPr lang="de-DE" dirty="0"/>
          </a:p>
          <a:p>
            <a:pPr lvl="0"/>
            <a:r>
              <a:rPr lang="de-DE" dirty="0"/>
              <a:t>Maximal vier Zeilen</a:t>
            </a:r>
          </a:p>
          <a:p>
            <a:pPr lvl="0"/>
            <a:r>
              <a:rPr lang="de-DE" dirty="0"/>
              <a:t>Textfarbe BAM Schwarz</a:t>
            </a:r>
          </a:p>
        </p:txBody>
      </p:sp>
      <p:sp>
        <p:nvSpPr>
          <p:cNvPr id="12" name="Textfeld 11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983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1-spaltig, L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 hasCustomPrompt="1"/>
          </p:nvPr>
        </p:nvSpPr>
        <p:spPr>
          <a:xfrm>
            <a:off x="539750" y="1152000"/>
            <a:ext cx="6822250" cy="3546001"/>
          </a:xfrm>
        </p:spPr>
        <p:txBody>
          <a:bodyPr/>
          <a:lstStyle>
            <a:lvl1pPr marL="270000" indent="-270000">
              <a:spcBef>
                <a:spcPts val="1000"/>
              </a:spcBef>
              <a:buFont typeface="+mj-lt"/>
              <a:buAutoNum type="arabicPeriod"/>
              <a:defRPr/>
            </a:lvl1pPr>
            <a:lvl2pPr marL="270000" indent="-270000">
              <a:spcBef>
                <a:spcPts val="0"/>
              </a:spcBef>
              <a:buFont typeface=".AppleSystemUIFont" charset="-120"/>
              <a:buChar char="–"/>
              <a:defRPr/>
            </a:lvl2pPr>
            <a:lvl3pPr marL="540000" indent="-270000">
              <a:spcBef>
                <a:spcPts val="0"/>
              </a:spcBef>
              <a:defRPr/>
            </a:lvl3pPr>
            <a:lvl4pPr marL="540000">
              <a:spcBef>
                <a:spcPts val="0"/>
              </a:spcBef>
              <a:defRPr/>
            </a:lvl4pPr>
            <a:lvl5pPr marL="810000">
              <a:spcBef>
                <a:spcPts val="0"/>
              </a:spcBef>
              <a:defRPr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4745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M: kleine Schriftgröß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 durch </a:t>
            </a:r>
            <a:br>
              <a:rPr lang="de-DE" dirty="0"/>
            </a:br>
            <a:r>
              <a:rPr lang="de-DE" dirty="0"/>
              <a:t>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40000" y="1151999"/>
            <a:ext cx="6480000" cy="3546001"/>
          </a:xfrm>
        </p:spPr>
        <p:txBody>
          <a:bodyPr/>
          <a:lstStyle>
            <a:lvl1pPr marL="270000" indent="-270000">
              <a:lnSpc>
                <a:spcPts val="1600"/>
              </a:lnSpc>
              <a:spcBef>
                <a:spcPts val="1000"/>
              </a:spcBef>
              <a:spcAft>
                <a:spcPts val="0"/>
              </a:spcAft>
              <a:buClr>
                <a:schemeClr val="tx2"/>
              </a:buClr>
              <a:buFont typeface="+mj-lt"/>
              <a:buAutoNum type="arabicPeriod"/>
              <a:defRPr sz="1300">
                <a:solidFill>
                  <a:schemeClr val="tx2"/>
                </a:solidFill>
              </a:defRPr>
            </a:lvl1pPr>
            <a:lvl2pPr marL="270000" indent="-270000">
              <a:lnSpc>
                <a:spcPts val="1600"/>
              </a:lnSpc>
              <a:spcBef>
                <a:spcPts val="0"/>
              </a:spcBef>
              <a:buFont typeface=".AppleSystemUIFont" charset="0"/>
              <a:buChar char="–"/>
              <a:defRPr sz="1300">
                <a:solidFill>
                  <a:schemeClr val="tx2"/>
                </a:solidFill>
              </a:defRPr>
            </a:lvl2pPr>
            <a:lvl3pPr marL="540000" indent="-270000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>
                <a:solidFill>
                  <a:schemeClr val="tx2"/>
                </a:solidFill>
              </a:defRPr>
            </a:lvl3pPr>
            <a:lvl4pPr marL="540000" indent="-270000">
              <a:lnSpc>
                <a:spcPts val="1600"/>
              </a:lnSpc>
              <a:spcBef>
                <a:spcPts val="0"/>
              </a:spcBef>
              <a:defRPr sz="1300">
                <a:solidFill>
                  <a:schemeClr val="tx2"/>
                </a:solidFill>
              </a:defRPr>
            </a:lvl4pPr>
            <a:lvl5pPr marL="810000" indent="-270000">
              <a:lnSpc>
                <a:spcPts val="1600"/>
              </a:lnSpc>
              <a:spcBef>
                <a:spcPts val="0"/>
              </a:spcBef>
              <a:defRPr sz="130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1-spaltig,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6822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890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nu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8064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4406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392400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Inhaltsplatzhalter 8"/>
          <p:cNvSpPr>
            <a:spLocks noGrp="1"/>
          </p:cNvSpPr>
          <p:nvPr>
            <p:ph sz="quarter" idx="14"/>
          </p:nvPr>
        </p:nvSpPr>
        <p:spPr>
          <a:xfrm>
            <a:off x="4680000" y="1152000"/>
            <a:ext cx="392400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064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 1 z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1152000"/>
            <a:ext cx="2544763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4"/>
          </p:nvPr>
        </p:nvSpPr>
        <p:spPr>
          <a:xfrm>
            <a:off x="3301750" y="1152000"/>
            <a:ext cx="5302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5757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Marginal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6732000" y="1152000"/>
            <a:ext cx="1872000" cy="3546000"/>
          </a:xfrm>
          <a:solidFill>
            <a:srgbClr val="00AFF0"/>
          </a:solidFill>
        </p:spPr>
        <p:txBody>
          <a:bodyPr lIns="72000" tIns="72000" rIns="72000" bIns="72000"/>
          <a:lstStyle>
            <a:lvl1pPr>
              <a:lnSpc>
                <a:spcPts val="1200"/>
              </a:lnSpc>
              <a:defRPr sz="900">
                <a:solidFill>
                  <a:schemeClr val="bg1"/>
                </a:solidFill>
              </a:defRPr>
            </a:lvl1pPr>
            <a:lvl2pPr marL="18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2pPr>
            <a:lvl3pPr marL="18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3pPr>
            <a:lvl4pPr marL="36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4pPr>
            <a:lvl5pPr marL="54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4"/>
          </p:nvPr>
        </p:nvSpPr>
        <p:spPr>
          <a:xfrm>
            <a:off x="539750" y="1151999"/>
            <a:ext cx="5940000" cy="3546001"/>
          </a:xfrm>
        </p:spPr>
        <p:txBody>
          <a:bodyPr/>
          <a:lstStyle>
            <a:lvl1pPr>
              <a:lnSpc>
                <a:spcPts val="21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ts val="21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ts val="21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ts val="21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ts val="21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Bilder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Bildplatzhalter 12"/>
          <p:cNvSpPr>
            <a:spLocks noGrp="1"/>
          </p:cNvSpPr>
          <p:nvPr>
            <p:ph type="pic" sz="quarter" idx="16"/>
          </p:nvPr>
        </p:nvSpPr>
        <p:spPr>
          <a:xfrm>
            <a:off x="539750" y="1188000"/>
            <a:ext cx="3924000" cy="24732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4" name="Bildplatzhalter 12"/>
          <p:cNvSpPr>
            <a:spLocks noGrp="1"/>
          </p:cNvSpPr>
          <p:nvPr>
            <p:ph type="pic" sz="quarter" idx="17"/>
          </p:nvPr>
        </p:nvSpPr>
        <p:spPr>
          <a:xfrm>
            <a:off x="4680250" y="1188000"/>
            <a:ext cx="3924000" cy="24715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8"/>
          </p:nvPr>
        </p:nvSpPr>
        <p:spPr>
          <a:xfrm>
            <a:off x="539750" y="3815999"/>
            <a:ext cx="3924000" cy="882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9"/>
          </p:nvPr>
        </p:nvSpPr>
        <p:spPr>
          <a:xfrm>
            <a:off x="4678363" y="3816000"/>
            <a:ext cx="3924000" cy="882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0" name="Gerade Verbindung 9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5848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3-spaltig, Bilder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Bildplatzhalter 12"/>
          <p:cNvSpPr>
            <a:spLocks noGrp="1"/>
          </p:cNvSpPr>
          <p:nvPr>
            <p:ph type="pic" sz="quarter" idx="16"/>
          </p:nvPr>
        </p:nvSpPr>
        <p:spPr>
          <a:xfrm>
            <a:off x="3302000" y="1188000"/>
            <a:ext cx="2545200" cy="20196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4" name="Bildplatzhalter 12"/>
          <p:cNvSpPr>
            <a:spLocks noGrp="1"/>
          </p:cNvSpPr>
          <p:nvPr>
            <p:ph type="pic" sz="quarter" idx="17"/>
          </p:nvPr>
        </p:nvSpPr>
        <p:spPr>
          <a:xfrm>
            <a:off x="539313" y="1188000"/>
            <a:ext cx="2545200" cy="20196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Bildplatzhalter 12"/>
          <p:cNvSpPr>
            <a:spLocks noGrp="1"/>
          </p:cNvSpPr>
          <p:nvPr>
            <p:ph type="pic" sz="quarter" idx="18"/>
          </p:nvPr>
        </p:nvSpPr>
        <p:spPr>
          <a:xfrm>
            <a:off x="6059488" y="1188000"/>
            <a:ext cx="2545200" cy="20196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9"/>
          </p:nvPr>
        </p:nvSpPr>
        <p:spPr>
          <a:xfrm>
            <a:off x="539750" y="3348000"/>
            <a:ext cx="5302800" cy="1332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0" name="Gerade Verbindung 9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2647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Bilder, 4er Grup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3"/>
          </p:nvPr>
        </p:nvSpPr>
        <p:spPr>
          <a:xfrm>
            <a:off x="4678113" y="1227600"/>
            <a:ext cx="1854000" cy="15444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Bildplatzhalter 8"/>
          <p:cNvSpPr>
            <a:spLocks noGrp="1"/>
          </p:cNvSpPr>
          <p:nvPr>
            <p:ph type="pic" sz="quarter" idx="14"/>
          </p:nvPr>
        </p:nvSpPr>
        <p:spPr>
          <a:xfrm>
            <a:off x="6749750" y="1227600"/>
            <a:ext cx="1854000" cy="1544402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1" name="Bildplatzhalter 8"/>
          <p:cNvSpPr>
            <a:spLocks noGrp="1"/>
          </p:cNvSpPr>
          <p:nvPr>
            <p:ph type="pic" sz="quarter" idx="15"/>
          </p:nvPr>
        </p:nvSpPr>
        <p:spPr>
          <a:xfrm>
            <a:off x="6750000" y="2987115"/>
            <a:ext cx="1854000" cy="15444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2" name="Bildplatzhalter 8"/>
          <p:cNvSpPr>
            <a:spLocks noGrp="1"/>
          </p:cNvSpPr>
          <p:nvPr>
            <p:ph type="pic" sz="quarter" idx="16"/>
          </p:nvPr>
        </p:nvSpPr>
        <p:spPr>
          <a:xfrm>
            <a:off x="4678113" y="2987115"/>
            <a:ext cx="1854000" cy="15444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17"/>
          </p:nvPr>
        </p:nvSpPr>
        <p:spPr>
          <a:xfrm>
            <a:off x="540000" y="1188000"/>
            <a:ext cx="3923750" cy="3510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3" name="Gerade Verbindung 12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13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61223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ganzseitiger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0" y="1080000"/>
            <a:ext cx="9144000" cy="36724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2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Bildfolie</a:t>
            </a:r>
            <a:br>
              <a:rPr lang="de-DE" dirty="0"/>
            </a:br>
            <a:r>
              <a:rPr lang="de-DE" dirty="0"/>
              <a:t>Folie mit nur einem Bild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6"/>
          <p:cNvSpPr>
            <a:spLocks noGrp="1"/>
          </p:cNvSpPr>
          <p:nvPr>
            <p:ph type="pic" sz="quarter" idx="14"/>
          </p:nvPr>
        </p:nvSpPr>
        <p:spPr>
          <a:xfrm>
            <a:off x="0" y="987574"/>
            <a:ext cx="9144000" cy="38184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840255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6822000" cy="71757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Überschrift</a:t>
            </a:r>
            <a:br>
              <a:rPr lang="de-DE" dirty="0"/>
            </a:br>
            <a:r>
              <a:rPr lang="de-DE" dirty="0" err="1"/>
              <a:t>Verdana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, 19 </a:t>
            </a:r>
            <a:r>
              <a:rPr lang="de-DE" dirty="0" err="1"/>
              <a:t>pt</a:t>
            </a:r>
            <a:r>
              <a:rPr lang="de-DE" dirty="0"/>
              <a:t>, ZAB 25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40000" y="1152000"/>
            <a:ext cx="6822000" cy="3546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540000" y="4878000"/>
            <a:ext cx="90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602000" y="4878000"/>
            <a:ext cx="576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 dirty="0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884000" y="4878000"/>
            <a:ext cx="72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89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336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4" r:id="rId5"/>
    <p:sldLayoutId id="2147483674" r:id="rId6"/>
    <p:sldLayoutId id="2147483672" r:id="rId7"/>
    <p:sldLayoutId id="2147483671" r:id="rId8"/>
    <p:sldLayoutId id="2147483670" r:id="rId9"/>
    <p:sldLayoutId id="2147483669" r:id="rId10"/>
    <p:sldLayoutId id="2147483673" r:id="rId11"/>
    <p:sldLayoutId id="2147483666" r:id="rId12"/>
    <p:sldLayoutId id="2147483665" r:id="rId13"/>
    <p:sldLayoutId id="2147483667" r:id="rId14"/>
    <p:sldLayoutId id="2147483654" r:id="rId15"/>
  </p:sldLayoutIdLst>
  <p:hf hdr="0"/>
  <p:txStyles>
    <p:titleStyle>
      <a:lvl1pPr algn="l" defTabSz="914400" rtl="0" eaLnBrk="1" latinLnBrk="0" hangingPunct="1">
        <a:lnSpc>
          <a:spcPts val="2500"/>
        </a:lnSpc>
        <a:spcBef>
          <a:spcPct val="0"/>
        </a:spcBef>
        <a:buNone/>
        <a:defRPr sz="1900" b="1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0" indent="0" algn="l" defTabSz="914400" rtl="0" eaLnBrk="1" latinLnBrk="0" hangingPunct="1">
        <a:lnSpc>
          <a:spcPts val="2100"/>
        </a:lnSpc>
        <a:spcBef>
          <a:spcPts val="0"/>
        </a:spcBef>
        <a:buFontTx/>
        <a:buNone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360000" indent="-36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360000" indent="-360000" algn="l" defTabSz="914400" rtl="0" eaLnBrk="1" latinLnBrk="0" hangingPunct="1">
        <a:lnSpc>
          <a:spcPts val="2100"/>
        </a:lnSpc>
        <a:spcBef>
          <a:spcPts val="0"/>
        </a:spcBef>
        <a:buFont typeface="+mj-lt"/>
        <a:buAutoNum type="arabicPeriod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630000" indent="-27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900000" indent="-27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tabLst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AMeScience/workshop_neural_nets/" TargetMode="Externa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4AC358-938C-86F9-211F-91929F3066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750" y="2228370"/>
            <a:ext cx="6936565" cy="1498385"/>
          </a:xfrm>
        </p:spPr>
        <p:txBody>
          <a:bodyPr/>
          <a:lstStyle/>
          <a:p>
            <a:r>
              <a:rPr lang="en-US" sz="2000" dirty="0"/>
              <a:t>Your first Neural Network in </a:t>
            </a:r>
            <a:r>
              <a:rPr lang="en-US" sz="2000" dirty="0" err="1"/>
              <a:t>PyTorch</a:t>
            </a:r>
            <a:r>
              <a:rPr lang="en-US" sz="2000" dirty="0"/>
              <a:t> </a:t>
            </a:r>
            <a:br>
              <a:rPr lang="en-US" sz="2000" dirty="0"/>
            </a:br>
            <a:r>
              <a:rPr lang="en-US" sz="2000" dirty="0"/>
              <a:t>– </a:t>
            </a:r>
            <a:br>
              <a:rPr lang="en-US" sz="2000" dirty="0"/>
            </a:br>
            <a:r>
              <a:rPr lang="en-US" sz="2000" dirty="0"/>
              <a:t>An Introduction</a:t>
            </a:r>
            <a:endParaRPr lang="en-GB" sz="200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9B99E75-405B-C623-450D-C6FA12C7A9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3972644"/>
            <a:ext cx="7200000" cy="399305"/>
          </a:xfrm>
        </p:spPr>
        <p:txBody>
          <a:bodyPr/>
          <a:lstStyle/>
          <a:p>
            <a:r>
              <a:rPr lang="en-GB" sz="1800" dirty="0"/>
              <a:t>Alexander Kister, Simon Müller from VP.1 eScience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65388CF-CE71-13CF-354B-FBC38E08BA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/>
              <a:t>03.09.2026</a:t>
            </a:r>
          </a:p>
        </p:txBody>
      </p:sp>
    </p:spTree>
    <p:extLst>
      <p:ext uri="{BB962C8B-B14F-4D97-AF65-F5344CB8AC3E}">
        <p14:creationId xmlns:p14="http://schemas.microsoft.com/office/powerpoint/2010/main" val="1312926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21DCC1-B0B0-2E04-0D97-A40FEED9C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 will use existing code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06B695C-19FB-F820-3A42-A0CF45383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2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9F47488-3382-9D92-38BD-4B755100FD3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38924" y="2725769"/>
            <a:ext cx="6183530" cy="391886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https://github.com/BAMeScience/workshop_neural_nets/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31931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will do </a:t>
            </a:r>
            <a:r>
              <a:rPr lang="de-DE" dirty="0" err="1"/>
              <a:t>today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3</a:t>
            </a:fld>
            <a:endParaRPr lang="de-DE"/>
          </a:p>
        </p:txBody>
      </p:sp>
      <p:sp>
        <p:nvSpPr>
          <p:cNvPr id="7" name="Inhaltsplatzhalter 1"/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ED14B33E-EF31-83A5-3429-59904B12B11B}"/>
              </a:ext>
            </a:extLst>
          </p:cNvPr>
          <p:cNvSpPr txBox="1"/>
          <p:nvPr/>
        </p:nvSpPr>
        <p:spPr>
          <a:xfrm>
            <a:off x="539750" y="1786855"/>
            <a:ext cx="6760702" cy="26341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400" dirty="0"/>
              <a:t>(1) Learn the theory of Machine Learning and Neural Networks.</a:t>
            </a:r>
          </a:p>
          <a:p>
            <a:pPr>
              <a:lnSpc>
                <a:spcPts val="2100"/>
              </a:lnSpc>
            </a:pPr>
            <a:endParaRPr lang="en-GB" sz="1400" dirty="0"/>
          </a:p>
          <a:p>
            <a:pPr>
              <a:lnSpc>
                <a:spcPts val="2100"/>
              </a:lnSpc>
            </a:pPr>
            <a:r>
              <a:rPr lang="en-GB" sz="1400" dirty="0"/>
              <a:t>(2) Follow a simple Neural Network implementation and adapt yourself. </a:t>
            </a:r>
          </a:p>
          <a:p>
            <a:pPr>
              <a:lnSpc>
                <a:spcPts val="2100"/>
              </a:lnSpc>
            </a:pPr>
            <a:endParaRPr lang="en-GB" sz="1400" dirty="0"/>
          </a:p>
          <a:p>
            <a:pPr>
              <a:lnSpc>
                <a:spcPts val="2100"/>
              </a:lnSpc>
            </a:pPr>
            <a:r>
              <a:rPr lang="en-GB" sz="1400" dirty="0"/>
              <a:t>Key take-away:</a:t>
            </a:r>
          </a:p>
          <a:p>
            <a:pPr>
              <a:lnSpc>
                <a:spcPts val="2100"/>
              </a:lnSpc>
            </a:pPr>
            <a:endParaRPr lang="en-GB" sz="1600" dirty="0"/>
          </a:p>
          <a:p>
            <a:pPr>
              <a:lnSpc>
                <a:spcPts val="2100"/>
              </a:lnSpc>
            </a:pPr>
            <a:r>
              <a:rPr lang="en-GB" sz="1600" b="1" dirty="0"/>
              <a:t>Machine Learning, Neural Networks and how to use </a:t>
            </a:r>
            <a:r>
              <a:rPr lang="en-GB" sz="1600" b="1" dirty="0" err="1"/>
              <a:t>PyTorch</a:t>
            </a:r>
            <a:r>
              <a:rPr lang="en-GB" sz="1600" b="1" dirty="0"/>
              <a:t> to train and run a Neural Network</a:t>
            </a:r>
          </a:p>
          <a:p>
            <a:pPr>
              <a:lnSpc>
                <a:spcPts val="2100"/>
              </a:lnSpc>
            </a:pPr>
            <a:endParaRPr lang="en-GB" sz="1600" dirty="0"/>
          </a:p>
          <a:p>
            <a:pPr>
              <a:lnSpc>
                <a:spcPts val="2100"/>
              </a:lnSpc>
            </a:pP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934349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6B228-BB08-6E70-688B-C16772BD6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7">
            <a:extLst>
              <a:ext uri="{FF2B5EF4-FFF2-40B4-BE49-F238E27FC236}">
                <a16:creationId xmlns:a16="http://schemas.microsoft.com/office/drawing/2014/main" id="{D75F2A5E-9708-AD72-1A3F-5321C79F06BC}"/>
              </a:ext>
            </a:extLst>
          </p:cNvPr>
          <p:cNvSpPr/>
          <p:nvPr/>
        </p:nvSpPr>
        <p:spPr>
          <a:xfrm>
            <a:off x="6314240" y="3324013"/>
            <a:ext cx="2282009" cy="13753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263F8D9-75CF-9265-0D96-B6F3A9DE61DB}"/>
              </a:ext>
            </a:extLst>
          </p:cNvPr>
          <p:cNvSpPr/>
          <p:nvPr/>
        </p:nvSpPr>
        <p:spPr>
          <a:xfrm>
            <a:off x="3373677" y="2189271"/>
            <a:ext cx="2264760" cy="13753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BFED320-D7F8-63BD-12A6-A8F2C60BD746}"/>
              </a:ext>
            </a:extLst>
          </p:cNvPr>
          <p:cNvSpPr/>
          <p:nvPr/>
        </p:nvSpPr>
        <p:spPr>
          <a:xfrm>
            <a:off x="547751" y="1182487"/>
            <a:ext cx="2264760" cy="13753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D774A86-3514-47E5-57E4-68CB76295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approach</a:t>
            </a:r>
            <a:r>
              <a:rPr lang="de-DE" dirty="0"/>
              <a:t> to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centric</a:t>
            </a:r>
            <a:r>
              <a:rPr lang="de-DE" dirty="0"/>
              <a:t> </a:t>
            </a:r>
            <a:r>
              <a:rPr lang="de-DE" dirty="0" err="1"/>
              <a:t>modeling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9E68C69-AB60-871E-6C04-F021FE279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4</a:t>
            </a:fld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E6077988-1653-F59E-D69D-AA5C9BACC0D0}"/>
              </a:ext>
            </a:extLst>
          </p:cNvPr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E48635C-26D2-C62C-8BEB-C7C1A212DED4}"/>
              </a:ext>
            </a:extLst>
          </p:cNvPr>
          <p:cNvSpPr txBox="1"/>
          <p:nvPr/>
        </p:nvSpPr>
        <p:spPr>
          <a:xfrm>
            <a:off x="771302" y="1407830"/>
            <a:ext cx="1209784" cy="400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Problem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30FA1BA-0EFB-50F8-3249-933A9053AA94}"/>
              </a:ext>
            </a:extLst>
          </p:cNvPr>
          <p:cNvSpPr txBox="1"/>
          <p:nvPr/>
        </p:nvSpPr>
        <p:spPr>
          <a:xfrm>
            <a:off x="3635807" y="2448595"/>
            <a:ext cx="888166" cy="2571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Data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263B015-B99E-542F-835F-8A8FEB89B736}"/>
              </a:ext>
            </a:extLst>
          </p:cNvPr>
          <p:cNvSpPr txBox="1"/>
          <p:nvPr/>
        </p:nvSpPr>
        <p:spPr>
          <a:xfrm>
            <a:off x="6576628" y="3508857"/>
            <a:ext cx="1947549" cy="400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Validation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FE39DE0-3C6D-3932-D1A2-98156AECEF1A}"/>
              </a:ext>
            </a:extLst>
          </p:cNvPr>
          <p:cNvSpPr txBox="1"/>
          <p:nvPr/>
        </p:nvSpPr>
        <p:spPr>
          <a:xfrm>
            <a:off x="788773" y="1776294"/>
            <a:ext cx="1977407" cy="111031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1200" dirty="0"/>
              <a:t>What do we actually want to do and why? 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F100C8E-212D-EF63-6EC8-1EA53A3ACA65}"/>
              </a:ext>
            </a:extLst>
          </p:cNvPr>
          <p:cNvSpPr txBox="1"/>
          <p:nvPr/>
        </p:nvSpPr>
        <p:spPr>
          <a:xfrm>
            <a:off x="3635807" y="2750123"/>
            <a:ext cx="2051803" cy="4077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1200" dirty="0"/>
              <a:t>What data do we have?</a:t>
            </a:r>
          </a:p>
          <a:p>
            <a:endParaRPr lang="en-GB" sz="1200" dirty="0"/>
          </a:p>
          <a:p>
            <a:r>
              <a:rPr lang="en-GB" sz="1200" dirty="0"/>
              <a:t>How much data do we have? 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76B4770-4414-D732-2788-865E78520106}"/>
              </a:ext>
            </a:extLst>
          </p:cNvPr>
          <p:cNvSpPr txBox="1"/>
          <p:nvPr/>
        </p:nvSpPr>
        <p:spPr>
          <a:xfrm>
            <a:off x="6557970" y="3909057"/>
            <a:ext cx="2129007" cy="51817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1200" dirty="0"/>
              <a:t>How can we make sure that our model is any good?</a:t>
            </a:r>
          </a:p>
          <a:p>
            <a:pPr>
              <a:lnSpc>
                <a:spcPts val="2100"/>
              </a:lnSpc>
            </a:pPr>
            <a:endParaRPr lang="en-GB" sz="1200" dirty="0"/>
          </a:p>
        </p:txBody>
      </p:sp>
      <p:sp>
        <p:nvSpPr>
          <p:cNvPr id="8" name="Pfeil: nach oben gekrümmt 7">
            <a:extLst>
              <a:ext uri="{FF2B5EF4-FFF2-40B4-BE49-F238E27FC236}">
                <a16:creationId xmlns:a16="http://schemas.microsoft.com/office/drawing/2014/main" id="{9879B512-B099-6A5C-0FC8-F3A7DB97029C}"/>
              </a:ext>
            </a:extLst>
          </p:cNvPr>
          <p:cNvSpPr/>
          <p:nvPr/>
        </p:nvSpPr>
        <p:spPr>
          <a:xfrm rot="12344263">
            <a:off x="2139360" y="1212870"/>
            <a:ext cx="2123268" cy="810905"/>
          </a:xfrm>
          <a:prstGeom prst="curvedUp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DA06749-27E5-DA90-939D-DABD935BBC0F}"/>
              </a:ext>
            </a:extLst>
          </p:cNvPr>
          <p:cNvSpPr txBox="1"/>
          <p:nvPr/>
        </p:nvSpPr>
        <p:spPr>
          <a:xfrm>
            <a:off x="3951000" y="1225886"/>
            <a:ext cx="2264760" cy="33116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1200" dirty="0"/>
              <a:t>What approach can/should we use?</a:t>
            </a:r>
          </a:p>
        </p:txBody>
      </p:sp>
      <p:sp>
        <p:nvSpPr>
          <p:cNvPr id="6" name="Pfeil: nach oben gekrümmt 5">
            <a:extLst>
              <a:ext uri="{FF2B5EF4-FFF2-40B4-BE49-F238E27FC236}">
                <a16:creationId xmlns:a16="http://schemas.microsoft.com/office/drawing/2014/main" id="{EE7052D0-8FDC-18A6-6759-6E9A79C6F2A2}"/>
              </a:ext>
            </a:extLst>
          </p:cNvPr>
          <p:cNvSpPr/>
          <p:nvPr/>
        </p:nvSpPr>
        <p:spPr>
          <a:xfrm rot="1777303">
            <a:off x="1437851" y="2952861"/>
            <a:ext cx="2123268" cy="810905"/>
          </a:xfrm>
          <a:prstGeom prst="curvedUp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4250C66-8B28-65C9-5C32-131DC40DF908}"/>
              </a:ext>
            </a:extLst>
          </p:cNvPr>
          <p:cNvSpPr txBox="1"/>
          <p:nvPr/>
        </p:nvSpPr>
        <p:spPr>
          <a:xfrm>
            <a:off x="954719" y="3871216"/>
            <a:ext cx="35093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Machine Learning might be one possible approach.</a:t>
            </a:r>
          </a:p>
          <a:p>
            <a:r>
              <a:rPr lang="en-GB" sz="1200" dirty="0"/>
              <a:t>Highly dependent on available data. For new projects: think of this before starting!</a:t>
            </a:r>
          </a:p>
        </p:txBody>
      </p:sp>
    </p:spTree>
    <p:extLst>
      <p:ext uri="{BB962C8B-B14F-4D97-AF65-F5344CB8AC3E}">
        <p14:creationId xmlns:p14="http://schemas.microsoft.com/office/powerpoint/2010/main" val="560713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6" grpId="0" animBg="1"/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D89B0-A67C-45C0-7ED7-1887A9C07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7">
            <a:extLst>
              <a:ext uri="{FF2B5EF4-FFF2-40B4-BE49-F238E27FC236}">
                <a16:creationId xmlns:a16="http://schemas.microsoft.com/office/drawing/2014/main" id="{7A75BCA6-B005-7537-BCA3-2401AD9F8A93}"/>
              </a:ext>
            </a:extLst>
          </p:cNvPr>
          <p:cNvSpPr/>
          <p:nvPr/>
        </p:nvSpPr>
        <p:spPr>
          <a:xfrm>
            <a:off x="6314240" y="3324013"/>
            <a:ext cx="2282009" cy="13753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15CA0AA-B226-60EE-38FA-CF7A09A1478B}"/>
              </a:ext>
            </a:extLst>
          </p:cNvPr>
          <p:cNvSpPr/>
          <p:nvPr/>
        </p:nvSpPr>
        <p:spPr>
          <a:xfrm>
            <a:off x="3373677" y="2189272"/>
            <a:ext cx="2264760" cy="15196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64DCD6C-984D-3F35-BC51-93F5F8E7BAAF}"/>
              </a:ext>
            </a:extLst>
          </p:cNvPr>
          <p:cNvSpPr/>
          <p:nvPr/>
        </p:nvSpPr>
        <p:spPr>
          <a:xfrm>
            <a:off x="547751" y="1166258"/>
            <a:ext cx="2264760" cy="35330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069403-7EF6-C3A2-935F-41295A52B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 </a:t>
            </a:r>
            <a:r>
              <a:rPr lang="de-DE" dirty="0" err="1"/>
              <a:t>today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DBC01EF-0A82-088E-91B4-64755EFDC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5</a:t>
            </a:fld>
            <a:endParaRPr lang="de-DE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629101B4-849A-C7D9-5368-E2D44FD971AB}"/>
              </a:ext>
            </a:extLst>
          </p:cNvPr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983F254-012E-EFE1-03FA-A5CC11A0A563}"/>
              </a:ext>
            </a:extLst>
          </p:cNvPr>
          <p:cNvSpPr txBox="1"/>
          <p:nvPr/>
        </p:nvSpPr>
        <p:spPr>
          <a:xfrm>
            <a:off x="771302" y="1407830"/>
            <a:ext cx="1209784" cy="400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Problem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DE4E870-5E2B-9459-2753-EB387B9CFCF0}"/>
              </a:ext>
            </a:extLst>
          </p:cNvPr>
          <p:cNvSpPr txBox="1"/>
          <p:nvPr/>
        </p:nvSpPr>
        <p:spPr>
          <a:xfrm>
            <a:off x="3635807" y="2518627"/>
            <a:ext cx="888166" cy="2571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Data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26A95D9-E17F-CFF2-ABE0-70B4EE8CD554}"/>
              </a:ext>
            </a:extLst>
          </p:cNvPr>
          <p:cNvSpPr txBox="1"/>
          <p:nvPr/>
        </p:nvSpPr>
        <p:spPr>
          <a:xfrm>
            <a:off x="6576628" y="3508857"/>
            <a:ext cx="1947549" cy="400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Validation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F3E2DFB-695A-89F5-432F-E80B4F181F6B}"/>
              </a:ext>
            </a:extLst>
          </p:cNvPr>
          <p:cNvSpPr txBox="1"/>
          <p:nvPr/>
        </p:nvSpPr>
        <p:spPr>
          <a:xfrm>
            <a:off x="716760" y="1761787"/>
            <a:ext cx="1904520" cy="19221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We work for the postal service and get a lot of mail with handwritten postal codes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We want automatic sorting of letters according to their postal 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200" dirty="0"/>
          </a:p>
          <a:p>
            <a:pPr>
              <a:lnSpc>
                <a:spcPts val="2100"/>
              </a:lnSpc>
            </a:pPr>
            <a:endParaRPr lang="en-GB" sz="12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B42A230-6DBF-E76F-B1D1-EAB47540E35F}"/>
              </a:ext>
            </a:extLst>
          </p:cNvPr>
          <p:cNvSpPr txBox="1"/>
          <p:nvPr/>
        </p:nvSpPr>
        <p:spPr>
          <a:xfrm>
            <a:off x="3635807" y="2916275"/>
            <a:ext cx="1891233" cy="63873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Images of handwritten digits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6E47F6FA-107C-4526-FC5C-7CF2E6A0A4D5}"/>
              </a:ext>
            </a:extLst>
          </p:cNvPr>
          <p:cNvSpPr txBox="1"/>
          <p:nvPr/>
        </p:nvSpPr>
        <p:spPr>
          <a:xfrm>
            <a:off x="6441477" y="3840383"/>
            <a:ext cx="2122968" cy="82505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Does our model identify the correct digit?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How can we ensure this?</a:t>
            </a:r>
          </a:p>
          <a:p>
            <a:pPr>
              <a:lnSpc>
                <a:spcPts val="2100"/>
              </a:lnSpc>
            </a:pPr>
            <a:endParaRPr lang="en-GB" sz="1200" dirty="0"/>
          </a:p>
        </p:txBody>
      </p:sp>
      <p:sp>
        <p:nvSpPr>
          <p:cNvPr id="8" name="Pfeil: nach oben gekrümmt 7">
            <a:extLst>
              <a:ext uri="{FF2B5EF4-FFF2-40B4-BE49-F238E27FC236}">
                <a16:creationId xmlns:a16="http://schemas.microsoft.com/office/drawing/2014/main" id="{340EAB75-E4CD-B7AD-F0DF-D4D229C74522}"/>
              </a:ext>
            </a:extLst>
          </p:cNvPr>
          <p:cNvSpPr/>
          <p:nvPr/>
        </p:nvSpPr>
        <p:spPr>
          <a:xfrm rot="12344263">
            <a:off x="2139360" y="1212870"/>
            <a:ext cx="2123268" cy="810905"/>
          </a:xfrm>
          <a:prstGeom prst="curvedUp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D4A4D60-D53C-CA80-36EC-93A545825DEB}"/>
              </a:ext>
            </a:extLst>
          </p:cNvPr>
          <p:cNvSpPr txBox="1"/>
          <p:nvPr/>
        </p:nvSpPr>
        <p:spPr>
          <a:xfrm>
            <a:off x="4072170" y="880441"/>
            <a:ext cx="3179132" cy="98928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GB" sz="1200" dirty="0"/>
              <a:t>With enough data, Machine Learning is one (!) way to approach this. </a:t>
            </a:r>
          </a:p>
          <a:p>
            <a:endParaRPr lang="en-GB" sz="1200" dirty="0"/>
          </a:p>
          <a:p>
            <a:r>
              <a:rPr lang="en-GB" sz="1200" dirty="0"/>
              <a:t>For learning, data must include the image </a:t>
            </a:r>
            <a:r>
              <a:rPr lang="en-GB" sz="1200" b="1" dirty="0"/>
              <a:t>and</a:t>
            </a:r>
            <a:r>
              <a:rPr lang="en-GB" sz="1200" dirty="0"/>
              <a:t> the corresponding digit 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3BFB691-04A6-915B-5FB8-BA40BD55C260}"/>
              </a:ext>
            </a:extLst>
          </p:cNvPr>
          <p:cNvSpPr txBox="1"/>
          <p:nvPr/>
        </p:nvSpPr>
        <p:spPr>
          <a:xfrm>
            <a:off x="716760" y="3986094"/>
            <a:ext cx="20412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We need a program to identify the digits from images</a:t>
            </a:r>
          </a:p>
        </p:txBody>
      </p:sp>
      <p:sp>
        <p:nvSpPr>
          <p:cNvPr id="20" name="Gleichschenkliges Dreieck 19">
            <a:extLst>
              <a:ext uri="{FF2B5EF4-FFF2-40B4-BE49-F238E27FC236}">
                <a16:creationId xmlns:a16="http://schemas.microsoft.com/office/drawing/2014/main" id="{A07F37DC-23D5-DD6F-664C-2CB149162F05}"/>
              </a:ext>
            </a:extLst>
          </p:cNvPr>
          <p:cNvSpPr/>
          <p:nvPr/>
        </p:nvSpPr>
        <p:spPr>
          <a:xfrm rot="10800000">
            <a:off x="1376194" y="3708957"/>
            <a:ext cx="609600" cy="145708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1844BBE8-82D1-7C4B-CBE7-364A184115F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5050" y="3854666"/>
            <a:ext cx="865950" cy="6342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128D80AB-6BEE-0A08-5AE9-D2779AD40A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8166" y="3844322"/>
            <a:ext cx="880073" cy="6446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06DBB093-C636-02BD-FEF7-7E8E6754C3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5101" y="3844321"/>
            <a:ext cx="880073" cy="6446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B95F1535-CEE5-5614-AD9E-A9A73C6B9670}"/>
              </a:ext>
            </a:extLst>
          </p:cNvPr>
          <p:cNvSpPr txBox="1"/>
          <p:nvPr/>
        </p:nvSpPr>
        <p:spPr>
          <a:xfrm>
            <a:off x="4143020" y="4483407"/>
            <a:ext cx="9997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/>
              <a:t>. . .</a:t>
            </a:r>
            <a:endParaRPr lang="en-GB" sz="2400" b="1" dirty="0"/>
          </a:p>
        </p:txBody>
      </p:sp>
      <p:sp>
        <p:nvSpPr>
          <p:cNvPr id="6" name="Pfeil: nach oben gekrümmt 5">
            <a:extLst>
              <a:ext uri="{FF2B5EF4-FFF2-40B4-BE49-F238E27FC236}">
                <a16:creationId xmlns:a16="http://schemas.microsoft.com/office/drawing/2014/main" id="{03105CD2-3F54-D4B7-6D27-AE59B9624B5F}"/>
              </a:ext>
            </a:extLst>
          </p:cNvPr>
          <p:cNvSpPr/>
          <p:nvPr/>
        </p:nvSpPr>
        <p:spPr>
          <a:xfrm rot="12344263" flipH="1">
            <a:off x="5475678" y="2130562"/>
            <a:ext cx="2127366" cy="810905"/>
          </a:xfrm>
          <a:prstGeom prst="curvedUp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231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7" grpId="0" animBg="1"/>
      <p:bldP spid="12" grpId="0"/>
      <p:bldP spid="13" grpId="0"/>
      <p:bldP spid="15" grpId="0"/>
      <p:bldP spid="16" grpId="0"/>
      <p:bldP spid="8" grpId="0" animBg="1"/>
      <p:bldP spid="9" grpId="0"/>
      <p:bldP spid="28" grpId="0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hteck 27">
            <a:extLst>
              <a:ext uri="{FF2B5EF4-FFF2-40B4-BE49-F238E27FC236}">
                <a16:creationId xmlns:a16="http://schemas.microsoft.com/office/drawing/2014/main" id="{3EAB733F-90DF-DFFB-505D-02EB90207459}"/>
              </a:ext>
            </a:extLst>
          </p:cNvPr>
          <p:cNvSpPr/>
          <p:nvPr/>
        </p:nvSpPr>
        <p:spPr>
          <a:xfrm>
            <a:off x="777240" y="1119130"/>
            <a:ext cx="3617843" cy="356378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5FECBAB-A14C-0F97-0694-2B83B304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illustration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6F4223-DE3C-8B45-BCA2-C2B56DDF0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6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72E60E0-1FBA-CC01-3FEC-89DB3C97C0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715" y="1777877"/>
            <a:ext cx="1168572" cy="8559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CF52F84-3A3A-F688-3ECA-99FDC567B54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715" y="2722705"/>
            <a:ext cx="1187631" cy="8698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F9B1ACD-BD84-CFD1-56AE-F10AEEDB39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716" y="3681492"/>
            <a:ext cx="1187630" cy="8698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48A5B6D7-0A02-1159-15AB-CF90C761404F}"/>
              </a:ext>
            </a:extLst>
          </p:cNvPr>
          <p:cNvSpPr txBox="1"/>
          <p:nvPr/>
        </p:nvSpPr>
        <p:spPr>
          <a:xfrm>
            <a:off x="1298121" y="1431852"/>
            <a:ext cx="888166" cy="2571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Image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3401586-5B92-8F27-EF6C-E9886C78AECB}"/>
              </a:ext>
            </a:extLst>
          </p:cNvPr>
          <p:cNvSpPr txBox="1"/>
          <p:nvPr/>
        </p:nvSpPr>
        <p:spPr>
          <a:xfrm>
            <a:off x="3653820" y="2081168"/>
            <a:ext cx="594360" cy="46268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2400" dirty="0"/>
              <a:t>1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6B62165-17FF-2758-3502-3DF51254F8EF}"/>
              </a:ext>
            </a:extLst>
          </p:cNvPr>
          <p:cNvCxnSpPr/>
          <p:nvPr/>
        </p:nvCxnSpPr>
        <p:spPr>
          <a:xfrm>
            <a:off x="2354580" y="2205832"/>
            <a:ext cx="1165860" cy="0"/>
          </a:xfrm>
          <a:prstGeom prst="straightConnector1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7ED957E7-8412-C3E3-8472-71EAB37469ED}"/>
              </a:ext>
            </a:extLst>
          </p:cNvPr>
          <p:cNvSpPr txBox="1"/>
          <p:nvPr/>
        </p:nvSpPr>
        <p:spPr>
          <a:xfrm>
            <a:off x="3653820" y="3987784"/>
            <a:ext cx="594360" cy="46268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2400" dirty="0"/>
              <a:t>3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CE0E895-047F-A8CD-89AE-0979C3CE45DB}"/>
              </a:ext>
            </a:extLst>
          </p:cNvPr>
          <p:cNvCxnSpPr/>
          <p:nvPr/>
        </p:nvCxnSpPr>
        <p:spPr>
          <a:xfrm>
            <a:off x="2354580" y="4112448"/>
            <a:ext cx="1165860" cy="0"/>
          </a:xfrm>
          <a:prstGeom prst="straightConnector1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996680F6-3C6D-F76A-E0DE-7C605A253C83}"/>
              </a:ext>
            </a:extLst>
          </p:cNvPr>
          <p:cNvSpPr txBox="1"/>
          <p:nvPr/>
        </p:nvSpPr>
        <p:spPr>
          <a:xfrm>
            <a:off x="3653820" y="3066460"/>
            <a:ext cx="594360" cy="46268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2400" dirty="0"/>
              <a:t>3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9895CD5-0B92-A705-E221-8314E9E74982}"/>
              </a:ext>
            </a:extLst>
          </p:cNvPr>
          <p:cNvCxnSpPr/>
          <p:nvPr/>
        </p:nvCxnSpPr>
        <p:spPr>
          <a:xfrm>
            <a:off x="2354580" y="3191124"/>
            <a:ext cx="1165860" cy="0"/>
          </a:xfrm>
          <a:prstGeom prst="straightConnector1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9C7DD49E-E161-B91B-69E7-9F88D2C387CD}"/>
              </a:ext>
            </a:extLst>
          </p:cNvPr>
          <p:cNvSpPr txBox="1"/>
          <p:nvPr/>
        </p:nvSpPr>
        <p:spPr>
          <a:xfrm>
            <a:off x="3506917" y="1422960"/>
            <a:ext cx="888166" cy="2571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Digit</a:t>
            </a: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BE2CBEE2-F7F2-7819-36B9-6B842566904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618" y="2425855"/>
            <a:ext cx="1164842" cy="853179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2FC48618-71E6-71A3-FACC-B431EE1CEEB0}"/>
              </a:ext>
            </a:extLst>
          </p:cNvPr>
          <p:cNvCxnSpPr/>
          <p:nvPr/>
        </p:nvCxnSpPr>
        <p:spPr>
          <a:xfrm>
            <a:off x="6590698" y="2852444"/>
            <a:ext cx="1165860" cy="0"/>
          </a:xfrm>
          <a:prstGeom prst="straightConnector1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797CE499-0DFA-79AE-75F2-64673E3EF4E4}"/>
              </a:ext>
            </a:extLst>
          </p:cNvPr>
          <p:cNvSpPr txBox="1"/>
          <p:nvPr/>
        </p:nvSpPr>
        <p:spPr>
          <a:xfrm>
            <a:off x="7876796" y="2769610"/>
            <a:ext cx="594360" cy="46268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2400" dirty="0"/>
              <a:t>?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86FF28AF-F365-6FC0-D39D-632552F1D69F}"/>
              </a:ext>
            </a:extLst>
          </p:cNvPr>
          <p:cNvSpPr txBox="1"/>
          <p:nvPr/>
        </p:nvSpPr>
        <p:spPr>
          <a:xfrm>
            <a:off x="5261580" y="1181500"/>
            <a:ext cx="3418870" cy="65820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The program needs to predict the digit from new images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204AD6B6-0112-FEFF-19B5-9DD32D0FB338}"/>
              </a:ext>
            </a:extLst>
          </p:cNvPr>
          <p:cNvSpPr txBox="1"/>
          <p:nvPr/>
        </p:nvSpPr>
        <p:spPr>
          <a:xfrm>
            <a:off x="2205346" y="1144255"/>
            <a:ext cx="888166" cy="2571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Dataset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CF156F40-BF3E-1476-D451-28573EA177FC}"/>
              </a:ext>
            </a:extLst>
          </p:cNvPr>
          <p:cNvSpPr txBox="1"/>
          <p:nvPr/>
        </p:nvSpPr>
        <p:spPr>
          <a:xfrm>
            <a:off x="5604692" y="3736410"/>
            <a:ext cx="2639308" cy="600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</a:pPr>
            <a:r>
              <a:rPr lang="en-GB" sz="1400" dirty="0"/>
              <a:t>Machine Learning is one (!) way to approach this. </a:t>
            </a:r>
          </a:p>
        </p:txBody>
      </p:sp>
    </p:spTree>
    <p:extLst>
      <p:ext uri="{BB962C8B-B14F-4D97-AF65-F5344CB8AC3E}">
        <p14:creationId xmlns:p14="http://schemas.microsoft.com/office/powerpoint/2010/main" val="775432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4A00D0-CA9B-65F3-9752-DB3A66796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creation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B9DE0C9-5566-5291-9CAF-57B9CBCBA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7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C17F71D-DCB3-5F17-6BF2-315823D5F83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0000" y="1276350"/>
            <a:ext cx="5760000" cy="18288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Please open paint and draw all digits of your postal code letter by letter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Save every letter as a new .</a:t>
            </a:r>
            <a:r>
              <a:rPr lang="en-GB" dirty="0" err="1"/>
              <a:t>png</a:t>
            </a:r>
            <a:r>
              <a:rPr lang="en-GB" dirty="0"/>
              <a:t>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Save the images in your workshop project folder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A2B5CD7-EB5E-9AD4-307A-2BDF4B285C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397" y="3113585"/>
            <a:ext cx="1168572" cy="8559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2F0BA595-858E-E87C-2630-FB8A330E633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736" y="3106607"/>
            <a:ext cx="1187631" cy="8698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C3AAC0A-A28B-DB50-97BC-C05A8C1AD1C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3542" y="3106606"/>
            <a:ext cx="1187630" cy="8698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57013B53-F6C7-970C-37C0-D075F53369B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6348" y="3114953"/>
            <a:ext cx="1164842" cy="8531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024AB3A1-1FE4-67CC-16E3-9B96CE0B27A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6366" y="3114953"/>
            <a:ext cx="1187634" cy="86987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2D542BD-DB03-5821-F3BD-B788D6723470}"/>
              </a:ext>
            </a:extLst>
          </p:cNvPr>
          <p:cNvSpPr txBox="1"/>
          <p:nvPr/>
        </p:nvSpPr>
        <p:spPr>
          <a:xfrm>
            <a:off x="447541" y="4302727"/>
            <a:ext cx="61566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b="1" dirty="0"/>
              <a:t>How could we do the prediction and evaluation?</a:t>
            </a:r>
          </a:p>
        </p:txBody>
      </p:sp>
    </p:spTree>
    <p:extLst>
      <p:ext uri="{BB962C8B-B14F-4D97-AF65-F5344CB8AC3E}">
        <p14:creationId xmlns:p14="http://schemas.microsoft.com/office/powerpoint/2010/main" val="147288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7D6253-C68E-27D1-9C13-C6D198505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Confusion Matrix – Evaluation Metrics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AD5F092-2AFA-6C44-ABF1-766368526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8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CC51634-AC60-2E5B-B128-194FBDFBD4B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690739"/>
            <a:ext cx="4792969" cy="292598"/>
          </a:xfrm>
        </p:spPr>
        <p:txBody>
          <a:bodyPr/>
          <a:lstStyle/>
          <a:p>
            <a:r>
              <a:rPr lang="en-GB" sz="1400" dirty="0"/>
              <a:t>Confusion matrices are common for classification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439B87CC-E95B-B9AA-8B9E-65D2BE36984F}"/>
              </a:ext>
            </a:extLst>
          </p:cNvPr>
          <p:cNvGrpSpPr/>
          <p:nvPr/>
        </p:nvGrpSpPr>
        <p:grpSpPr>
          <a:xfrm>
            <a:off x="5984554" y="0"/>
            <a:ext cx="2650434" cy="5143500"/>
            <a:chOff x="6493566" y="0"/>
            <a:chExt cx="2650434" cy="5143500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DA154A96-2C98-F019-3234-6ADB205BFE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93566" y="0"/>
              <a:ext cx="2650434" cy="5143500"/>
            </a:xfrm>
            <a:prstGeom prst="rect">
              <a:avLst/>
            </a:prstGeom>
          </p:spPr>
        </p:pic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7721992F-AA11-770B-1CB9-5B5609131184}"/>
                </a:ext>
              </a:extLst>
            </p:cNvPr>
            <p:cNvSpPr txBox="1"/>
            <p:nvPr/>
          </p:nvSpPr>
          <p:spPr>
            <a:xfrm>
              <a:off x="8425543" y="3076575"/>
              <a:ext cx="687721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700" dirty="0"/>
                <a:t>©</a:t>
              </a:r>
              <a:r>
                <a:rPr lang="en-GB" sz="700" dirty="0" err="1"/>
                <a:t>wikipedia</a:t>
              </a:r>
              <a:endParaRPr lang="en-GB" sz="700" dirty="0"/>
            </a:p>
          </p:txBody>
        </p:sp>
      </p:grpSp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998B1383-4C04-7D6C-2B59-D92B828A6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324577"/>
              </p:ext>
            </p:extLst>
          </p:nvPr>
        </p:nvGraphicFramePr>
        <p:xfrm>
          <a:off x="433685" y="1524937"/>
          <a:ext cx="3575707" cy="3317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839">
                  <a:extLst>
                    <a:ext uri="{9D8B030D-6E8A-4147-A177-3AD203B41FA5}">
                      <a16:colId xmlns:a16="http://schemas.microsoft.com/office/drawing/2014/main" val="3293488837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700644197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3433917102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569189834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4144896416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2748408521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643272746"/>
                    </a:ext>
                  </a:extLst>
                </a:gridCol>
              </a:tblGrid>
              <a:tr h="469344"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407379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925700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1123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9411968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645974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627221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179236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4808250"/>
                  </a:ext>
                </a:extLst>
              </a:tr>
            </a:tbl>
          </a:graphicData>
        </a:graphic>
      </p:graphicFrame>
      <p:sp>
        <p:nvSpPr>
          <p:cNvPr id="14" name="Textfeld 13">
            <a:extLst>
              <a:ext uri="{FF2B5EF4-FFF2-40B4-BE49-F238E27FC236}">
                <a16:creationId xmlns:a16="http://schemas.microsoft.com/office/drawing/2014/main" id="{A22D930E-5027-3C13-5B93-E256B3521562}"/>
              </a:ext>
            </a:extLst>
          </p:cNvPr>
          <p:cNvSpPr txBox="1"/>
          <p:nvPr/>
        </p:nvSpPr>
        <p:spPr>
          <a:xfrm>
            <a:off x="1534016" y="1179531"/>
            <a:ext cx="16357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Predicted digit</a:t>
            </a:r>
            <a:endParaRPr lang="en-GB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9DBB595-7643-54D6-D7B5-A94D75CD9159}"/>
              </a:ext>
            </a:extLst>
          </p:cNvPr>
          <p:cNvSpPr txBox="1"/>
          <p:nvPr/>
        </p:nvSpPr>
        <p:spPr>
          <a:xfrm rot="16200000">
            <a:off x="-427803" y="2797464"/>
            <a:ext cx="13024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True digit</a:t>
            </a:r>
            <a:endParaRPr lang="en-GB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F275AC8-FFA7-F5ED-A7BD-E8E0352B198E}"/>
              </a:ext>
            </a:extLst>
          </p:cNvPr>
          <p:cNvSpPr/>
          <p:nvPr/>
        </p:nvSpPr>
        <p:spPr>
          <a:xfrm>
            <a:off x="879940" y="2551960"/>
            <a:ext cx="623340" cy="2328162"/>
          </a:xfrm>
          <a:prstGeom prst="rect">
            <a:avLst/>
          </a:prstGeom>
          <a:noFill/>
          <a:ln>
            <a:solidFill>
              <a:srgbClr val="FFB2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F6EAC0C-C906-BBA8-8D69-E995ECD58C95}"/>
              </a:ext>
            </a:extLst>
          </p:cNvPr>
          <p:cNvSpPr/>
          <p:nvPr/>
        </p:nvSpPr>
        <p:spPr>
          <a:xfrm rot="5400000">
            <a:off x="2466413" y="965485"/>
            <a:ext cx="623340" cy="2549607"/>
          </a:xfrm>
          <a:prstGeom prst="rect">
            <a:avLst/>
          </a:prstGeom>
          <a:noFill/>
          <a:ln>
            <a:solidFill>
              <a:srgbClr val="D2DF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BFBB10D-461F-C244-8BE2-EC3AA4036243}"/>
              </a:ext>
            </a:extLst>
          </p:cNvPr>
          <p:cNvSpPr/>
          <p:nvPr/>
        </p:nvSpPr>
        <p:spPr>
          <a:xfrm rot="5400000">
            <a:off x="879938" y="1920581"/>
            <a:ext cx="623340" cy="623340"/>
          </a:xfrm>
          <a:prstGeom prst="rect">
            <a:avLst/>
          </a:prstGeom>
          <a:noFill/>
          <a:ln>
            <a:solidFill>
              <a:srgbClr val="C9F6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8F4EA992-9B4F-3CD3-80DA-0A2CC63FBBC3}"/>
              </a:ext>
            </a:extLst>
          </p:cNvPr>
          <p:cNvSpPr/>
          <p:nvPr/>
        </p:nvSpPr>
        <p:spPr>
          <a:xfrm rot="7980361">
            <a:off x="2162442" y="2153696"/>
            <a:ext cx="623340" cy="2549607"/>
          </a:xfrm>
          <a:prstGeom prst="rect">
            <a:avLst/>
          </a:prstGeom>
          <a:noFill/>
          <a:ln>
            <a:solidFill>
              <a:srgbClr val="F1F1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391C0D1A-B06C-B9C3-12ED-2ADCB6298FF4}"/>
              </a:ext>
            </a:extLst>
          </p:cNvPr>
          <p:cNvSpPr/>
          <p:nvPr/>
        </p:nvSpPr>
        <p:spPr>
          <a:xfrm>
            <a:off x="4574448" y="3870079"/>
            <a:ext cx="623340" cy="623341"/>
          </a:xfrm>
          <a:prstGeom prst="rect">
            <a:avLst/>
          </a:prstGeom>
          <a:noFill/>
          <a:ln>
            <a:solidFill>
              <a:srgbClr val="FFB2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90C54A2-EF76-8DC1-B05B-8D32192F11EE}"/>
              </a:ext>
            </a:extLst>
          </p:cNvPr>
          <p:cNvSpPr/>
          <p:nvPr/>
        </p:nvSpPr>
        <p:spPr>
          <a:xfrm rot="5400000">
            <a:off x="4566779" y="3184001"/>
            <a:ext cx="623340" cy="623341"/>
          </a:xfrm>
          <a:prstGeom prst="rect">
            <a:avLst/>
          </a:prstGeom>
          <a:noFill/>
          <a:ln>
            <a:solidFill>
              <a:srgbClr val="D1DBC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3E8E834-CA9F-E3AE-0193-7F639E965454}"/>
              </a:ext>
            </a:extLst>
          </p:cNvPr>
          <p:cNvSpPr/>
          <p:nvPr/>
        </p:nvSpPr>
        <p:spPr>
          <a:xfrm rot="5400000">
            <a:off x="4559080" y="1841560"/>
            <a:ext cx="623340" cy="623340"/>
          </a:xfrm>
          <a:prstGeom prst="rect">
            <a:avLst/>
          </a:prstGeom>
          <a:noFill/>
          <a:ln>
            <a:solidFill>
              <a:srgbClr val="C9F6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09FFC32-0FFE-F145-CB22-51828A3B4C39}"/>
              </a:ext>
            </a:extLst>
          </p:cNvPr>
          <p:cNvSpPr/>
          <p:nvPr/>
        </p:nvSpPr>
        <p:spPr>
          <a:xfrm rot="10800000">
            <a:off x="4566779" y="2507319"/>
            <a:ext cx="623340" cy="623342"/>
          </a:xfrm>
          <a:prstGeom prst="rect">
            <a:avLst/>
          </a:prstGeom>
          <a:noFill/>
          <a:ln>
            <a:solidFill>
              <a:srgbClr val="F1F1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D09EEC13-9E42-4D3B-7D66-A59DEA63DDBB}"/>
              </a:ext>
            </a:extLst>
          </p:cNvPr>
          <p:cNvSpPr txBox="1"/>
          <p:nvPr/>
        </p:nvSpPr>
        <p:spPr>
          <a:xfrm>
            <a:off x="4672198" y="1983722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TP</a:t>
            </a:r>
            <a:endParaRPr lang="en-GB" dirty="0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CEB179E-55BA-4980-D2F8-8268521439B1}"/>
              </a:ext>
            </a:extLst>
          </p:cNvPr>
          <p:cNvSpPr txBox="1"/>
          <p:nvPr/>
        </p:nvSpPr>
        <p:spPr>
          <a:xfrm>
            <a:off x="4679882" y="2657765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TN</a:t>
            </a:r>
            <a:endParaRPr lang="en-GB" dirty="0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25B1FC32-0136-B6ED-E132-8BC400C48CD1}"/>
              </a:ext>
            </a:extLst>
          </p:cNvPr>
          <p:cNvSpPr txBox="1"/>
          <p:nvPr/>
        </p:nvSpPr>
        <p:spPr>
          <a:xfrm>
            <a:off x="4687566" y="3331808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FN</a:t>
            </a:r>
            <a:endParaRPr lang="en-GB" dirty="0"/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3BA8C8D3-D414-848C-2F5A-5B30517A9410}"/>
              </a:ext>
            </a:extLst>
          </p:cNvPr>
          <p:cNvSpPr txBox="1"/>
          <p:nvPr/>
        </p:nvSpPr>
        <p:spPr>
          <a:xfrm>
            <a:off x="4701676" y="4005851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FP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83876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921AC-F4B0-AE37-F2BD-B859382F7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23FC0C-42A3-121F-7541-03AC6B754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Confusion Matrix – Evaluation Metrics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235A30B-6C0A-D4F1-7E9D-068FF2999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9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BC5D201-1E4E-6620-DC06-F0571087B2E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690739"/>
            <a:ext cx="4792969" cy="292598"/>
          </a:xfrm>
        </p:spPr>
        <p:txBody>
          <a:bodyPr/>
          <a:lstStyle/>
          <a:p>
            <a:r>
              <a:rPr lang="en-GB" sz="1400" dirty="0"/>
              <a:t>Confusion matrices are common for classification</a:t>
            </a:r>
          </a:p>
        </p:txBody>
      </p:sp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224C5281-BE67-963B-C624-AD54C842EBCE}"/>
              </a:ext>
            </a:extLst>
          </p:cNvPr>
          <p:cNvGraphicFramePr>
            <a:graphicFrameLocks noGrp="1"/>
          </p:cNvGraphicFramePr>
          <p:nvPr/>
        </p:nvGraphicFramePr>
        <p:xfrm>
          <a:off x="433685" y="1524937"/>
          <a:ext cx="3575707" cy="3317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839">
                  <a:extLst>
                    <a:ext uri="{9D8B030D-6E8A-4147-A177-3AD203B41FA5}">
                      <a16:colId xmlns:a16="http://schemas.microsoft.com/office/drawing/2014/main" val="3293488837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700644197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3433917102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569189834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4144896416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2748408521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643272746"/>
                    </a:ext>
                  </a:extLst>
                </a:gridCol>
              </a:tblGrid>
              <a:tr h="469344"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407379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925700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1123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9411968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645974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627221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179236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4808250"/>
                  </a:ext>
                </a:extLst>
              </a:tr>
            </a:tbl>
          </a:graphicData>
        </a:graphic>
      </p:graphicFrame>
      <p:sp>
        <p:nvSpPr>
          <p:cNvPr id="14" name="Textfeld 13">
            <a:extLst>
              <a:ext uri="{FF2B5EF4-FFF2-40B4-BE49-F238E27FC236}">
                <a16:creationId xmlns:a16="http://schemas.microsoft.com/office/drawing/2014/main" id="{E834035F-A012-CB31-9961-7AD9AE02663E}"/>
              </a:ext>
            </a:extLst>
          </p:cNvPr>
          <p:cNvSpPr txBox="1"/>
          <p:nvPr/>
        </p:nvSpPr>
        <p:spPr>
          <a:xfrm>
            <a:off x="1534016" y="1179531"/>
            <a:ext cx="16357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Predicted digit</a:t>
            </a:r>
            <a:endParaRPr lang="en-GB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6A12320D-4FD7-1EBE-FE06-34113B1B5136}"/>
              </a:ext>
            </a:extLst>
          </p:cNvPr>
          <p:cNvSpPr txBox="1"/>
          <p:nvPr/>
        </p:nvSpPr>
        <p:spPr>
          <a:xfrm rot="16200000">
            <a:off x="-427803" y="2797464"/>
            <a:ext cx="13024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True digit</a:t>
            </a:r>
            <a:endParaRPr lang="en-GB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ABCF7B8-2A18-400E-27DB-7CAD31BE2EDD}"/>
              </a:ext>
            </a:extLst>
          </p:cNvPr>
          <p:cNvSpPr/>
          <p:nvPr/>
        </p:nvSpPr>
        <p:spPr>
          <a:xfrm>
            <a:off x="879940" y="2551959"/>
            <a:ext cx="623340" cy="2381595"/>
          </a:xfrm>
          <a:prstGeom prst="rect">
            <a:avLst/>
          </a:prstGeom>
          <a:noFill/>
          <a:ln>
            <a:solidFill>
              <a:srgbClr val="FFB2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CC462A2-421A-2822-326C-23E64DAD3E2E}"/>
              </a:ext>
            </a:extLst>
          </p:cNvPr>
          <p:cNvSpPr/>
          <p:nvPr/>
        </p:nvSpPr>
        <p:spPr>
          <a:xfrm rot="5400000">
            <a:off x="2466413" y="965485"/>
            <a:ext cx="623340" cy="2549607"/>
          </a:xfrm>
          <a:prstGeom prst="rect">
            <a:avLst/>
          </a:prstGeom>
          <a:noFill/>
          <a:ln>
            <a:solidFill>
              <a:srgbClr val="D2DF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5D72E96-E7DF-77FB-A3F5-2A63DA5D003C}"/>
              </a:ext>
            </a:extLst>
          </p:cNvPr>
          <p:cNvSpPr/>
          <p:nvPr/>
        </p:nvSpPr>
        <p:spPr>
          <a:xfrm rot="5400000">
            <a:off x="879938" y="1920581"/>
            <a:ext cx="623340" cy="623340"/>
          </a:xfrm>
          <a:prstGeom prst="rect">
            <a:avLst/>
          </a:prstGeom>
          <a:noFill/>
          <a:ln>
            <a:solidFill>
              <a:srgbClr val="C9F6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61E19FA-2E31-7044-ABE2-57405C0C26C1}"/>
              </a:ext>
            </a:extLst>
          </p:cNvPr>
          <p:cNvSpPr/>
          <p:nvPr/>
        </p:nvSpPr>
        <p:spPr>
          <a:xfrm rot="7980361">
            <a:off x="2162442" y="2153696"/>
            <a:ext cx="623340" cy="2549607"/>
          </a:xfrm>
          <a:prstGeom prst="rect">
            <a:avLst/>
          </a:prstGeom>
          <a:noFill/>
          <a:ln>
            <a:solidFill>
              <a:srgbClr val="F1F1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67A5491-DFE1-5981-12E8-8158C856EEF2}"/>
              </a:ext>
            </a:extLst>
          </p:cNvPr>
          <p:cNvSpPr/>
          <p:nvPr/>
        </p:nvSpPr>
        <p:spPr>
          <a:xfrm>
            <a:off x="4574448" y="3870079"/>
            <a:ext cx="623340" cy="623341"/>
          </a:xfrm>
          <a:prstGeom prst="rect">
            <a:avLst/>
          </a:prstGeom>
          <a:noFill/>
          <a:ln>
            <a:solidFill>
              <a:srgbClr val="FFB2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2B834CA-4585-4AC7-7AC8-EC04C814757F}"/>
              </a:ext>
            </a:extLst>
          </p:cNvPr>
          <p:cNvSpPr/>
          <p:nvPr/>
        </p:nvSpPr>
        <p:spPr>
          <a:xfrm rot="5400000">
            <a:off x="4566779" y="3184001"/>
            <a:ext cx="623340" cy="623341"/>
          </a:xfrm>
          <a:prstGeom prst="rect">
            <a:avLst/>
          </a:prstGeom>
          <a:noFill/>
          <a:ln>
            <a:solidFill>
              <a:srgbClr val="D1DBC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3F953488-59E8-3B9F-62AE-AD490F8E5751}"/>
              </a:ext>
            </a:extLst>
          </p:cNvPr>
          <p:cNvSpPr/>
          <p:nvPr/>
        </p:nvSpPr>
        <p:spPr>
          <a:xfrm rot="5400000">
            <a:off x="4559080" y="1841560"/>
            <a:ext cx="623340" cy="623340"/>
          </a:xfrm>
          <a:prstGeom prst="rect">
            <a:avLst/>
          </a:prstGeom>
          <a:noFill/>
          <a:ln>
            <a:solidFill>
              <a:srgbClr val="C9F6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BA60235-B5A0-A0D8-9532-F80CC0AE6D8C}"/>
              </a:ext>
            </a:extLst>
          </p:cNvPr>
          <p:cNvSpPr/>
          <p:nvPr/>
        </p:nvSpPr>
        <p:spPr>
          <a:xfrm rot="10800000">
            <a:off x="4566779" y="2507319"/>
            <a:ext cx="623340" cy="623342"/>
          </a:xfrm>
          <a:prstGeom prst="rect">
            <a:avLst/>
          </a:prstGeom>
          <a:noFill/>
          <a:ln>
            <a:solidFill>
              <a:srgbClr val="F1F1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AE09CEC-AB81-A74F-112D-3DFEF44D96A6}"/>
              </a:ext>
            </a:extLst>
          </p:cNvPr>
          <p:cNvSpPr txBox="1"/>
          <p:nvPr/>
        </p:nvSpPr>
        <p:spPr>
          <a:xfrm>
            <a:off x="4672198" y="1983722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TP</a:t>
            </a:r>
            <a:endParaRPr lang="en-GB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D1004CE7-3D19-01F7-F6C0-1A9E7F9A9E68}"/>
              </a:ext>
            </a:extLst>
          </p:cNvPr>
          <p:cNvSpPr txBox="1"/>
          <p:nvPr/>
        </p:nvSpPr>
        <p:spPr>
          <a:xfrm>
            <a:off x="4679882" y="2657765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TN</a:t>
            </a:r>
            <a:endParaRPr lang="en-GB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EC771919-13D2-78C4-2096-509E74B9B0C7}"/>
              </a:ext>
            </a:extLst>
          </p:cNvPr>
          <p:cNvSpPr txBox="1"/>
          <p:nvPr/>
        </p:nvSpPr>
        <p:spPr>
          <a:xfrm>
            <a:off x="4687566" y="3331808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FN</a:t>
            </a:r>
            <a:endParaRPr lang="en-GB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83E40923-D34F-5A78-7450-C9A6181AADA1}"/>
              </a:ext>
            </a:extLst>
          </p:cNvPr>
          <p:cNvSpPr txBox="1"/>
          <p:nvPr/>
        </p:nvSpPr>
        <p:spPr>
          <a:xfrm>
            <a:off x="4701676" y="4005851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FP</a:t>
            </a:r>
            <a:endParaRPr lang="en-GB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4904173-7866-16C9-0CBE-EC8F3BC5D452}"/>
              </a:ext>
            </a:extLst>
          </p:cNvPr>
          <p:cNvSpPr txBox="1"/>
          <p:nvPr/>
        </p:nvSpPr>
        <p:spPr>
          <a:xfrm>
            <a:off x="5684532" y="1207429"/>
            <a:ext cx="3336978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Normally, we aim for a combination of both, high precision </a:t>
            </a:r>
            <a:r>
              <a:rPr lang="en-GB" sz="1400" b="1" dirty="0"/>
              <a:t>and</a:t>
            </a:r>
            <a:r>
              <a:rPr lang="en-GB" sz="1400" dirty="0"/>
              <a:t> high recall, but often, one is more important</a:t>
            </a:r>
          </a:p>
          <a:p>
            <a:endParaRPr lang="en-GB" sz="1400" dirty="0"/>
          </a:p>
          <a:p>
            <a:r>
              <a:rPr lang="en-GB" sz="1400" dirty="0"/>
              <a:t>Questions in our example: </a:t>
            </a:r>
          </a:p>
          <a:p>
            <a:endParaRPr lang="en-GB" sz="1400" dirty="0"/>
          </a:p>
          <a:p>
            <a:r>
              <a:rPr lang="en-GB" sz="1400" dirty="0"/>
              <a:t>What values are good enough for automated postal code detection?</a:t>
            </a:r>
          </a:p>
          <a:p>
            <a:endParaRPr lang="en-GB" sz="1400" dirty="0"/>
          </a:p>
          <a:p>
            <a:r>
              <a:rPr lang="en-GB" sz="1400" dirty="0"/>
              <a:t>What is more important for us: higher recall or higher precision?</a:t>
            </a:r>
          </a:p>
          <a:p>
            <a:endParaRPr lang="en-GB" sz="1400" dirty="0"/>
          </a:p>
          <a:p>
            <a:r>
              <a:rPr lang="en-GB" sz="1400" dirty="0"/>
              <a:t>Do we have further constraints that can help us?  </a:t>
            </a:r>
            <a:endParaRPr lang="en-GB" dirty="0"/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2821C7A-EF9D-D62E-98A7-6E293510A2B0}"/>
              </a:ext>
            </a:extLst>
          </p:cNvPr>
          <p:cNvCxnSpPr>
            <a:cxnSpLocks/>
          </p:cNvCxnSpPr>
          <p:nvPr/>
        </p:nvCxnSpPr>
        <p:spPr>
          <a:xfrm>
            <a:off x="5508625" y="983337"/>
            <a:ext cx="0" cy="395021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639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5C91A-AA9D-1CEB-DFE8-71EFF38F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381B65-FE97-4BBF-249E-C0B69326C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Confusion Matrix – Evaluation Metrics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B3071CF-D437-FCC8-680D-6FB01AC73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10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7CB3DEB-BF50-750E-6D2C-2A6A162757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690739"/>
            <a:ext cx="4792969" cy="292598"/>
          </a:xfrm>
        </p:spPr>
        <p:txBody>
          <a:bodyPr/>
          <a:lstStyle/>
          <a:p>
            <a:r>
              <a:rPr lang="en-GB" sz="1400" dirty="0"/>
              <a:t>Confusion matrices are common for classification</a:t>
            </a:r>
          </a:p>
        </p:txBody>
      </p:sp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95300829-2FA2-C0F6-6CAA-F4889CCB951B}"/>
              </a:ext>
            </a:extLst>
          </p:cNvPr>
          <p:cNvGraphicFramePr>
            <a:graphicFrameLocks noGrp="1"/>
          </p:cNvGraphicFramePr>
          <p:nvPr/>
        </p:nvGraphicFramePr>
        <p:xfrm>
          <a:off x="433685" y="1524937"/>
          <a:ext cx="3575707" cy="3317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839">
                  <a:extLst>
                    <a:ext uri="{9D8B030D-6E8A-4147-A177-3AD203B41FA5}">
                      <a16:colId xmlns:a16="http://schemas.microsoft.com/office/drawing/2014/main" val="3293488837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700644197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3433917102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569189834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4144896416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2748408521"/>
                    </a:ext>
                  </a:extLst>
                </a:gridCol>
                <a:gridCol w="511478">
                  <a:extLst>
                    <a:ext uri="{9D8B030D-6E8A-4147-A177-3AD203B41FA5}">
                      <a16:colId xmlns:a16="http://schemas.microsoft.com/office/drawing/2014/main" val="1643272746"/>
                    </a:ext>
                  </a:extLst>
                </a:gridCol>
              </a:tblGrid>
              <a:tr h="469344"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407379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925700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1123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9411968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645974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627221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</a:rPr>
                        <a:t>968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179236"/>
                  </a:ext>
                </a:extLst>
              </a:tr>
              <a:tr h="469344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4808250"/>
                  </a:ext>
                </a:extLst>
              </a:tr>
            </a:tbl>
          </a:graphicData>
        </a:graphic>
      </p:graphicFrame>
      <p:sp>
        <p:nvSpPr>
          <p:cNvPr id="14" name="Textfeld 13">
            <a:extLst>
              <a:ext uri="{FF2B5EF4-FFF2-40B4-BE49-F238E27FC236}">
                <a16:creationId xmlns:a16="http://schemas.microsoft.com/office/drawing/2014/main" id="{65711A5A-D0E2-CBE7-566A-72F1309BCA45}"/>
              </a:ext>
            </a:extLst>
          </p:cNvPr>
          <p:cNvSpPr txBox="1"/>
          <p:nvPr/>
        </p:nvSpPr>
        <p:spPr>
          <a:xfrm>
            <a:off x="1534016" y="1179531"/>
            <a:ext cx="16357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Predicted digit</a:t>
            </a:r>
            <a:endParaRPr lang="en-GB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4A82C5CD-F2F9-6A7E-3762-807560FC8092}"/>
              </a:ext>
            </a:extLst>
          </p:cNvPr>
          <p:cNvSpPr txBox="1"/>
          <p:nvPr/>
        </p:nvSpPr>
        <p:spPr>
          <a:xfrm rot="16200000">
            <a:off x="-427803" y="2797464"/>
            <a:ext cx="13024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True digit</a:t>
            </a:r>
            <a:endParaRPr lang="en-GB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28096EF-CD5C-59F4-8E88-3907A6916F84}"/>
              </a:ext>
            </a:extLst>
          </p:cNvPr>
          <p:cNvSpPr/>
          <p:nvPr/>
        </p:nvSpPr>
        <p:spPr>
          <a:xfrm>
            <a:off x="879940" y="2551959"/>
            <a:ext cx="623340" cy="2381595"/>
          </a:xfrm>
          <a:prstGeom prst="rect">
            <a:avLst/>
          </a:prstGeom>
          <a:noFill/>
          <a:ln>
            <a:solidFill>
              <a:srgbClr val="FFB2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296BA01-20A2-CC85-3A61-347E40C8C122}"/>
              </a:ext>
            </a:extLst>
          </p:cNvPr>
          <p:cNvSpPr/>
          <p:nvPr/>
        </p:nvSpPr>
        <p:spPr>
          <a:xfrm rot="5400000">
            <a:off x="2466413" y="965485"/>
            <a:ext cx="623340" cy="2549607"/>
          </a:xfrm>
          <a:prstGeom prst="rect">
            <a:avLst/>
          </a:prstGeom>
          <a:noFill/>
          <a:ln>
            <a:solidFill>
              <a:srgbClr val="D2DF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566C50C-4097-A571-6497-ECA0F342A054}"/>
              </a:ext>
            </a:extLst>
          </p:cNvPr>
          <p:cNvSpPr/>
          <p:nvPr/>
        </p:nvSpPr>
        <p:spPr>
          <a:xfrm rot="5400000">
            <a:off x="879938" y="1920581"/>
            <a:ext cx="623340" cy="623340"/>
          </a:xfrm>
          <a:prstGeom prst="rect">
            <a:avLst/>
          </a:prstGeom>
          <a:noFill/>
          <a:ln>
            <a:solidFill>
              <a:srgbClr val="C9F6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7FDD7B-3332-D669-EADF-E766B4D75F66}"/>
              </a:ext>
            </a:extLst>
          </p:cNvPr>
          <p:cNvSpPr/>
          <p:nvPr/>
        </p:nvSpPr>
        <p:spPr>
          <a:xfrm rot="7980361">
            <a:off x="2162442" y="2153696"/>
            <a:ext cx="623340" cy="2549607"/>
          </a:xfrm>
          <a:prstGeom prst="rect">
            <a:avLst/>
          </a:prstGeom>
          <a:noFill/>
          <a:ln>
            <a:solidFill>
              <a:srgbClr val="F1F1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43900C7-6CC7-FC23-DDD0-ABC89DE45BF5}"/>
              </a:ext>
            </a:extLst>
          </p:cNvPr>
          <p:cNvSpPr/>
          <p:nvPr/>
        </p:nvSpPr>
        <p:spPr>
          <a:xfrm>
            <a:off x="4574448" y="3870079"/>
            <a:ext cx="623340" cy="623341"/>
          </a:xfrm>
          <a:prstGeom prst="rect">
            <a:avLst/>
          </a:prstGeom>
          <a:noFill/>
          <a:ln>
            <a:solidFill>
              <a:srgbClr val="FFB2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8810BE02-F3D0-DB83-53BB-61D7A5B4636C}"/>
              </a:ext>
            </a:extLst>
          </p:cNvPr>
          <p:cNvSpPr/>
          <p:nvPr/>
        </p:nvSpPr>
        <p:spPr>
          <a:xfrm rot="5400000">
            <a:off x="4566779" y="3184001"/>
            <a:ext cx="623340" cy="623341"/>
          </a:xfrm>
          <a:prstGeom prst="rect">
            <a:avLst/>
          </a:prstGeom>
          <a:noFill/>
          <a:ln>
            <a:solidFill>
              <a:srgbClr val="D1DBC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2F3DCA-5705-E83F-27E1-F00DD9C91B25}"/>
              </a:ext>
            </a:extLst>
          </p:cNvPr>
          <p:cNvSpPr/>
          <p:nvPr/>
        </p:nvSpPr>
        <p:spPr>
          <a:xfrm rot="5400000">
            <a:off x="4559080" y="1841560"/>
            <a:ext cx="623340" cy="623340"/>
          </a:xfrm>
          <a:prstGeom prst="rect">
            <a:avLst/>
          </a:prstGeom>
          <a:noFill/>
          <a:ln>
            <a:solidFill>
              <a:srgbClr val="C9F6A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282A98F-7D6C-21FA-3B58-3C0EB733B184}"/>
              </a:ext>
            </a:extLst>
          </p:cNvPr>
          <p:cNvSpPr/>
          <p:nvPr/>
        </p:nvSpPr>
        <p:spPr>
          <a:xfrm rot="10800000">
            <a:off x="4566779" y="2507319"/>
            <a:ext cx="623340" cy="623342"/>
          </a:xfrm>
          <a:prstGeom prst="rect">
            <a:avLst/>
          </a:prstGeom>
          <a:noFill/>
          <a:ln>
            <a:solidFill>
              <a:srgbClr val="F1F1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EA8214BE-120C-249D-3E00-EA1B32F5D0E6}"/>
              </a:ext>
            </a:extLst>
          </p:cNvPr>
          <p:cNvSpPr txBox="1"/>
          <p:nvPr/>
        </p:nvSpPr>
        <p:spPr>
          <a:xfrm>
            <a:off x="4672198" y="1983722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TP</a:t>
            </a:r>
            <a:endParaRPr lang="en-GB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6B679F9C-94DE-B207-10B0-E6762A5EF398}"/>
              </a:ext>
            </a:extLst>
          </p:cNvPr>
          <p:cNvSpPr txBox="1"/>
          <p:nvPr/>
        </p:nvSpPr>
        <p:spPr>
          <a:xfrm>
            <a:off x="4679882" y="2657765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TN</a:t>
            </a:r>
            <a:endParaRPr lang="en-GB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AAF08E60-10BB-1DDF-18E5-034FB769E187}"/>
              </a:ext>
            </a:extLst>
          </p:cNvPr>
          <p:cNvSpPr txBox="1"/>
          <p:nvPr/>
        </p:nvSpPr>
        <p:spPr>
          <a:xfrm>
            <a:off x="4687566" y="3331808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FN</a:t>
            </a:r>
            <a:endParaRPr lang="en-GB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20216A77-8022-AA7A-23D6-869774C011A1}"/>
              </a:ext>
            </a:extLst>
          </p:cNvPr>
          <p:cNvSpPr txBox="1"/>
          <p:nvPr/>
        </p:nvSpPr>
        <p:spPr>
          <a:xfrm>
            <a:off x="4701676" y="4005851"/>
            <a:ext cx="5102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FP</a:t>
            </a:r>
            <a:endParaRPr lang="en-GB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E64F3D3-A821-E008-C2F3-41E7C454583F}"/>
              </a:ext>
            </a:extLst>
          </p:cNvPr>
          <p:cNvSpPr txBox="1"/>
          <p:nvPr/>
        </p:nvSpPr>
        <p:spPr>
          <a:xfrm>
            <a:off x="5715342" y="1822022"/>
            <a:ext cx="24629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Recall = TP / (TP + FN) </a:t>
            </a:r>
            <a:endParaRPr lang="en-GB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60281C7-B213-C7B2-042F-B5A5C8C7E4D2}"/>
              </a:ext>
            </a:extLst>
          </p:cNvPr>
          <p:cNvSpPr txBox="1"/>
          <p:nvPr/>
        </p:nvSpPr>
        <p:spPr>
          <a:xfrm>
            <a:off x="5715342" y="2308938"/>
            <a:ext cx="269161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Precision = TP / (TP + FP) </a:t>
            </a:r>
            <a:endParaRPr lang="en-GB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5330E05-6907-4ABC-834E-C5F4B6AE25A8}"/>
              </a:ext>
            </a:extLst>
          </p:cNvPr>
          <p:cNvSpPr txBox="1"/>
          <p:nvPr/>
        </p:nvSpPr>
        <p:spPr>
          <a:xfrm>
            <a:off x="5715342" y="2728207"/>
            <a:ext cx="39176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Accuracy = </a:t>
            </a:r>
          </a:p>
          <a:p>
            <a:r>
              <a:rPr lang="en-GB" sz="1400" dirty="0"/>
              <a:t>(TP + TN) / (TP + TN + FP + FN) </a:t>
            </a:r>
            <a:endParaRPr lang="en-GB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2F484CC-61F2-4B9C-CB48-D672CCF360E0}"/>
              </a:ext>
            </a:extLst>
          </p:cNvPr>
          <p:cNvSpPr txBox="1"/>
          <p:nvPr/>
        </p:nvSpPr>
        <p:spPr>
          <a:xfrm>
            <a:off x="5746152" y="3318693"/>
            <a:ext cx="39176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F1 = </a:t>
            </a:r>
          </a:p>
          <a:p>
            <a:r>
              <a:rPr lang="en-GB" sz="1400" dirty="0"/>
              <a:t>(2 x TP) / (2 x TP + FP + FN) </a:t>
            </a:r>
            <a:endParaRPr lang="en-GB" dirty="0"/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F05EB64-CB71-A65B-E049-96E91C03A077}"/>
              </a:ext>
            </a:extLst>
          </p:cNvPr>
          <p:cNvCxnSpPr>
            <a:cxnSpLocks/>
          </p:cNvCxnSpPr>
          <p:nvPr/>
        </p:nvCxnSpPr>
        <p:spPr>
          <a:xfrm>
            <a:off x="5508625" y="983337"/>
            <a:ext cx="0" cy="395021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C759A3E4-3A3B-7920-A4BE-766715EDF9DE}"/>
              </a:ext>
            </a:extLst>
          </p:cNvPr>
          <p:cNvSpPr txBox="1"/>
          <p:nvPr/>
        </p:nvSpPr>
        <p:spPr>
          <a:xfrm>
            <a:off x="5715342" y="3983306"/>
            <a:ext cx="39176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Jaccard index = </a:t>
            </a:r>
          </a:p>
          <a:p>
            <a:r>
              <a:rPr lang="en-GB" sz="1400" dirty="0"/>
              <a:t>TP / (TP + FP + FN) </a:t>
            </a:r>
            <a:endParaRPr lang="en-GB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7B84ACC-9088-F072-3295-44D22F0E6F75}"/>
              </a:ext>
            </a:extLst>
          </p:cNvPr>
          <p:cNvSpPr txBox="1"/>
          <p:nvPr/>
        </p:nvSpPr>
        <p:spPr>
          <a:xfrm>
            <a:off x="5715342" y="1335106"/>
            <a:ext cx="24629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/>
              <a:t>Metrics used often: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460306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15C95E-3232-4F97-7EC5-C402BE66A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MNIST dataset for training for our example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7DFC04-4B90-426E-5158-1BC9E6E31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11</a:t>
            </a:fld>
            <a:endParaRPr lang="de-DE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3E2AD6C3-1A92-6C0C-6664-9E1538C8DE4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1569" y="1126111"/>
            <a:ext cx="5832862" cy="3544888"/>
          </a:xfrm>
          <a:prstGeom prst="rect">
            <a:avLst/>
          </a:prstGeom>
        </p:spPr>
      </p:pic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2423EBAF-5B84-DB36-A0A2-873709A97BD3}"/>
              </a:ext>
            </a:extLst>
          </p:cNvPr>
          <p:cNvSpPr txBox="1">
            <a:spLocks/>
          </p:cNvSpPr>
          <p:nvPr/>
        </p:nvSpPr>
        <p:spPr>
          <a:xfrm>
            <a:off x="539750" y="1600350"/>
            <a:ext cx="2440800" cy="1828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 typeface=".AppleSystemUIFont" charset="-120"/>
              <a:buChar char="–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360000" indent="-36000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 typeface=".AppleSystemUIFont" charset="-120"/>
              <a:buChar char="–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 typeface=".AppleSystemUIFont" charset="-120"/>
              <a:buChar char="–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Images and labels of 60.000 handwritten digits for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10.000 images and labels for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Size of images:     28 x 28</a:t>
            </a:r>
          </a:p>
        </p:txBody>
      </p:sp>
    </p:spTree>
    <p:extLst>
      <p:ext uri="{BB962C8B-B14F-4D97-AF65-F5344CB8AC3E}">
        <p14:creationId xmlns:p14="http://schemas.microsoft.com/office/powerpoint/2010/main" val="3426648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270C3-51B0-7981-9445-F64A81E84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91F65-2FDE-3AE7-B439-C2CF38BA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PyTorch</a:t>
            </a:r>
            <a:endParaRPr lang="en-GB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959E54-AFE7-D997-5054-14D309E46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12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B5F04-ABFD-7B78-858B-3195C8034C3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0000" y="1303574"/>
            <a:ext cx="7155158" cy="35460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Powerful Python package designed specifically for working with Neural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Works with so-called tensors -&gt; compatible with </a:t>
            </a:r>
            <a:r>
              <a:rPr lang="en-GB" dirty="0" err="1"/>
              <a:t>numpy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Easy usage with GPU (more specifically: NVIDIA GPU)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Handles all math (derivatives and chain rule!) internally in an efficient manner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Necessary building blocks of all basic Neural Network architectures included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79626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8EC88-77D5-C9C6-FA5C-C5BC28428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fik 22">
            <a:extLst>
              <a:ext uri="{FF2B5EF4-FFF2-40B4-BE49-F238E27FC236}">
                <a16:creationId xmlns:a16="http://schemas.microsoft.com/office/drawing/2014/main" id="{9ED4E8F0-5120-1487-B518-839944DC30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19350"/>
            <a:ext cx="4418330" cy="40542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692112-C78F-C3FE-EF6A-FBEB80597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13</a:t>
            </a:fld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2E6D5E56-5027-A33D-3A07-CA2A37929EE6}"/>
              </a:ext>
            </a:extLst>
          </p:cNvPr>
          <p:cNvSpPr txBox="1"/>
          <p:nvPr/>
        </p:nvSpPr>
        <p:spPr>
          <a:xfrm>
            <a:off x="5046771" y="995079"/>
            <a:ext cx="3561853" cy="60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We create a new class for our model (</a:t>
            </a:r>
            <a:r>
              <a:rPr lang="en-GB" sz="1600" dirty="0" err="1"/>
              <a:t>nn.Module</a:t>
            </a:r>
            <a:r>
              <a:rPr lang="en-GB" sz="1600" dirty="0"/>
              <a:t> important!)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FF617B63-0A8E-9A7D-DA81-B270DC68E677}"/>
              </a:ext>
            </a:extLst>
          </p:cNvPr>
          <p:cNvSpPr txBox="1"/>
          <p:nvPr/>
        </p:nvSpPr>
        <p:spPr>
          <a:xfrm>
            <a:off x="5079048" y="1807637"/>
            <a:ext cx="3832477" cy="60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We need at least an __</a:t>
            </a:r>
            <a:r>
              <a:rPr lang="en-GB" sz="1600" dirty="0" err="1"/>
              <a:t>init</a:t>
            </a:r>
            <a:r>
              <a:rPr lang="en-GB" sz="1600" dirty="0"/>
              <a:t>__ and a forward methods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CCC07B5-0824-A265-84AF-A8FA260E8D71}"/>
              </a:ext>
            </a:extLst>
          </p:cNvPr>
          <p:cNvSpPr txBox="1"/>
          <p:nvPr/>
        </p:nvSpPr>
        <p:spPr>
          <a:xfrm>
            <a:off x="5079048" y="2644727"/>
            <a:ext cx="3529576" cy="875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We stack the building blocks of the models architecture in the “__</a:t>
            </a:r>
            <a:r>
              <a:rPr lang="en-GB" sz="1600" dirty="0" err="1"/>
              <a:t>init</a:t>
            </a:r>
            <a:r>
              <a:rPr lang="en-GB" sz="1600" dirty="0"/>
              <a:t>__” method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0B2B5658-070E-AF34-515A-04EDDED33219}"/>
              </a:ext>
            </a:extLst>
          </p:cNvPr>
          <p:cNvSpPr txBox="1"/>
          <p:nvPr/>
        </p:nvSpPr>
        <p:spPr>
          <a:xfrm>
            <a:off x="5079048" y="3694705"/>
            <a:ext cx="3450063" cy="60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We call the wanted blocks in the “forward” method</a:t>
            </a:r>
          </a:p>
        </p:txBody>
      </p:sp>
    </p:spTree>
    <p:extLst>
      <p:ext uri="{BB962C8B-B14F-4D97-AF65-F5344CB8AC3E}">
        <p14:creationId xmlns:p14="http://schemas.microsoft.com/office/powerpoint/2010/main" val="2071998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  <p:bldP spid="3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2148D-620E-412E-CBEF-2B8E39EA3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fik 22">
            <a:extLst>
              <a:ext uri="{FF2B5EF4-FFF2-40B4-BE49-F238E27FC236}">
                <a16:creationId xmlns:a16="http://schemas.microsoft.com/office/drawing/2014/main" id="{76AB4F96-5A4E-8BED-2E4F-74E40E6014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19350"/>
            <a:ext cx="4418330" cy="40542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994933-B1E2-51C6-05B1-6D08567BE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14</a:t>
            </a:fld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8EE9466-BC8C-2C43-603B-F9918508596F}"/>
              </a:ext>
            </a:extLst>
          </p:cNvPr>
          <p:cNvSpPr txBox="1"/>
          <p:nvPr/>
        </p:nvSpPr>
        <p:spPr>
          <a:xfrm>
            <a:off x="4862353" y="1010319"/>
            <a:ext cx="4127977" cy="35685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All components of the network architecture are individual modules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Common to include the modules that make up the network in “__</a:t>
            </a:r>
            <a:r>
              <a:rPr lang="en-GB" sz="1600" dirty="0" err="1"/>
              <a:t>init</a:t>
            </a:r>
            <a:r>
              <a:rPr lang="en-GB" sz="1600" dirty="0"/>
              <a:t>__” (not strictly necessary!)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Sequential: container that stacks all modules and handles them according to their order 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6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600" dirty="0"/>
              <a:t>We call the container in forward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600" dirty="0"/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329667B2-1AA8-E8FC-5035-E11E80EEF534}"/>
              </a:ext>
            </a:extLst>
          </p:cNvPr>
          <p:cNvSpPr/>
          <p:nvPr/>
        </p:nvSpPr>
        <p:spPr>
          <a:xfrm>
            <a:off x="2643308" y="583987"/>
            <a:ext cx="999804" cy="390969"/>
          </a:xfrm>
          <a:custGeom>
            <a:avLst/>
            <a:gdLst>
              <a:gd name="csX0" fmla="*/ 69156 w 999804"/>
              <a:gd name="csY0" fmla="*/ 291993 h 390969"/>
              <a:gd name="csX1" fmla="*/ 107576 w 999804"/>
              <a:gd name="csY1" fmla="*/ 330413 h 390969"/>
              <a:gd name="csX2" fmla="*/ 153680 w 999804"/>
              <a:gd name="csY2" fmla="*/ 345781 h 390969"/>
              <a:gd name="csX3" fmla="*/ 176732 w 999804"/>
              <a:gd name="csY3" fmla="*/ 361149 h 390969"/>
              <a:gd name="csX4" fmla="*/ 315045 w 999804"/>
              <a:gd name="csY4" fmla="*/ 376517 h 390969"/>
              <a:gd name="csX5" fmla="*/ 906716 w 999804"/>
              <a:gd name="csY5" fmla="*/ 338097 h 390969"/>
              <a:gd name="csX6" fmla="*/ 952820 w 999804"/>
              <a:gd name="csY6" fmla="*/ 307361 h 390969"/>
              <a:gd name="csX7" fmla="*/ 991240 w 999804"/>
              <a:gd name="csY7" fmla="*/ 253573 h 390969"/>
              <a:gd name="csX8" fmla="*/ 991240 w 999804"/>
              <a:gd name="csY8" fmla="*/ 153680 h 390969"/>
              <a:gd name="csX9" fmla="*/ 929768 w 999804"/>
              <a:gd name="csY9" fmla="*/ 122944 h 390969"/>
              <a:gd name="csX10" fmla="*/ 806823 w 999804"/>
              <a:gd name="csY10" fmla="*/ 84524 h 390969"/>
              <a:gd name="csX11" fmla="*/ 645458 w 999804"/>
              <a:gd name="csY11" fmla="*/ 53788 h 390969"/>
              <a:gd name="csX12" fmla="*/ 445674 w 999804"/>
              <a:gd name="csY12" fmla="*/ 23052 h 390969"/>
              <a:gd name="csX13" fmla="*/ 338097 w 999804"/>
              <a:gd name="csY13" fmla="*/ 7684 h 390969"/>
              <a:gd name="csX14" fmla="*/ 253573 w 999804"/>
              <a:gd name="csY14" fmla="*/ 0 h 390969"/>
              <a:gd name="csX15" fmla="*/ 30736 w 999804"/>
              <a:gd name="csY15" fmla="*/ 38420 h 390969"/>
              <a:gd name="csX16" fmla="*/ 7684 w 999804"/>
              <a:gd name="csY16" fmla="*/ 76840 h 390969"/>
              <a:gd name="csX17" fmla="*/ 0 w 999804"/>
              <a:gd name="csY17" fmla="*/ 122944 h 390969"/>
              <a:gd name="csX18" fmla="*/ 38420 w 999804"/>
              <a:gd name="csY18" fmla="*/ 268941 h 390969"/>
              <a:gd name="csX19" fmla="*/ 84524 w 999804"/>
              <a:gd name="csY19" fmla="*/ 330413 h 390969"/>
              <a:gd name="csX20" fmla="*/ 138312 w 999804"/>
              <a:gd name="csY20" fmla="*/ 384201 h 3909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999804" h="390969">
                <a:moveTo>
                  <a:pt x="69156" y="291993"/>
                </a:moveTo>
                <a:cubicBezTo>
                  <a:pt x="81963" y="304800"/>
                  <a:pt x="92296" y="320689"/>
                  <a:pt x="107576" y="330413"/>
                </a:cubicBezTo>
                <a:cubicBezTo>
                  <a:pt x="121243" y="339110"/>
                  <a:pt x="138877" y="339202"/>
                  <a:pt x="153680" y="345781"/>
                </a:cubicBezTo>
                <a:cubicBezTo>
                  <a:pt x="162119" y="349532"/>
                  <a:pt x="167660" y="359421"/>
                  <a:pt x="176732" y="361149"/>
                </a:cubicBezTo>
                <a:cubicBezTo>
                  <a:pt x="222301" y="369829"/>
                  <a:pt x="268941" y="371394"/>
                  <a:pt x="315045" y="376517"/>
                </a:cubicBezTo>
                <a:cubicBezTo>
                  <a:pt x="439105" y="372972"/>
                  <a:pt x="735187" y="430458"/>
                  <a:pt x="906716" y="338097"/>
                </a:cubicBezTo>
                <a:cubicBezTo>
                  <a:pt x="922978" y="329340"/>
                  <a:pt x="937452" y="317606"/>
                  <a:pt x="952820" y="307361"/>
                </a:cubicBezTo>
                <a:cubicBezTo>
                  <a:pt x="965627" y="289432"/>
                  <a:pt x="980689" y="272916"/>
                  <a:pt x="991240" y="253573"/>
                </a:cubicBezTo>
                <a:cubicBezTo>
                  <a:pt x="1004058" y="230073"/>
                  <a:pt x="1001169" y="168022"/>
                  <a:pt x="991240" y="153680"/>
                </a:cubicBezTo>
                <a:cubicBezTo>
                  <a:pt x="978200" y="134844"/>
                  <a:pt x="950497" y="132699"/>
                  <a:pt x="929768" y="122944"/>
                </a:cubicBezTo>
                <a:cubicBezTo>
                  <a:pt x="838318" y="79909"/>
                  <a:pt x="889707" y="99325"/>
                  <a:pt x="806823" y="84524"/>
                </a:cubicBezTo>
                <a:cubicBezTo>
                  <a:pt x="752920" y="74899"/>
                  <a:pt x="699437" y="62976"/>
                  <a:pt x="645458" y="53788"/>
                </a:cubicBezTo>
                <a:cubicBezTo>
                  <a:pt x="579035" y="42482"/>
                  <a:pt x="512307" y="33047"/>
                  <a:pt x="445674" y="23052"/>
                </a:cubicBezTo>
                <a:cubicBezTo>
                  <a:pt x="409852" y="17679"/>
                  <a:pt x="374171" y="10963"/>
                  <a:pt x="338097" y="7684"/>
                </a:cubicBezTo>
                <a:lnTo>
                  <a:pt x="253573" y="0"/>
                </a:lnTo>
                <a:cubicBezTo>
                  <a:pt x="222773" y="3080"/>
                  <a:pt x="79323" y="6029"/>
                  <a:pt x="30736" y="38420"/>
                </a:cubicBezTo>
                <a:cubicBezTo>
                  <a:pt x="18309" y="46704"/>
                  <a:pt x="15368" y="64033"/>
                  <a:pt x="7684" y="76840"/>
                </a:cubicBezTo>
                <a:cubicBezTo>
                  <a:pt x="5123" y="92208"/>
                  <a:pt x="0" y="107364"/>
                  <a:pt x="0" y="122944"/>
                </a:cubicBezTo>
                <a:cubicBezTo>
                  <a:pt x="0" y="166612"/>
                  <a:pt x="11833" y="233491"/>
                  <a:pt x="38420" y="268941"/>
                </a:cubicBezTo>
                <a:cubicBezTo>
                  <a:pt x="53788" y="289432"/>
                  <a:pt x="67749" y="311057"/>
                  <a:pt x="84524" y="330413"/>
                </a:cubicBezTo>
                <a:cubicBezTo>
                  <a:pt x="101130" y="349574"/>
                  <a:pt x="138312" y="384201"/>
                  <a:pt x="138312" y="384201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411B2BCC-662E-4A09-7330-4AE976CEA52B}"/>
              </a:ext>
            </a:extLst>
          </p:cNvPr>
          <p:cNvSpPr/>
          <p:nvPr/>
        </p:nvSpPr>
        <p:spPr>
          <a:xfrm>
            <a:off x="3050561" y="974956"/>
            <a:ext cx="145997" cy="584903"/>
          </a:xfrm>
          <a:custGeom>
            <a:avLst/>
            <a:gdLst>
              <a:gd name="csX0" fmla="*/ 145997 w 145997"/>
              <a:gd name="csY0" fmla="*/ 0 h 522514"/>
              <a:gd name="csX1" fmla="*/ 138313 w 145997"/>
              <a:gd name="csY1" fmla="*/ 322729 h 522514"/>
              <a:gd name="csX2" fmla="*/ 92209 w 145997"/>
              <a:gd name="csY2" fmla="*/ 399569 h 522514"/>
              <a:gd name="csX3" fmla="*/ 46105 w 145997"/>
              <a:gd name="csY3" fmla="*/ 476410 h 522514"/>
              <a:gd name="csX4" fmla="*/ 0 w 145997"/>
              <a:gd name="csY4" fmla="*/ 522514 h 5225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5997" h="522514">
                <a:moveTo>
                  <a:pt x="145997" y="0"/>
                </a:moveTo>
                <a:cubicBezTo>
                  <a:pt x="143436" y="107576"/>
                  <a:pt x="145316" y="215350"/>
                  <a:pt x="138313" y="322729"/>
                </a:cubicBezTo>
                <a:cubicBezTo>
                  <a:pt x="137457" y="335850"/>
                  <a:pt x="92580" y="398976"/>
                  <a:pt x="92209" y="399569"/>
                </a:cubicBezTo>
                <a:cubicBezTo>
                  <a:pt x="76378" y="424899"/>
                  <a:pt x="69430" y="457750"/>
                  <a:pt x="46105" y="476410"/>
                </a:cubicBezTo>
                <a:cubicBezTo>
                  <a:pt x="3212" y="510724"/>
                  <a:pt x="15019" y="492477"/>
                  <a:pt x="0" y="522514"/>
                </a:cubicBezTo>
              </a:path>
            </a:pathLst>
          </a:custGeom>
          <a:noFill/>
          <a:ln>
            <a:solidFill>
              <a:srgbClr val="FF0000"/>
            </a:solidFill>
            <a:headEnd type="triangl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1CAA65A-B4CF-2612-EFD4-2E7128FA86FD}"/>
              </a:ext>
            </a:extLst>
          </p:cNvPr>
          <p:cNvSpPr txBox="1"/>
          <p:nvPr/>
        </p:nvSpPr>
        <p:spPr>
          <a:xfrm>
            <a:off x="3243495" y="944795"/>
            <a:ext cx="15367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>
                <a:solidFill>
                  <a:srgbClr val="FF0000"/>
                </a:solidFill>
              </a:rPr>
              <a:t>makes everything </a:t>
            </a:r>
            <a:r>
              <a:rPr lang="en-GB" sz="1200" dirty="0">
                <a:solidFill>
                  <a:srgbClr val="FF0000"/>
                </a:solidFill>
              </a:rPr>
              <a:t>trackable</a:t>
            </a:r>
            <a:endParaRPr lang="en-GB" sz="1400" dirty="0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4713F022-EC8C-20C0-DBE4-7860E311FDC3}"/>
              </a:ext>
            </a:extLst>
          </p:cNvPr>
          <p:cNvSpPr/>
          <p:nvPr/>
        </p:nvSpPr>
        <p:spPr>
          <a:xfrm>
            <a:off x="2544422" y="1010319"/>
            <a:ext cx="414938" cy="906716"/>
          </a:xfrm>
          <a:custGeom>
            <a:avLst/>
            <a:gdLst>
              <a:gd name="csX0" fmla="*/ 414938 w 414938"/>
              <a:gd name="csY0" fmla="*/ 0 h 906716"/>
              <a:gd name="csX1" fmla="*/ 391886 w 414938"/>
              <a:gd name="csY1" fmla="*/ 238205 h 906716"/>
              <a:gd name="csX2" fmla="*/ 376518 w 414938"/>
              <a:gd name="csY2" fmla="*/ 315045 h 906716"/>
              <a:gd name="csX3" fmla="*/ 368834 w 414938"/>
              <a:gd name="csY3" fmla="*/ 399569 h 906716"/>
              <a:gd name="csX4" fmla="*/ 361150 w 414938"/>
              <a:gd name="csY4" fmla="*/ 430306 h 906716"/>
              <a:gd name="csX5" fmla="*/ 345782 w 414938"/>
              <a:gd name="csY5" fmla="*/ 484094 h 906716"/>
              <a:gd name="csX6" fmla="*/ 299678 w 414938"/>
              <a:gd name="csY6" fmla="*/ 645458 h 906716"/>
              <a:gd name="csX7" fmla="*/ 253574 w 414938"/>
              <a:gd name="csY7" fmla="*/ 706931 h 906716"/>
              <a:gd name="csX8" fmla="*/ 230521 w 414938"/>
              <a:gd name="csY8" fmla="*/ 729983 h 906716"/>
              <a:gd name="csX9" fmla="*/ 199785 w 414938"/>
              <a:gd name="csY9" fmla="*/ 776087 h 906716"/>
              <a:gd name="csX10" fmla="*/ 122945 w 414938"/>
              <a:gd name="csY10" fmla="*/ 845243 h 906716"/>
              <a:gd name="csX11" fmla="*/ 99893 w 414938"/>
              <a:gd name="csY11" fmla="*/ 852927 h 906716"/>
              <a:gd name="csX12" fmla="*/ 76841 w 414938"/>
              <a:gd name="csY12" fmla="*/ 868295 h 906716"/>
              <a:gd name="csX13" fmla="*/ 53789 w 414938"/>
              <a:gd name="csY13" fmla="*/ 875979 h 906716"/>
              <a:gd name="csX14" fmla="*/ 23053 w 414938"/>
              <a:gd name="csY14" fmla="*/ 891348 h 906716"/>
              <a:gd name="csX15" fmla="*/ 0 w 414938"/>
              <a:gd name="csY15" fmla="*/ 906716 h 906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414938" h="906716">
                <a:moveTo>
                  <a:pt x="414938" y="0"/>
                </a:moveTo>
                <a:cubicBezTo>
                  <a:pt x="407254" y="79402"/>
                  <a:pt x="401543" y="159019"/>
                  <a:pt x="391886" y="238205"/>
                </a:cubicBezTo>
                <a:cubicBezTo>
                  <a:pt x="388724" y="264133"/>
                  <a:pt x="380212" y="289187"/>
                  <a:pt x="376518" y="315045"/>
                </a:cubicBezTo>
                <a:cubicBezTo>
                  <a:pt x="372517" y="343052"/>
                  <a:pt x="372573" y="371526"/>
                  <a:pt x="368834" y="399569"/>
                </a:cubicBezTo>
                <a:cubicBezTo>
                  <a:pt x="367438" y="410037"/>
                  <a:pt x="363929" y="420117"/>
                  <a:pt x="361150" y="430306"/>
                </a:cubicBezTo>
                <a:cubicBezTo>
                  <a:pt x="356244" y="448296"/>
                  <a:pt x="349271" y="465777"/>
                  <a:pt x="345782" y="484094"/>
                </a:cubicBezTo>
                <a:cubicBezTo>
                  <a:pt x="320548" y="616570"/>
                  <a:pt x="352345" y="557679"/>
                  <a:pt x="299678" y="645458"/>
                </a:cubicBezTo>
                <a:cubicBezTo>
                  <a:pt x="287200" y="666255"/>
                  <a:pt x="268792" y="689539"/>
                  <a:pt x="253574" y="706931"/>
                </a:cubicBezTo>
                <a:cubicBezTo>
                  <a:pt x="246418" y="715109"/>
                  <a:pt x="237193" y="721405"/>
                  <a:pt x="230521" y="729983"/>
                </a:cubicBezTo>
                <a:cubicBezTo>
                  <a:pt x="219181" y="744562"/>
                  <a:pt x="212845" y="763027"/>
                  <a:pt x="199785" y="776087"/>
                </a:cubicBezTo>
                <a:cubicBezTo>
                  <a:pt x="178653" y="797219"/>
                  <a:pt x="151017" y="829202"/>
                  <a:pt x="122945" y="845243"/>
                </a:cubicBezTo>
                <a:cubicBezTo>
                  <a:pt x="115913" y="849262"/>
                  <a:pt x="107138" y="849305"/>
                  <a:pt x="99893" y="852927"/>
                </a:cubicBezTo>
                <a:cubicBezTo>
                  <a:pt x="91633" y="857057"/>
                  <a:pt x="85101" y="864165"/>
                  <a:pt x="76841" y="868295"/>
                </a:cubicBezTo>
                <a:cubicBezTo>
                  <a:pt x="69596" y="871917"/>
                  <a:pt x="61234" y="872788"/>
                  <a:pt x="53789" y="875979"/>
                </a:cubicBezTo>
                <a:cubicBezTo>
                  <a:pt x="43260" y="880491"/>
                  <a:pt x="32999" y="885665"/>
                  <a:pt x="23053" y="891348"/>
                </a:cubicBezTo>
                <a:cubicBezTo>
                  <a:pt x="15035" y="895930"/>
                  <a:pt x="0" y="906716"/>
                  <a:pt x="0" y="906716"/>
                </a:cubicBezTo>
              </a:path>
            </a:pathLst>
          </a:custGeom>
          <a:noFill/>
          <a:ln>
            <a:solidFill>
              <a:srgbClr val="FF0000"/>
            </a:solidFill>
            <a:head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72236FF6-BAAC-D0A4-FC9D-8A44AF9BC9AE}"/>
              </a:ext>
            </a:extLst>
          </p:cNvPr>
          <p:cNvSpPr/>
          <p:nvPr/>
        </p:nvSpPr>
        <p:spPr>
          <a:xfrm>
            <a:off x="858515" y="899032"/>
            <a:ext cx="2000190" cy="1408971"/>
          </a:xfrm>
          <a:custGeom>
            <a:avLst/>
            <a:gdLst>
              <a:gd name="csX0" fmla="*/ 532295 w 2000190"/>
              <a:gd name="csY0" fmla="*/ 1083448 h 1083448"/>
              <a:gd name="csX1" fmla="*/ 370930 w 2000190"/>
              <a:gd name="csY1" fmla="*/ 998924 h 1083448"/>
              <a:gd name="csX2" fmla="*/ 232618 w 2000190"/>
              <a:gd name="csY2" fmla="*/ 945136 h 1083448"/>
              <a:gd name="csX3" fmla="*/ 171146 w 2000190"/>
              <a:gd name="csY3" fmla="*/ 914400 h 1083448"/>
              <a:gd name="csX4" fmla="*/ 109673 w 2000190"/>
              <a:gd name="csY4" fmla="*/ 845243 h 1083448"/>
              <a:gd name="csX5" fmla="*/ 2097 w 2000190"/>
              <a:gd name="csY5" fmla="*/ 637774 h 1083448"/>
              <a:gd name="csX6" fmla="*/ 9781 w 2000190"/>
              <a:gd name="csY6" fmla="*/ 522514 h 1083448"/>
              <a:gd name="csX7" fmla="*/ 71253 w 2000190"/>
              <a:gd name="csY7" fmla="*/ 507146 h 1083448"/>
              <a:gd name="csX8" fmla="*/ 578399 w 2000190"/>
              <a:gd name="csY8" fmla="*/ 499462 h 1083448"/>
              <a:gd name="csX9" fmla="*/ 1308382 w 2000190"/>
              <a:gd name="csY9" fmla="*/ 476410 h 1083448"/>
              <a:gd name="csX10" fmla="*/ 1631112 w 2000190"/>
              <a:gd name="csY10" fmla="*/ 414937 h 1083448"/>
              <a:gd name="csX11" fmla="*/ 1731004 w 2000190"/>
              <a:gd name="csY11" fmla="*/ 407253 h 1083448"/>
              <a:gd name="csX12" fmla="*/ 1800161 w 2000190"/>
              <a:gd name="csY12" fmla="*/ 384201 h 1083448"/>
              <a:gd name="csX13" fmla="*/ 1907737 w 2000190"/>
              <a:gd name="csY13" fmla="*/ 261257 h 1083448"/>
              <a:gd name="csX14" fmla="*/ 1946157 w 2000190"/>
              <a:gd name="csY14" fmla="*/ 184416 h 1083448"/>
              <a:gd name="csX15" fmla="*/ 1961525 w 2000190"/>
              <a:gd name="csY15" fmla="*/ 161364 h 1083448"/>
              <a:gd name="csX16" fmla="*/ 1999946 w 2000190"/>
              <a:gd name="csY16" fmla="*/ 76840 h 1083448"/>
              <a:gd name="csX17" fmla="*/ 1992261 w 2000190"/>
              <a:gd name="csY17" fmla="*/ 0 h 10834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000190" h="1083448">
                <a:moveTo>
                  <a:pt x="532295" y="1083448"/>
                </a:moveTo>
                <a:cubicBezTo>
                  <a:pt x="408198" y="1042082"/>
                  <a:pt x="598236" y="1109132"/>
                  <a:pt x="370930" y="998924"/>
                </a:cubicBezTo>
                <a:cubicBezTo>
                  <a:pt x="326418" y="977343"/>
                  <a:pt x="278176" y="964411"/>
                  <a:pt x="232618" y="945136"/>
                </a:cubicBezTo>
                <a:cubicBezTo>
                  <a:pt x="211519" y="936210"/>
                  <a:pt x="191637" y="924645"/>
                  <a:pt x="171146" y="914400"/>
                </a:cubicBezTo>
                <a:cubicBezTo>
                  <a:pt x="150655" y="891348"/>
                  <a:pt x="127286" y="870562"/>
                  <a:pt x="109673" y="845243"/>
                </a:cubicBezTo>
                <a:cubicBezTo>
                  <a:pt x="64148" y="779801"/>
                  <a:pt x="35191" y="709479"/>
                  <a:pt x="2097" y="637774"/>
                </a:cubicBezTo>
                <a:cubicBezTo>
                  <a:pt x="4658" y="599354"/>
                  <a:pt x="-8235" y="556545"/>
                  <a:pt x="9781" y="522514"/>
                </a:cubicBezTo>
                <a:cubicBezTo>
                  <a:pt x="19663" y="503847"/>
                  <a:pt x="50149" y="508002"/>
                  <a:pt x="71253" y="507146"/>
                </a:cubicBezTo>
                <a:cubicBezTo>
                  <a:pt x="240182" y="500298"/>
                  <a:pt x="409350" y="502023"/>
                  <a:pt x="578399" y="499462"/>
                </a:cubicBezTo>
                <a:cubicBezTo>
                  <a:pt x="821727" y="491778"/>
                  <a:pt x="1090633" y="585281"/>
                  <a:pt x="1308382" y="476410"/>
                </a:cubicBezTo>
                <a:cubicBezTo>
                  <a:pt x="1425247" y="417979"/>
                  <a:pt x="1345064" y="454199"/>
                  <a:pt x="1631112" y="414937"/>
                </a:cubicBezTo>
                <a:cubicBezTo>
                  <a:pt x="1664197" y="410396"/>
                  <a:pt x="1697707" y="409814"/>
                  <a:pt x="1731004" y="407253"/>
                </a:cubicBezTo>
                <a:cubicBezTo>
                  <a:pt x="1754056" y="399569"/>
                  <a:pt x="1779760" y="397402"/>
                  <a:pt x="1800161" y="384201"/>
                </a:cubicBezTo>
                <a:cubicBezTo>
                  <a:pt x="1829350" y="365314"/>
                  <a:pt x="1888789" y="292263"/>
                  <a:pt x="1907737" y="261257"/>
                </a:cubicBezTo>
                <a:cubicBezTo>
                  <a:pt x="1922670" y="236822"/>
                  <a:pt x="1932580" y="209630"/>
                  <a:pt x="1946157" y="184416"/>
                </a:cubicBezTo>
                <a:cubicBezTo>
                  <a:pt x="1950535" y="176285"/>
                  <a:pt x="1956630" y="169195"/>
                  <a:pt x="1961525" y="161364"/>
                </a:cubicBezTo>
                <a:cubicBezTo>
                  <a:pt x="1976043" y="138135"/>
                  <a:pt x="1998150" y="105568"/>
                  <a:pt x="1999946" y="76840"/>
                </a:cubicBezTo>
                <a:cubicBezTo>
                  <a:pt x="2001552" y="51149"/>
                  <a:pt x="1994823" y="25613"/>
                  <a:pt x="1992261" y="0"/>
                </a:cubicBezTo>
              </a:path>
            </a:pathLst>
          </a:custGeom>
          <a:noFill/>
          <a:ln>
            <a:solidFill>
              <a:srgbClr val="FF000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21786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6CD1D-4262-F701-4DFD-5CC0F8266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Ellipse 416">
            <a:extLst>
              <a:ext uri="{FF2B5EF4-FFF2-40B4-BE49-F238E27FC236}">
                <a16:creationId xmlns:a16="http://schemas.microsoft.com/office/drawing/2014/main" id="{8B1EDC4F-811A-2E2C-0B6B-4312F043720C}"/>
              </a:ext>
            </a:extLst>
          </p:cNvPr>
          <p:cNvSpPr/>
          <p:nvPr/>
        </p:nvSpPr>
        <p:spPr>
          <a:xfrm>
            <a:off x="8500242" y="1680506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8" name="Ellipse 417">
            <a:extLst>
              <a:ext uri="{FF2B5EF4-FFF2-40B4-BE49-F238E27FC236}">
                <a16:creationId xmlns:a16="http://schemas.microsoft.com/office/drawing/2014/main" id="{07551197-89EC-95A9-B6B4-C52877AF55F6}"/>
              </a:ext>
            </a:extLst>
          </p:cNvPr>
          <p:cNvSpPr/>
          <p:nvPr/>
        </p:nvSpPr>
        <p:spPr>
          <a:xfrm>
            <a:off x="8504199" y="2110511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19" name="Ellipse 418">
            <a:extLst>
              <a:ext uri="{FF2B5EF4-FFF2-40B4-BE49-F238E27FC236}">
                <a16:creationId xmlns:a16="http://schemas.microsoft.com/office/drawing/2014/main" id="{CD283C1D-27C2-8965-AC58-495E96DEBF7C}"/>
              </a:ext>
            </a:extLst>
          </p:cNvPr>
          <p:cNvSpPr/>
          <p:nvPr/>
        </p:nvSpPr>
        <p:spPr>
          <a:xfrm>
            <a:off x="8510292" y="2540495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20" name="Ellipse 419">
            <a:extLst>
              <a:ext uri="{FF2B5EF4-FFF2-40B4-BE49-F238E27FC236}">
                <a16:creationId xmlns:a16="http://schemas.microsoft.com/office/drawing/2014/main" id="{0BB034AB-06CF-FFBF-8E52-84AD7CAFD422}"/>
              </a:ext>
            </a:extLst>
          </p:cNvPr>
          <p:cNvSpPr/>
          <p:nvPr/>
        </p:nvSpPr>
        <p:spPr>
          <a:xfrm>
            <a:off x="8514249" y="2970500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1" name="Ellipse 420">
            <a:extLst>
              <a:ext uri="{FF2B5EF4-FFF2-40B4-BE49-F238E27FC236}">
                <a16:creationId xmlns:a16="http://schemas.microsoft.com/office/drawing/2014/main" id="{34222DB9-668E-334F-4DC0-D3523B8A88AD}"/>
              </a:ext>
            </a:extLst>
          </p:cNvPr>
          <p:cNvSpPr/>
          <p:nvPr/>
        </p:nvSpPr>
        <p:spPr>
          <a:xfrm>
            <a:off x="8520342" y="3400484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22" name="Ellipse 421">
            <a:extLst>
              <a:ext uri="{FF2B5EF4-FFF2-40B4-BE49-F238E27FC236}">
                <a16:creationId xmlns:a16="http://schemas.microsoft.com/office/drawing/2014/main" id="{43D72851-5F46-B811-AA63-1CF1EDC3A52F}"/>
              </a:ext>
            </a:extLst>
          </p:cNvPr>
          <p:cNvSpPr/>
          <p:nvPr/>
        </p:nvSpPr>
        <p:spPr>
          <a:xfrm>
            <a:off x="8500242" y="4270633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26" name="Ellipse 225">
            <a:extLst>
              <a:ext uri="{FF2B5EF4-FFF2-40B4-BE49-F238E27FC236}">
                <a16:creationId xmlns:a16="http://schemas.microsoft.com/office/drawing/2014/main" id="{26A08F34-FBEE-1D64-A32F-A42B5806030C}"/>
              </a:ext>
            </a:extLst>
          </p:cNvPr>
          <p:cNvSpPr/>
          <p:nvPr/>
        </p:nvSpPr>
        <p:spPr>
          <a:xfrm>
            <a:off x="8501640" y="1681904"/>
            <a:ext cx="334194" cy="334194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27" name="Ellipse 226">
            <a:extLst>
              <a:ext uri="{FF2B5EF4-FFF2-40B4-BE49-F238E27FC236}">
                <a16:creationId xmlns:a16="http://schemas.microsoft.com/office/drawing/2014/main" id="{1965B3F3-EE88-D5AE-A2DE-16465D6CAC4A}"/>
              </a:ext>
            </a:extLst>
          </p:cNvPr>
          <p:cNvSpPr/>
          <p:nvPr/>
        </p:nvSpPr>
        <p:spPr>
          <a:xfrm>
            <a:off x="8505597" y="2111909"/>
            <a:ext cx="334194" cy="334194"/>
          </a:xfrm>
          <a:prstGeom prst="ellipse">
            <a:avLst/>
          </a:prstGeom>
          <a:solidFill>
            <a:srgbClr val="C54646"/>
          </a:solidFill>
          <a:ln>
            <a:solidFill>
              <a:srgbClr val="C5464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28" name="Ellipse 227">
            <a:extLst>
              <a:ext uri="{FF2B5EF4-FFF2-40B4-BE49-F238E27FC236}">
                <a16:creationId xmlns:a16="http://schemas.microsoft.com/office/drawing/2014/main" id="{46D08FB2-FC3F-5432-530A-9BD6E628FDE9}"/>
              </a:ext>
            </a:extLst>
          </p:cNvPr>
          <p:cNvSpPr/>
          <p:nvPr/>
        </p:nvSpPr>
        <p:spPr>
          <a:xfrm>
            <a:off x="8511690" y="2541893"/>
            <a:ext cx="334194" cy="334194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29" name="Ellipse 228">
            <a:extLst>
              <a:ext uri="{FF2B5EF4-FFF2-40B4-BE49-F238E27FC236}">
                <a16:creationId xmlns:a16="http://schemas.microsoft.com/office/drawing/2014/main" id="{58730242-A7B9-C9EA-41F0-00883BDC499F}"/>
              </a:ext>
            </a:extLst>
          </p:cNvPr>
          <p:cNvSpPr/>
          <p:nvPr/>
        </p:nvSpPr>
        <p:spPr>
          <a:xfrm>
            <a:off x="8515647" y="2971898"/>
            <a:ext cx="334194" cy="334194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0" name="Ellipse 229">
            <a:extLst>
              <a:ext uri="{FF2B5EF4-FFF2-40B4-BE49-F238E27FC236}">
                <a16:creationId xmlns:a16="http://schemas.microsoft.com/office/drawing/2014/main" id="{3B85CDB0-0B96-60C2-68F2-BD487FC6145B}"/>
              </a:ext>
            </a:extLst>
          </p:cNvPr>
          <p:cNvSpPr/>
          <p:nvPr/>
        </p:nvSpPr>
        <p:spPr>
          <a:xfrm>
            <a:off x="8521740" y="3401882"/>
            <a:ext cx="334194" cy="334194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1" name="Ellipse 230">
            <a:extLst>
              <a:ext uri="{FF2B5EF4-FFF2-40B4-BE49-F238E27FC236}">
                <a16:creationId xmlns:a16="http://schemas.microsoft.com/office/drawing/2014/main" id="{3E4A456E-289E-2606-49F4-1370E5C53096}"/>
              </a:ext>
            </a:extLst>
          </p:cNvPr>
          <p:cNvSpPr/>
          <p:nvPr/>
        </p:nvSpPr>
        <p:spPr>
          <a:xfrm>
            <a:off x="8501640" y="4272031"/>
            <a:ext cx="334194" cy="334194"/>
          </a:xfrm>
          <a:prstGeom prst="ellipse">
            <a:avLst/>
          </a:prstGeom>
          <a:solidFill>
            <a:srgbClr val="C54646"/>
          </a:solidFill>
          <a:ln>
            <a:solidFill>
              <a:srgbClr val="C5464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7187D5F-F3E7-DFD4-43D9-CF6D76362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668" y="4878000"/>
            <a:ext cx="900000" cy="180000"/>
          </a:xfrm>
        </p:spPr>
        <p:txBody>
          <a:bodyPr/>
          <a:lstStyle/>
          <a:p>
            <a:r>
              <a:rPr lang="de-DE"/>
              <a:t>10.02.2017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327D435-D14D-B149-654F-2E4C6A4A42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39670"/>
            <a:ext cx="4418330" cy="4054250"/>
          </a:xfrm>
          <a:prstGeom prst="rect">
            <a:avLst/>
          </a:prstGeom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8D917EF6-B76D-A9E4-DB96-1292F8D75807}"/>
              </a:ext>
            </a:extLst>
          </p:cNvPr>
          <p:cNvGrpSpPr/>
          <p:nvPr/>
        </p:nvGrpSpPr>
        <p:grpSpPr>
          <a:xfrm>
            <a:off x="4921798" y="177934"/>
            <a:ext cx="975360" cy="974598"/>
            <a:chOff x="5730240" y="1719072"/>
            <a:chExt cx="975360" cy="974598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68B0B06A-1CED-15E8-090B-189E7F83D26D}"/>
                </a:ext>
              </a:extLst>
            </p:cNvPr>
            <p:cNvSpPr/>
            <p:nvPr/>
          </p:nvSpPr>
          <p:spPr>
            <a:xfrm>
              <a:off x="573024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4C21389F-E615-9831-EA9F-A4301A5FC782}"/>
                </a:ext>
              </a:extLst>
            </p:cNvPr>
            <p:cNvSpPr/>
            <p:nvPr/>
          </p:nvSpPr>
          <p:spPr>
            <a:xfrm>
              <a:off x="585216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2B189C0E-104F-8562-045C-5DB8A260E53C}"/>
                </a:ext>
              </a:extLst>
            </p:cNvPr>
            <p:cNvSpPr/>
            <p:nvPr/>
          </p:nvSpPr>
          <p:spPr>
            <a:xfrm>
              <a:off x="597408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22015C9-A784-74DC-4AA1-879B4304887F}"/>
                </a:ext>
              </a:extLst>
            </p:cNvPr>
            <p:cNvSpPr/>
            <p:nvPr/>
          </p:nvSpPr>
          <p:spPr>
            <a:xfrm>
              <a:off x="609600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7AEBD98C-732B-DABF-D0D4-CAC4BA6BA7C9}"/>
                </a:ext>
              </a:extLst>
            </p:cNvPr>
            <p:cNvSpPr/>
            <p:nvPr/>
          </p:nvSpPr>
          <p:spPr>
            <a:xfrm>
              <a:off x="621792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EF75F817-1E9E-6FF9-8EA5-BC0CE75FAB3C}"/>
                </a:ext>
              </a:extLst>
            </p:cNvPr>
            <p:cNvSpPr/>
            <p:nvPr/>
          </p:nvSpPr>
          <p:spPr>
            <a:xfrm>
              <a:off x="633984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B14094C6-6CB7-CB39-D1C6-3DE93B4588E0}"/>
                </a:ext>
              </a:extLst>
            </p:cNvPr>
            <p:cNvSpPr/>
            <p:nvPr/>
          </p:nvSpPr>
          <p:spPr>
            <a:xfrm>
              <a:off x="646176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1EABB011-8FA4-3F35-7378-956615E76D9A}"/>
                </a:ext>
              </a:extLst>
            </p:cNvPr>
            <p:cNvSpPr/>
            <p:nvPr/>
          </p:nvSpPr>
          <p:spPr>
            <a:xfrm>
              <a:off x="6583680" y="17190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24DDFDFD-BD90-3DEB-1787-8D8537AEB474}"/>
                </a:ext>
              </a:extLst>
            </p:cNvPr>
            <p:cNvSpPr/>
            <p:nvPr/>
          </p:nvSpPr>
          <p:spPr>
            <a:xfrm>
              <a:off x="573024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D182DA60-94B8-8B26-5657-4F153000D709}"/>
                </a:ext>
              </a:extLst>
            </p:cNvPr>
            <p:cNvSpPr/>
            <p:nvPr/>
          </p:nvSpPr>
          <p:spPr>
            <a:xfrm>
              <a:off x="585216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4952BF6-B7A8-BF72-4906-4646C29D6EE4}"/>
                </a:ext>
              </a:extLst>
            </p:cNvPr>
            <p:cNvSpPr/>
            <p:nvPr/>
          </p:nvSpPr>
          <p:spPr>
            <a:xfrm>
              <a:off x="597408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DDFEA08A-D1B7-C70B-AFD6-4EAF653FC5F4}"/>
                </a:ext>
              </a:extLst>
            </p:cNvPr>
            <p:cNvSpPr/>
            <p:nvPr/>
          </p:nvSpPr>
          <p:spPr>
            <a:xfrm>
              <a:off x="609600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F6CA19C-0FC3-56FD-40DC-94A73854CEA3}"/>
                </a:ext>
              </a:extLst>
            </p:cNvPr>
            <p:cNvSpPr/>
            <p:nvPr/>
          </p:nvSpPr>
          <p:spPr>
            <a:xfrm>
              <a:off x="6217920" y="184099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0028E11C-0265-2A78-A1FB-EBD6AE30E152}"/>
                </a:ext>
              </a:extLst>
            </p:cNvPr>
            <p:cNvSpPr/>
            <p:nvPr/>
          </p:nvSpPr>
          <p:spPr>
            <a:xfrm>
              <a:off x="633984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F221C84E-C89E-B36D-E103-0AF88DEF2D0A}"/>
                </a:ext>
              </a:extLst>
            </p:cNvPr>
            <p:cNvSpPr/>
            <p:nvPr/>
          </p:nvSpPr>
          <p:spPr>
            <a:xfrm>
              <a:off x="646176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3D442568-905B-BDAC-689A-0BC9D1C254CB}"/>
                </a:ext>
              </a:extLst>
            </p:cNvPr>
            <p:cNvSpPr/>
            <p:nvPr/>
          </p:nvSpPr>
          <p:spPr>
            <a:xfrm>
              <a:off x="6583680" y="184099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CC2B6A55-F587-5D23-CB28-61507084427B}"/>
                </a:ext>
              </a:extLst>
            </p:cNvPr>
            <p:cNvSpPr/>
            <p:nvPr/>
          </p:nvSpPr>
          <p:spPr>
            <a:xfrm>
              <a:off x="573024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879BDBC9-3665-28A4-EDB6-84D052F92FB8}"/>
                </a:ext>
              </a:extLst>
            </p:cNvPr>
            <p:cNvSpPr/>
            <p:nvPr/>
          </p:nvSpPr>
          <p:spPr>
            <a:xfrm>
              <a:off x="585216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0B6AB21A-DD95-ADDE-EB8B-4D342C62971F}"/>
                </a:ext>
              </a:extLst>
            </p:cNvPr>
            <p:cNvSpPr/>
            <p:nvPr/>
          </p:nvSpPr>
          <p:spPr>
            <a:xfrm>
              <a:off x="597408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19599391-FE73-5FCE-CB28-536C336C1DC7}"/>
                </a:ext>
              </a:extLst>
            </p:cNvPr>
            <p:cNvSpPr/>
            <p:nvPr/>
          </p:nvSpPr>
          <p:spPr>
            <a:xfrm>
              <a:off x="6096000" y="196291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A77FABBE-2B7C-7FC1-AA70-A1E8EF7778DA}"/>
                </a:ext>
              </a:extLst>
            </p:cNvPr>
            <p:cNvSpPr/>
            <p:nvPr/>
          </p:nvSpPr>
          <p:spPr>
            <a:xfrm>
              <a:off x="6217920" y="196291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0A520CF0-B705-7F4B-987C-AFB04DB33AD0}"/>
                </a:ext>
              </a:extLst>
            </p:cNvPr>
            <p:cNvSpPr/>
            <p:nvPr/>
          </p:nvSpPr>
          <p:spPr>
            <a:xfrm>
              <a:off x="633984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4A6BCA9D-7AB9-4567-428A-BD090B0ADEE5}"/>
                </a:ext>
              </a:extLst>
            </p:cNvPr>
            <p:cNvSpPr/>
            <p:nvPr/>
          </p:nvSpPr>
          <p:spPr>
            <a:xfrm>
              <a:off x="646176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70E789E7-E1BC-AFF1-2E4B-1EED1B801FDC}"/>
                </a:ext>
              </a:extLst>
            </p:cNvPr>
            <p:cNvSpPr/>
            <p:nvPr/>
          </p:nvSpPr>
          <p:spPr>
            <a:xfrm>
              <a:off x="6583680" y="196291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08331A9A-E75A-69DD-4AD8-04C7C80E253C}"/>
                </a:ext>
              </a:extLst>
            </p:cNvPr>
            <p:cNvSpPr/>
            <p:nvPr/>
          </p:nvSpPr>
          <p:spPr>
            <a:xfrm>
              <a:off x="573024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9105A3AB-E06C-94A6-83DD-9D9B7ECDAECC}"/>
                </a:ext>
              </a:extLst>
            </p:cNvPr>
            <p:cNvSpPr/>
            <p:nvPr/>
          </p:nvSpPr>
          <p:spPr>
            <a:xfrm>
              <a:off x="585216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B8F8C798-AA69-A218-62FB-1AD629F52D05}"/>
                </a:ext>
              </a:extLst>
            </p:cNvPr>
            <p:cNvSpPr/>
            <p:nvPr/>
          </p:nvSpPr>
          <p:spPr>
            <a:xfrm>
              <a:off x="5974080" y="208483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3DFC211A-C1FF-AA4E-E3D1-1A4662587ADC}"/>
                </a:ext>
              </a:extLst>
            </p:cNvPr>
            <p:cNvSpPr/>
            <p:nvPr/>
          </p:nvSpPr>
          <p:spPr>
            <a:xfrm>
              <a:off x="609600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8084ED06-316C-7769-4F66-A9EDE2BB8386}"/>
                </a:ext>
              </a:extLst>
            </p:cNvPr>
            <p:cNvSpPr/>
            <p:nvPr/>
          </p:nvSpPr>
          <p:spPr>
            <a:xfrm>
              <a:off x="6217920" y="208483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69F4E671-DAF4-1EDD-4B34-300FFCF14F65}"/>
                </a:ext>
              </a:extLst>
            </p:cNvPr>
            <p:cNvSpPr/>
            <p:nvPr/>
          </p:nvSpPr>
          <p:spPr>
            <a:xfrm>
              <a:off x="633984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F379C32-B30F-3A68-A13B-02D30614D3DB}"/>
                </a:ext>
              </a:extLst>
            </p:cNvPr>
            <p:cNvSpPr/>
            <p:nvPr/>
          </p:nvSpPr>
          <p:spPr>
            <a:xfrm>
              <a:off x="646176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818C463D-A430-F4C7-8E09-8A3F46665F6D}"/>
                </a:ext>
              </a:extLst>
            </p:cNvPr>
            <p:cNvSpPr/>
            <p:nvPr/>
          </p:nvSpPr>
          <p:spPr>
            <a:xfrm>
              <a:off x="6583680" y="208483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1E3185E5-6F8A-B0CD-7979-4B420061044D}"/>
                </a:ext>
              </a:extLst>
            </p:cNvPr>
            <p:cNvSpPr/>
            <p:nvPr/>
          </p:nvSpPr>
          <p:spPr>
            <a:xfrm>
              <a:off x="573024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47DF901E-2EC3-D8A9-4627-5F4E15617447}"/>
                </a:ext>
              </a:extLst>
            </p:cNvPr>
            <p:cNvSpPr/>
            <p:nvPr/>
          </p:nvSpPr>
          <p:spPr>
            <a:xfrm>
              <a:off x="585216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C6B309E-D23E-6CF7-1CD2-25BF520C64FB}"/>
                </a:ext>
              </a:extLst>
            </p:cNvPr>
            <p:cNvSpPr/>
            <p:nvPr/>
          </p:nvSpPr>
          <p:spPr>
            <a:xfrm>
              <a:off x="597408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9B484FE8-7D03-2725-3B33-6F8377A9C124}"/>
                </a:ext>
              </a:extLst>
            </p:cNvPr>
            <p:cNvSpPr/>
            <p:nvPr/>
          </p:nvSpPr>
          <p:spPr>
            <a:xfrm>
              <a:off x="609600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21CDE025-390F-1E05-A3D3-6B1D4B9FB524}"/>
                </a:ext>
              </a:extLst>
            </p:cNvPr>
            <p:cNvSpPr/>
            <p:nvPr/>
          </p:nvSpPr>
          <p:spPr>
            <a:xfrm>
              <a:off x="6217920" y="220675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83345182-39B0-13BD-4CE2-0AB9907AF9E4}"/>
                </a:ext>
              </a:extLst>
            </p:cNvPr>
            <p:cNvSpPr/>
            <p:nvPr/>
          </p:nvSpPr>
          <p:spPr>
            <a:xfrm>
              <a:off x="633984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1A3EAEB1-CFF0-CC3D-6BFA-4DF89F89F172}"/>
                </a:ext>
              </a:extLst>
            </p:cNvPr>
            <p:cNvSpPr/>
            <p:nvPr/>
          </p:nvSpPr>
          <p:spPr>
            <a:xfrm>
              <a:off x="646176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E632BFA0-AE90-B699-90CA-F637A0771189}"/>
                </a:ext>
              </a:extLst>
            </p:cNvPr>
            <p:cNvSpPr/>
            <p:nvPr/>
          </p:nvSpPr>
          <p:spPr>
            <a:xfrm>
              <a:off x="6583680" y="220675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47E26CA6-797E-057D-0700-C3D20B7D2EE2}"/>
                </a:ext>
              </a:extLst>
            </p:cNvPr>
            <p:cNvSpPr/>
            <p:nvPr/>
          </p:nvSpPr>
          <p:spPr>
            <a:xfrm>
              <a:off x="573024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DC6C5A0B-746E-1CD9-3178-C9EAA96B21D8}"/>
                </a:ext>
              </a:extLst>
            </p:cNvPr>
            <p:cNvSpPr/>
            <p:nvPr/>
          </p:nvSpPr>
          <p:spPr>
            <a:xfrm>
              <a:off x="585216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3997E699-6D15-FE02-6AF8-01C5ABA39BAD}"/>
                </a:ext>
              </a:extLst>
            </p:cNvPr>
            <p:cNvSpPr/>
            <p:nvPr/>
          </p:nvSpPr>
          <p:spPr>
            <a:xfrm>
              <a:off x="597408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39F0E02F-83B5-5685-A764-414798EC85D4}"/>
                </a:ext>
              </a:extLst>
            </p:cNvPr>
            <p:cNvSpPr/>
            <p:nvPr/>
          </p:nvSpPr>
          <p:spPr>
            <a:xfrm>
              <a:off x="609600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D50E94AD-2CAC-5C5D-5F0F-BC6B50C85108}"/>
                </a:ext>
              </a:extLst>
            </p:cNvPr>
            <p:cNvSpPr/>
            <p:nvPr/>
          </p:nvSpPr>
          <p:spPr>
            <a:xfrm>
              <a:off x="6217920" y="2328672"/>
              <a:ext cx="121920" cy="12192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661F48AD-0112-A04D-1964-794EBD25B748}"/>
                </a:ext>
              </a:extLst>
            </p:cNvPr>
            <p:cNvSpPr/>
            <p:nvPr/>
          </p:nvSpPr>
          <p:spPr>
            <a:xfrm>
              <a:off x="633984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72DFEE5E-93E5-C042-0B70-E3A6EAAF2B3D}"/>
                </a:ext>
              </a:extLst>
            </p:cNvPr>
            <p:cNvSpPr/>
            <p:nvPr/>
          </p:nvSpPr>
          <p:spPr>
            <a:xfrm>
              <a:off x="646176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D5EA1773-8A9F-DDE8-BC48-B2BDACD73BD1}"/>
                </a:ext>
              </a:extLst>
            </p:cNvPr>
            <p:cNvSpPr/>
            <p:nvPr/>
          </p:nvSpPr>
          <p:spPr>
            <a:xfrm>
              <a:off x="6583680" y="2328672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F409F073-C904-563A-FBC4-8367DDF64050}"/>
                </a:ext>
              </a:extLst>
            </p:cNvPr>
            <p:cNvSpPr/>
            <p:nvPr/>
          </p:nvSpPr>
          <p:spPr>
            <a:xfrm>
              <a:off x="573024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D1F08AA6-0EF4-3FD9-0CD6-F46BF82CD7DB}"/>
                </a:ext>
              </a:extLst>
            </p:cNvPr>
            <p:cNvSpPr/>
            <p:nvPr/>
          </p:nvSpPr>
          <p:spPr>
            <a:xfrm>
              <a:off x="585216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00BA0C6E-1EE1-7761-2FF0-33122BC2EB0B}"/>
                </a:ext>
              </a:extLst>
            </p:cNvPr>
            <p:cNvSpPr/>
            <p:nvPr/>
          </p:nvSpPr>
          <p:spPr>
            <a:xfrm>
              <a:off x="597408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2BB0C934-0196-A783-5F67-0FA4149E6B9A}"/>
                </a:ext>
              </a:extLst>
            </p:cNvPr>
            <p:cNvSpPr/>
            <p:nvPr/>
          </p:nvSpPr>
          <p:spPr>
            <a:xfrm>
              <a:off x="609600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5D78BA4F-FA14-0802-1866-F3AAFE8C8C04}"/>
                </a:ext>
              </a:extLst>
            </p:cNvPr>
            <p:cNvSpPr/>
            <p:nvPr/>
          </p:nvSpPr>
          <p:spPr>
            <a:xfrm>
              <a:off x="621792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6B576FA2-3A11-71D2-B03E-6727CC2EAEFD}"/>
                </a:ext>
              </a:extLst>
            </p:cNvPr>
            <p:cNvSpPr/>
            <p:nvPr/>
          </p:nvSpPr>
          <p:spPr>
            <a:xfrm>
              <a:off x="633984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7859B939-046C-EF1E-6114-51927A736CD4}"/>
                </a:ext>
              </a:extLst>
            </p:cNvPr>
            <p:cNvSpPr/>
            <p:nvPr/>
          </p:nvSpPr>
          <p:spPr>
            <a:xfrm>
              <a:off x="646176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3BFA5000-28D6-3D2A-7245-8F0C12DD2DD2}"/>
                </a:ext>
              </a:extLst>
            </p:cNvPr>
            <p:cNvSpPr/>
            <p:nvPr/>
          </p:nvSpPr>
          <p:spPr>
            <a:xfrm>
              <a:off x="6583680" y="244983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173E8795-9B8A-FFBE-B52D-8511A30AEBB4}"/>
                </a:ext>
              </a:extLst>
            </p:cNvPr>
            <p:cNvSpPr/>
            <p:nvPr/>
          </p:nvSpPr>
          <p:spPr>
            <a:xfrm>
              <a:off x="573024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DE76A0BA-C71C-C3FC-C877-0C7C5426FD55}"/>
                </a:ext>
              </a:extLst>
            </p:cNvPr>
            <p:cNvSpPr/>
            <p:nvPr/>
          </p:nvSpPr>
          <p:spPr>
            <a:xfrm>
              <a:off x="585216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5C5AA51E-E75B-25E2-E363-EB6354CC2C52}"/>
                </a:ext>
              </a:extLst>
            </p:cNvPr>
            <p:cNvSpPr/>
            <p:nvPr/>
          </p:nvSpPr>
          <p:spPr>
            <a:xfrm>
              <a:off x="597408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4AFC1E15-DFDF-B74C-0410-898730328DBD}"/>
                </a:ext>
              </a:extLst>
            </p:cNvPr>
            <p:cNvSpPr/>
            <p:nvPr/>
          </p:nvSpPr>
          <p:spPr>
            <a:xfrm>
              <a:off x="609600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37FF34EC-D3E5-2783-782F-671967DD4BB7}"/>
                </a:ext>
              </a:extLst>
            </p:cNvPr>
            <p:cNvSpPr/>
            <p:nvPr/>
          </p:nvSpPr>
          <p:spPr>
            <a:xfrm>
              <a:off x="621792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B071B260-7192-258E-09A1-B7DB27B89A8E}"/>
                </a:ext>
              </a:extLst>
            </p:cNvPr>
            <p:cNvSpPr/>
            <p:nvPr/>
          </p:nvSpPr>
          <p:spPr>
            <a:xfrm>
              <a:off x="633984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3EFF94BA-5F1B-A1F4-B59D-576B1F3F8973}"/>
                </a:ext>
              </a:extLst>
            </p:cNvPr>
            <p:cNvSpPr/>
            <p:nvPr/>
          </p:nvSpPr>
          <p:spPr>
            <a:xfrm>
              <a:off x="646176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D4CB8786-A9AE-CDB4-99B2-ED569BECAD00}"/>
                </a:ext>
              </a:extLst>
            </p:cNvPr>
            <p:cNvSpPr/>
            <p:nvPr/>
          </p:nvSpPr>
          <p:spPr>
            <a:xfrm>
              <a:off x="6583680" y="2571750"/>
              <a:ext cx="121920" cy="121920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52" name="Rechteck 251">
            <a:extLst>
              <a:ext uri="{FF2B5EF4-FFF2-40B4-BE49-F238E27FC236}">
                <a16:creationId xmlns:a16="http://schemas.microsoft.com/office/drawing/2014/main" id="{9D31BE9E-04BB-3EDD-DC79-88575BB319B8}"/>
              </a:ext>
            </a:extLst>
          </p:cNvPr>
          <p:cNvSpPr/>
          <p:nvPr/>
        </p:nvSpPr>
        <p:spPr>
          <a:xfrm>
            <a:off x="5354778" y="136805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hteck 252">
            <a:extLst>
              <a:ext uri="{FF2B5EF4-FFF2-40B4-BE49-F238E27FC236}">
                <a16:creationId xmlns:a16="http://schemas.microsoft.com/office/drawing/2014/main" id="{DB344EC5-82BD-0BE2-9475-8C783550F1D4}"/>
              </a:ext>
            </a:extLst>
          </p:cNvPr>
          <p:cNvSpPr/>
          <p:nvPr/>
        </p:nvSpPr>
        <p:spPr>
          <a:xfrm>
            <a:off x="5354778" y="239907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hteck 253">
            <a:extLst>
              <a:ext uri="{FF2B5EF4-FFF2-40B4-BE49-F238E27FC236}">
                <a16:creationId xmlns:a16="http://schemas.microsoft.com/office/drawing/2014/main" id="{D41FCD7C-7C6C-229A-F475-F021B80D5A9E}"/>
              </a:ext>
            </a:extLst>
          </p:cNvPr>
          <p:cNvSpPr/>
          <p:nvPr/>
        </p:nvSpPr>
        <p:spPr>
          <a:xfrm>
            <a:off x="5357299" y="343392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hteck 259">
            <a:extLst>
              <a:ext uri="{FF2B5EF4-FFF2-40B4-BE49-F238E27FC236}">
                <a16:creationId xmlns:a16="http://schemas.microsoft.com/office/drawing/2014/main" id="{A6CEB772-6FA7-E9CF-D520-9586866FEADA}"/>
              </a:ext>
            </a:extLst>
          </p:cNvPr>
          <p:cNvSpPr/>
          <p:nvPr/>
        </p:nvSpPr>
        <p:spPr>
          <a:xfrm>
            <a:off x="5354778" y="148997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hteck 260">
            <a:extLst>
              <a:ext uri="{FF2B5EF4-FFF2-40B4-BE49-F238E27FC236}">
                <a16:creationId xmlns:a16="http://schemas.microsoft.com/office/drawing/2014/main" id="{766D10F5-0BF6-2E96-91A8-7A02E5D29444}"/>
              </a:ext>
            </a:extLst>
          </p:cNvPr>
          <p:cNvSpPr/>
          <p:nvPr/>
        </p:nvSpPr>
        <p:spPr>
          <a:xfrm>
            <a:off x="5354778" y="252099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hteck 261">
            <a:extLst>
              <a:ext uri="{FF2B5EF4-FFF2-40B4-BE49-F238E27FC236}">
                <a16:creationId xmlns:a16="http://schemas.microsoft.com/office/drawing/2014/main" id="{DA2E234C-E7F3-4838-65DF-8F46D0415A50}"/>
              </a:ext>
            </a:extLst>
          </p:cNvPr>
          <p:cNvSpPr/>
          <p:nvPr/>
        </p:nvSpPr>
        <p:spPr>
          <a:xfrm>
            <a:off x="5357299" y="355584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hteck 267">
            <a:extLst>
              <a:ext uri="{FF2B5EF4-FFF2-40B4-BE49-F238E27FC236}">
                <a16:creationId xmlns:a16="http://schemas.microsoft.com/office/drawing/2014/main" id="{E6A91D75-7086-78A8-2372-908E3BED26D3}"/>
              </a:ext>
            </a:extLst>
          </p:cNvPr>
          <p:cNvSpPr/>
          <p:nvPr/>
        </p:nvSpPr>
        <p:spPr>
          <a:xfrm>
            <a:off x="5354778" y="161189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8D4659F4-26ED-951E-F7F9-FAB705EBC21B}"/>
              </a:ext>
            </a:extLst>
          </p:cNvPr>
          <p:cNvSpPr/>
          <p:nvPr/>
        </p:nvSpPr>
        <p:spPr>
          <a:xfrm>
            <a:off x="5354778" y="264291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hteck 269">
            <a:extLst>
              <a:ext uri="{FF2B5EF4-FFF2-40B4-BE49-F238E27FC236}">
                <a16:creationId xmlns:a16="http://schemas.microsoft.com/office/drawing/2014/main" id="{CEBF35C1-6701-039E-01EA-885CF31A1DF9}"/>
              </a:ext>
            </a:extLst>
          </p:cNvPr>
          <p:cNvSpPr/>
          <p:nvPr/>
        </p:nvSpPr>
        <p:spPr>
          <a:xfrm>
            <a:off x="5357299" y="367776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hteck 275">
            <a:extLst>
              <a:ext uri="{FF2B5EF4-FFF2-40B4-BE49-F238E27FC236}">
                <a16:creationId xmlns:a16="http://schemas.microsoft.com/office/drawing/2014/main" id="{69763940-1148-5C0B-A1B8-A44AAF21A3D7}"/>
              </a:ext>
            </a:extLst>
          </p:cNvPr>
          <p:cNvSpPr/>
          <p:nvPr/>
        </p:nvSpPr>
        <p:spPr>
          <a:xfrm>
            <a:off x="5354778" y="173381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hteck 276">
            <a:extLst>
              <a:ext uri="{FF2B5EF4-FFF2-40B4-BE49-F238E27FC236}">
                <a16:creationId xmlns:a16="http://schemas.microsoft.com/office/drawing/2014/main" id="{1F08BC0A-38FA-45CC-F5EB-4A04DD87688F}"/>
              </a:ext>
            </a:extLst>
          </p:cNvPr>
          <p:cNvSpPr/>
          <p:nvPr/>
        </p:nvSpPr>
        <p:spPr>
          <a:xfrm>
            <a:off x="5354778" y="276483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hteck 277">
            <a:extLst>
              <a:ext uri="{FF2B5EF4-FFF2-40B4-BE49-F238E27FC236}">
                <a16:creationId xmlns:a16="http://schemas.microsoft.com/office/drawing/2014/main" id="{E892B6BC-5BEE-86DE-A281-9D6742597F9B}"/>
              </a:ext>
            </a:extLst>
          </p:cNvPr>
          <p:cNvSpPr/>
          <p:nvPr/>
        </p:nvSpPr>
        <p:spPr>
          <a:xfrm>
            <a:off x="5357299" y="3799685"/>
            <a:ext cx="121920" cy="121920"/>
          </a:xfrm>
          <a:prstGeom prst="rect">
            <a:avLst/>
          </a:prstGeom>
          <a:solidFill>
            <a:srgbClr val="FFFF0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4" name="Rechteck 283">
            <a:extLst>
              <a:ext uri="{FF2B5EF4-FFF2-40B4-BE49-F238E27FC236}">
                <a16:creationId xmlns:a16="http://schemas.microsoft.com/office/drawing/2014/main" id="{AB3E9706-B1FC-2BBE-99DF-00C50D3F3A6C}"/>
              </a:ext>
            </a:extLst>
          </p:cNvPr>
          <p:cNvSpPr/>
          <p:nvPr/>
        </p:nvSpPr>
        <p:spPr>
          <a:xfrm>
            <a:off x="5354778" y="185573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5" name="Rechteck 284">
            <a:extLst>
              <a:ext uri="{FF2B5EF4-FFF2-40B4-BE49-F238E27FC236}">
                <a16:creationId xmlns:a16="http://schemas.microsoft.com/office/drawing/2014/main" id="{F0A0B76F-36D4-8F64-2757-830A870567F0}"/>
              </a:ext>
            </a:extLst>
          </p:cNvPr>
          <p:cNvSpPr/>
          <p:nvPr/>
        </p:nvSpPr>
        <p:spPr>
          <a:xfrm>
            <a:off x="5354778" y="288675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07E9E03-E06F-C1A4-A2E6-6F3F865A1E80}"/>
              </a:ext>
            </a:extLst>
          </p:cNvPr>
          <p:cNvSpPr/>
          <p:nvPr/>
        </p:nvSpPr>
        <p:spPr>
          <a:xfrm>
            <a:off x="5357299" y="392160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2" name="Rechteck 291">
            <a:extLst>
              <a:ext uri="{FF2B5EF4-FFF2-40B4-BE49-F238E27FC236}">
                <a16:creationId xmlns:a16="http://schemas.microsoft.com/office/drawing/2014/main" id="{B86B581B-808D-6BE2-19F4-428CBD7B5387}"/>
              </a:ext>
            </a:extLst>
          </p:cNvPr>
          <p:cNvSpPr/>
          <p:nvPr/>
        </p:nvSpPr>
        <p:spPr>
          <a:xfrm>
            <a:off x="5354778" y="1977658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3" name="Rechteck 292">
            <a:extLst>
              <a:ext uri="{FF2B5EF4-FFF2-40B4-BE49-F238E27FC236}">
                <a16:creationId xmlns:a16="http://schemas.microsoft.com/office/drawing/2014/main" id="{F5E179CC-B0CE-3EAF-5650-5D066457F2B5}"/>
              </a:ext>
            </a:extLst>
          </p:cNvPr>
          <p:cNvSpPr/>
          <p:nvPr/>
        </p:nvSpPr>
        <p:spPr>
          <a:xfrm>
            <a:off x="5354778" y="3008672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4" name="Rechteck 293">
            <a:extLst>
              <a:ext uri="{FF2B5EF4-FFF2-40B4-BE49-F238E27FC236}">
                <a16:creationId xmlns:a16="http://schemas.microsoft.com/office/drawing/2014/main" id="{6593D0FE-9626-D756-F424-0CD39CA0F0F7}"/>
              </a:ext>
            </a:extLst>
          </p:cNvPr>
          <p:cNvSpPr/>
          <p:nvPr/>
        </p:nvSpPr>
        <p:spPr>
          <a:xfrm>
            <a:off x="5357299" y="4043525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2A0C5D67-D074-1C6B-862B-056D67E7E53E}"/>
              </a:ext>
            </a:extLst>
          </p:cNvPr>
          <p:cNvSpPr/>
          <p:nvPr/>
        </p:nvSpPr>
        <p:spPr>
          <a:xfrm>
            <a:off x="5354778" y="2098816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1" name="Rechteck 300">
            <a:extLst>
              <a:ext uri="{FF2B5EF4-FFF2-40B4-BE49-F238E27FC236}">
                <a16:creationId xmlns:a16="http://schemas.microsoft.com/office/drawing/2014/main" id="{860579EB-6790-ECC0-5E59-EE190AE5DBC1}"/>
              </a:ext>
            </a:extLst>
          </p:cNvPr>
          <p:cNvSpPr/>
          <p:nvPr/>
        </p:nvSpPr>
        <p:spPr>
          <a:xfrm>
            <a:off x="5354778" y="3129830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A6C34D6B-7EFC-8D85-7F35-7D734C4ED2B0}"/>
              </a:ext>
            </a:extLst>
          </p:cNvPr>
          <p:cNvSpPr/>
          <p:nvPr/>
        </p:nvSpPr>
        <p:spPr>
          <a:xfrm>
            <a:off x="5357299" y="4164683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50C72861-72B1-E379-8180-D3302CFB4CE0}"/>
              </a:ext>
            </a:extLst>
          </p:cNvPr>
          <p:cNvSpPr/>
          <p:nvPr/>
        </p:nvSpPr>
        <p:spPr>
          <a:xfrm>
            <a:off x="5354778" y="2220736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29AAB6F6-2617-5897-D04C-2FD660813E76}"/>
              </a:ext>
            </a:extLst>
          </p:cNvPr>
          <p:cNvSpPr/>
          <p:nvPr/>
        </p:nvSpPr>
        <p:spPr>
          <a:xfrm>
            <a:off x="5354778" y="3251750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7F92C6FA-AD07-B6C5-A41C-67C3F08109B4}"/>
              </a:ext>
            </a:extLst>
          </p:cNvPr>
          <p:cNvSpPr/>
          <p:nvPr/>
        </p:nvSpPr>
        <p:spPr>
          <a:xfrm>
            <a:off x="5357299" y="4286603"/>
            <a:ext cx="121920" cy="121920"/>
          </a:xfrm>
          <a:prstGeom prst="rect">
            <a:avLst/>
          </a:prstGeom>
          <a:solidFill>
            <a:srgbClr val="002060"/>
          </a:solidFill>
          <a:ln w="31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7256EC0-5602-268A-7F3B-71877C672400}"/>
              </a:ext>
            </a:extLst>
          </p:cNvPr>
          <p:cNvSpPr/>
          <p:nvPr/>
        </p:nvSpPr>
        <p:spPr>
          <a:xfrm>
            <a:off x="4878618" y="128016"/>
            <a:ext cx="165100" cy="109118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1" name="Rechteck 320">
            <a:extLst>
              <a:ext uri="{FF2B5EF4-FFF2-40B4-BE49-F238E27FC236}">
                <a16:creationId xmlns:a16="http://schemas.microsoft.com/office/drawing/2014/main" id="{1EB7DFF3-1A3C-FFC9-2F9C-D193FE1EEC54}"/>
              </a:ext>
            </a:extLst>
          </p:cNvPr>
          <p:cNvSpPr/>
          <p:nvPr/>
        </p:nvSpPr>
        <p:spPr>
          <a:xfrm>
            <a:off x="5031282" y="127642"/>
            <a:ext cx="134357" cy="1091184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23" name="Rechteck 322">
            <a:extLst>
              <a:ext uri="{FF2B5EF4-FFF2-40B4-BE49-F238E27FC236}">
                <a16:creationId xmlns:a16="http://schemas.microsoft.com/office/drawing/2014/main" id="{25F46FA9-4A1B-EFE4-29DB-6CC47D79F650}"/>
              </a:ext>
            </a:extLst>
          </p:cNvPr>
          <p:cNvSpPr/>
          <p:nvPr/>
        </p:nvSpPr>
        <p:spPr>
          <a:xfrm>
            <a:off x="5153201" y="126757"/>
            <a:ext cx="134357" cy="1091184"/>
          </a:xfrm>
          <a:prstGeom prst="rect">
            <a:avLst/>
          </a:prstGeom>
          <a:noFill/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25" name="Gerade Verbindung mit Pfeil 324">
            <a:extLst>
              <a:ext uri="{FF2B5EF4-FFF2-40B4-BE49-F238E27FC236}">
                <a16:creationId xmlns:a16="http://schemas.microsoft.com/office/drawing/2014/main" id="{984C2501-E987-3E36-E883-22CC42D8E748}"/>
              </a:ext>
            </a:extLst>
          </p:cNvPr>
          <p:cNvCxnSpPr>
            <a:cxnSpLocks/>
            <a:stCxn id="316" idx="2"/>
            <a:endCxn id="284" idx="1"/>
          </p:cNvCxnSpPr>
          <p:nvPr/>
        </p:nvCxnSpPr>
        <p:spPr>
          <a:xfrm>
            <a:off x="4961168" y="1219200"/>
            <a:ext cx="393610" cy="6974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Gerade Verbindung mit Pfeil 326">
            <a:extLst>
              <a:ext uri="{FF2B5EF4-FFF2-40B4-BE49-F238E27FC236}">
                <a16:creationId xmlns:a16="http://schemas.microsoft.com/office/drawing/2014/main" id="{8597443C-1455-A4E5-5916-BD60C0CEEC15}"/>
              </a:ext>
            </a:extLst>
          </p:cNvPr>
          <p:cNvCxnSpPr>
            <a:cxnSpLocks/>
            <a:stCxn id="321" idx="2"/>
            <a:endCxn id="277" idx="0"/>
          </p:cNvCxnSpPr>
          <p:nvPr/>
        </p:nvCxnSpPr>
        <p:spPr>
          <a:xfrm>
            <a:off x="5098461" y="1218826"/>
            <a:ext cx="317277" cy="1546006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Gerade Verbindung mit Pfeil 330">
            <a:extLst>
              <a:ext uri="{FF2B5EF4-FFF2-40B4-BE49-F238E27FC236}">
                <a16:creationId xmlns:a16="http://schemas.microsoft.com/office/drawing/2014/main" id="{047CC215-4856-36C9-134D-64179CEF1A9E}"/>
              </a:ext>
            </a:extLst>
          </p:cNvPr>
          <p:cNvCxnSpPr>
            <a:cxnSpLocks/>
            <a:stCxn id="323" idx="2"/>
            <a:endCxn id="278" idx="0"/>
          </p:cNvCxnSpPr>
          <p:nvPr/>
        </p:nvCxnSpPr>
        <p:spPr>
          <a:xfrm>
            <a:off x="5220380" y="1217941"/>
            <a:ext cx="197879" cy="2581744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Textfeld 333">
            <a:extLst>
              <a:ext uri="{FF2B5EF4-FFF2-40B4-BE49-F238E27FC236}">
                <a16:creationId xmlns:a16="http://schemas.microsoft.com/office/drawing/2014/main" id="{09BD9706-F42E-2FB8-4106-A68B140A6A2B}"/>
              </a:ext>
            </a:extLst>
          </p:cNvPr>
          <p:cNvSpPr txBox="1"/>
          <p:nvPr/>
        </p:nvSpPr>
        <p:spPr>
          <a:xfrm>
            <a:off x="5402606" y="4389083"/>
            <a:ext cx="331276" cy="66262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900" dirty="0"/>
              <a:t>.</a:t>
            </a:r>
          </a:p>
          <a:p>
            <a:r>
              <a:rPr lang="en-GB" sz="900" dirty="0"/>
              <a:t>.</a:t>
            </a:r>
          </a:p>
          <a:p>
            <a:r>
              <a:rPr lang="en-GB" sz="900" dirty="0"/>
              <a:t>.</a:t>
            </a:r>
          </a:p>
        </p:txBody>
      </p:sp>
      <p:sp>
        <p:nvSpPr>
          <p:cNvPr id="362" name="Ellipse 361">
            <a:extLst>
              <a:ext uri="{FF2B5EF4-FFF2-40B4-BE49-F238E27FC236}">
                <a16:creationId xmlns:a16="http://schemas.microsoft.com/office/drawing/2014/main" id="{D4CFB4A4-F563-AC56-4457-49BB276AC42B}"/>
              </a:ext>
            </a:extLst>
          </p:cNvPr>
          <p:cNvSpPr/>
          <p:nvPr/>
        </p:nvSpPr>
        <p:spPr>
          <a:xfrm>
            <a:off x="6408679" y="1611898"/>
            <a:ext cx="334194" cy="33419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3" name="Ellipse 362">
            <a:extLst>
              <a:ext uri="{FF2B5EF4-FFF2-40B4-BE49-F238E27FC236}">
                <a16:creationId xmlns:a16="http://schemas.microsoft.com/office/drawing/2014/main" id="{721C37E3-0536-F802-DC85-E75A966F5791}"/>
              </a:ext>
            </a:extLst>
          </p:cNvPr>
          <p:cNvSpPr/>
          <p:nvPr/>
        </p:nvSpPr>
        <p:spPr>
          <a:xfrm>
            <a:off x="6408679" y="2247053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4" name="Ellipse 363">
            <a:extLst>
              <a:ext uri="{FF2B5EF4-FFF2-40B4-BE49-F238E27FC236}">
                <a16:creationId xmlns:a16="http://schemas.microsoft.com/office/drawing/2014/main" id="{5B7C00E1-58E2-C08E-4F14-2DBBA61D5444}"/>
              </a:ext>
            </a:extLst>
          </p:cNvPr>
          <p:cNvSpPr/>
          <p:nvPr/>
        </p:nvSpPr>
        <p:spPr>
          <a:xfrm>
            <a:off x="6408679" y="2825792"/>
            <a:ext cx="334194" cy="33419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5" name="Ellipse 364">
            <a:extLst>
              <a:ext uri="{FF2B5EF4-FFF2-40B4-BE49-F238E27FC236}">
                <a16:creationId xmlns:a16="http://schemas.microsoft.com/office/drawing/2014/main" id="{95777CF1-CF34-A973-DF9C-FFEFFD2423F7}"/>
              </a:ext>
            </a:extLst>
          </p:cNvPr>
          <p:cNvSpPr/>
          <p:nvPr/>
        </p:nvSpPr>
        <p:spPr>
          <a:xfrm>
            <a:off x="6406209" y="4213210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6" name="Textfeld 365">
            <a:extLst>
              <a:ext uri="{FF2B5EF4-FFF2-40B4-BE49-F238E27FC236}">
                <a16:creationId xmlns:a16="http://schemas.microsoft.com/office/drawing/2014/main" id="{BBEDD645-7A66-C7E6-C11E-1A68AC9B48AF}"/>
              </a:ext>
            </a:extLst>
          </p:cNvPr>
          <p:cNvSpPr txBox="1"/>
          <p:nvPr/>
        </p:nvSpPr>
        <p:spPr>
          <a:xfrm>
            <a:off x="6543790" y="3281525"/>
            <a:ext cx="331276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C25B7908-DF01-8820-1041-05A9CDAC368A}"/>
              </a:ext>
            </a:extLst>
          </p:cNvPr>
          <p:cNvSpPr/>
          <p:nvPr/>
        </p:nvSpPr>
        <p:spPr>
          <a:xfrm>
            <a:off x="6227064" y="1429018"/>
            <a:ext cx="705173" cy="326490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Textfeld 368">
            <a:extLst>
              <a:ext uri="{FF2B5EF4-FFF2-40B4-BE49-F238E27FC236}">
                <a16:creationId xmlns:a16="http://schemas.microsoft.com/office/drawing/2014/main" id="{48B594E7-9604-418D-F005-27424C0A4FB8}"/>
              </a:ext>
            </a:extLst>
          </p:cNvPr>
          <p:cNvSpPr txBox="1"/>
          <p:nvPr/>
        </p:nvSpPr>
        <p:spPr>
          <a:xfrm>
            <a:off x="6561932" y="4815459"/>
            <a:ext cx="1297351" cy="3111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hidden_dim</a:t>
            </a:r>
            <a:endParaRPr lang="en-GB" sz="1600" dirty="0"/>
          </a:p>
        </p:txBody>
      </p:sp>
      <p:cxnSp>
        <p:nvCxnSpPr>
          <p:cNvPr id="371" name="Gerade Verbindung mit Pfeil 370">
            <a:extLst>
              <a:ext uri="{FF2B5EF4-FFF2-40B4-BE49-F238E27FC236}">
                <a16:creationId xmlns:a16="http://schemas.microsoft.com/office/drawing/2014/main" id="{7972AF63-991C-C097-B638-A5054FE37DD9}"/>
              </a:ext>
            </a:extLst>
          </p:cNvPr>
          <p:cNvCxnSpPr/>
          <p:nvPr/>
        </p:nvCxnSpPr>
        <p:spPr>
          <a:xfrm>
            <a:off x="5544120" y="1429018"/>
            <a:ext cx="985455" cy="304800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Gerade Verbindung mit Pfeil 375">
            <a:extLst>
              <a:ext uri="{FF2B5EF4-FFF2-40B4-BE49-F238E27FC236}">
                <a16:creationId xmlns:a16="http://schemas.microsoft.com/office/drawing/2014/main" id="{009FB8A0-E753-EF47-7F40-2028BD68B256}"/>
              </a:ext>
            </a:extLst>
          </p:cNvPr>
          <p:cNvCxnSpPr>
            <a:cxnSpLocks/>
          </p:cNvCxnSpPr>
          <p:nvPr/>
        </p:nvCxnSpPr>
        <p:spPr>
          <a:xfrm flipV="1">
            <a:off x="5534751" y="1877568"/>
            <a:ext cx="994824" cy="433335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Gerade Verbindung mit Pfeil 378">
            <a:extLst>
              <a:ext uri="{FF2B5EF4-FFF2-40B4-BE49-F238E27FC236}">
                <a16:creationId xmlns:a16="http://schemas.microsoft.com/office/drawing/2014/main" id="{50715BC5-22F7-2499-80F7-5FC59C11E8BA}"/>
              </a:ext>
            </a:extLst>
          </p:cNvPr>
          <p:cNvCxnSpPr>
            <a:cxnSpLocks/>
          </p:cNvCxnSpPr>
          <p:nvPr/>
        </p:nvCxnSpPr>
        <p:spPr>
          <a:xfrm flipV="1">
            <a:off x="5510802" y="1963040"/>
            <a:ext cx="1018773" cy="496831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Gerade Verbindung mit Pfeil 384">
            <a:extLst>
              <a:ext uri="{FF2B5EF4-FFF2-40B4-BE49-F238E27FC236}">
                <a16:creationId xmlns:a16="http://schemas.microsoft.com/office/drawing/2014/main" id="{9B398AA8-F7AD-B4F7-03AC-4A7A9C5AB40F}"/>
              </a:ext>
            </a:extLst>
          </p:cNvPr>
          <p:cNvCxnSpPr>
            <a:cxnSpLocks/>
          </p:cNvCxnSpPr>
          <p:nvPr/>
        </p:nvCxnSpPr>
        <p:spPr>
          <a:xfrm flipV="1">
            <a:off x="5515649" y="2047946"/>
            <a:ext cx="987967" cy="1459259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feld 390">
            <a:extLst>
              <a:ext uri="{FF2B5EF4-FFF2-40B4-BE49-F238E27FC236}">
                <a16:creationId xmlns:a16="http://schemas.microsoft.com/office/drawing/2014/main" id="{96B60271-3D11-AEB8-07C3-F9E845C75FAC}"/>
              </a:ext>
            </a:extLst>
          </p:cNvPr>
          <p:cNvSpPr txBox="1"/>
          <p:nvPr/>
        </p:nvSpPr>
        <p:spPr>
          <a:xfrm>
            <a:off x="5552657" y="1580732"/>
            <a:ext cx="331276" cy="58428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sp>
        <p:nvSpPr>
          <p:cNvPr id="392" name="Textfeld 391">
            <a:extLst>
              <a:ext uri="{FF2B5EF4-FFF2-40B4-BE49-F238E27FC236}">
                <a16:creationId xmlns:a16="http://schemas.microsoft.com/office/drawing/2014/main" id="{D328F3A9-A95E-3E69-02A9-8B870B6DED9E}"/>
              </a:ext>
            </a:extLst>
          </p:cNvPr>
          <p:cNvSpPr txBox="1"/>
          <p:nvPr/>
        </p:nvSpPr>
        <p:spPr>
          <a:xfrm>
            <a:off x="5506525" y="2624794"/>
            <a:ext cx="331276" cy="58428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sp>
        <p:nvSpPr>
          <p:cNvPr id="393" name="Textfeld 392">
            <a:extLst>
              <a:ext uri="{FF2B5EF4-FFF2-40B4-BE49-F238E27FC236}">
                <a16:creationId xmlns:a16="http://schemas.microsoft.com/office/drawing/2014/main" id="{F9C6DE09-344F-593F-32C1-D168D5A61CF8}"/>
              </a:ext>
            </a:extLst>
          </p:cNvPr>
          <p:cNvSpPr txBox="1"/>
          <p:nvPr/>
        </p:nvSpPr>
        <p:spPr>
          <a:xfrm>
            <a:off x="5534621" y="3622728"/>
            <a:ext cx="331276" cy="58428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cxnSp>
        <p:nvCxnSpPr>
          <p:cNvPr id="394" name="Gerade Verbindung mit Pfeil 393">
            <a:extLst>
              <a:ext uri="{FF2B5EF4-FFF2-40B4-BE49-F238E27FC236}">
                <a16:creationId xmlns:a16="http://schemas.microsoft.com/office/drawing/2014/main" id="{0BE67403-AF5E-57EA-0CF0-981B8DDA5FC2}"/>
              </a:ext>
            </a:extLst>
          </p:cNvPr>
          <p:cNvCxnSpPr>
            <a:cxnSpLocks/>
          </p:cNvCxnSpPr>
          <p:nvPr/>
        </p:nvCxnSpPr>
        <p:spPr>
          <a:xfrm flipV="1">
            <a:off x="5531398" y="2038618"/>
            <a:ext cx="913147" cy="1278362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Gerade Verbindung mit Pfeil 396">
            <a:extLst>
              <a:ext uri="{FF2B5EF4-FFF2-40B4-BE49-F238E27FC236}">
                <a16:creationId xmlns:a16="http://schemas.microsoft.com/office/drawing/2014/main" id="{B55DC21B-843C-BF6D-23F0-FB34B79E070D}"/>
              </a:ext>
            </a:extLst>
          </p:cNvPr>
          <p:cNvCxnSpPr>
            <a:cxnSpLocks/>
          </p:cNvCxnSpPr>
          <p:nvPr/>
        </p:nvCxnSpPr>
        <p:spPr>
          <a:xfrm flipV="1">
            <a:off x="5538106" y="2047946"/>
            <a:ext cx="1005684" cy="2282852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Gleichschenkliges Dreieck 399">
            <a:extLst>
              <a:ext uri="{FF2B5EF4-FFF2-40B4-BE49-F238E27FC236}">
                <a16:creationId xmlns:a16="http://schemas.microsoft.com/office/drawing/2014/main" id="{EC72F12F-09B9-5074-CAD8-A47D0B65373C}"/>
              </a:ext>
            </a:extLst>
          </p:cNvPr>
          <p:cNvSpPr/>
          <p:nvPr/>
        </p:nvSpPr>
        <p:spPr>
          <a:xfrm rot="5400000">
            <a:off x="6840211" y="2918995"/>
            <a:ext cx="856526" cy="182118"/>
          </a:xfrm>
          <a:prstGeom prst="triangl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1" name="Textfeld 400">
            <a:extLst>
              <a:ext uri="{FF2B5EF4-FFF2-40B4-BE49-F238E27FC236}">
                <a16:creationId xmlns:a16="http://schemas.microsoft.com/office/drawing/2014/main" id="{D1C7B7A7-707A-F75F-3D63-5B89B73780A9}"/>
              </a:ext>
            </a:extLst>
          </p:cNvPr>
          <p:cNvSpPr txBox="1"/>
          <p:nvPr/>
        </p:nvSpPr>
        <p:spPr>
          <a:xfrm rot="16200000">
            <a:off x="6893502" y="2546983"/>
            <a:ext cx="735678" cy="65820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ReLU</a:t>
            </a:r>
            <a:endParaRPr lang="en-GB" sz="1600" dirty="0"/>
          </a:p>
        </p:txBody>
      </p:sp>
      <p:sp>
        <p:nvSpPr>
          <p:cNvPr id="402" name="Pfeil: nach rechts gekrümmt 401">
            <a:extLst>
              <a:ext uri="{FF2B5EF4-FFF2-40B4-BE49-F238E27FC236}">
                <a16:creationId xmlns:a16="http://schemas.microsoft.com/office/drawing/2014/main" id="{0FCE7564-0B23-A3E7-A20A-8F3C04E123EA}"/>
              </a:ext>
            </a:extLst>
          </p:cNvPr>
          <p:cNvSpPr/>
          <p:nvPr/>
        </p:nvSpPr>
        <p:spPr>
          <a:xfrm rot="21034133">
            <a:off x="4665003" y="1329744"/>
            <a:ext cx="459920" cy="2101329"/>
          </a:xfrm>
          <a:prstGeom prst="curv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03" name="Textfeld 402">
            <a:extLst>
              <a:ext uri="{FF2B5EF4-FFF2-40B4-BE49-F238E27FC236}">
                <a16:creationId xmlns:a16="http://schemas.microsoft.com/office/drawing/2014/main" id="{A33CF83C-4F8D-4871-2AFF-58DA30E5CE47}"/>
              </a:ext>
            </a:extLst>
          </p:cNvPr>
          <p:cNvSpPr txBox="1"/>
          <p:nvPr/>
        </p:nvSpPr>
        <p:spPr>
          <a:xfrm rot="16200000">
            <a:off x="4536402" y="1945100"/>
            <a:ext cx="735678" cy="40346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Flatten</a:t>
            </a:r>
          </a:p>
        </p:txBody>
      </p:sp>
      <p:sp>
        <p:nvSpPr>
          <p:cNvPr id="404" name="Textfeld 403">
            <a:extLst>
              <a:ext uri="{FF2B5EF4-FFF2-40B4-BE49-F238E27FC236}">
                <a16:creationId xmlns:a16="http://schemas.microsoft.com/office/drawing/2014/main" id="{A51BA2FA-8EC8-C681-772F-8EF7E9863E0F}"/>
              </a:ext>
            </a:extLst>
          </p:cNvPr>
          <p:cNvSpPr txBox="1"/>
          <p:nvPr/>
        </p:nvSpPr>
        <p:spPr>
          <a:xfrm rot="16200000">
            <a:off x="5640681" y="3831245"/>
            <a:ext cx="735940" cy="4668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Linear </a:t>
            </a:r>
          </a:p>
        </p:txBody>
      </p:sp>
      <p:grpSp>
        <p:nvGrpSpPr>
          <p:cNvPr id="409" name="Gruppieren 408">
            <a:extLst>
              <a:ext uri="{FF2B5EF4-FFF2-40B4-BE49-F238E27FC236}">
                <a16:creationId xmlns:a16="http://schemas.microsoft.com/office/drawing/2014/main" id="{C72CA5DB-1034-5E99-66B3-DE4684506021}"/>
              </a:ext>
            </a:extLst>
          </p:cNvPr>
          <p:cNvGrpSpPr/>
          <p:nvPr/>
        </p:nvGrpSpPr>
        <p:grpSpPr>
          <a:xfrm>
            <a:off x="6281385" y="231105"/>
            <a:ext cx="953023" cy="881744"/>
            <a:chOff x="6491526" y="362405"/>
            <a:chExt cx="953023" cy="881744"/>
          </a:xfrm>
        </p:grpSpPr>
        <p:sp>
          <p:nvSpPr>
            <p:cNvPr id="405" name="Ellipse 404">
              <a:extLst>
                <a:ext uri="{FF2B5EF4-FFF2-40B4-BE49-F238E27FC236}">
                  <a16:creationId xmlns:a16="http://schemas.microsoft.com/office/drawing/2014/main" id="{CAD786BF-BAC2-1D58-39B8-3DCBA9CE66AE}"/>
                </a:ext>
              </a:extLst>
            </p:cNvPr>
            <p:cNvSpPr/>
            <p:nvPr/>
          </p:nvSpPr>
          <p:spPr>
            <a:xfrm>
              <a:off x="6528447" y="755295"/>
              <a:ext cx="334194" cy="33419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-</a:t>
              </a:r>
            </a:p>
          </p:txBody>
        </p:sp>
        <p:sp>
          <p:nvSpPr>
            <p:cNvPr id="406" name="Ellipse 405">
              <a:extLst>
                <a:ext uri="{FF2B5EF4-FFF2-40B4-BE49-F238E27FC236}">
                  <a16:creationId xmlns:a16="http://schemas.microsoft.com/office/drawing/2014/main" id="{7218BE20-7E4F-ABD1-D936-D1EDC333F7AA}"/>
                </a:ext>
              </a:extLst>
            </p:cNvPr>
            <p:cNvSpPr/>
            <p:nvPr/>
          </p:nvSpPr>
          <p:spPr>
            <a:xfrm>
              <a:off x="7037765" y="755295"/>
              <a:ext cx="334194" cy="334194"/>
            </a:xfrm>
            <a:prstGeom prst="ellipse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+</a:t>
              </a:r>
            </a:p>
          </p:txBody>
        </p:sp>
        <p:sp>
          <p:nvSpPr>
            <p:cNvPr id="407" name="Textfeld 406">
              <a:extLst>
                <a:ext uri="{FF2B5EF4-FFF2-40B4-BE49-F238E27FC236}">
                  <a16:creationId xmlns:a16="http://schemas.microsoft.com/office/drawing/2014/main" id="{19F6945D-EA9C-65E0-5B0A-04592E61553D}"/>
                </a:ext>
              </a:extLst>
            </p:cNvPr>
            <p:cNvSpPr txBox="1"/>
            <p:nvPr/>
          </p:nvSpPr>
          <p:spPr>
            <a:xfrm>
              <a:off x="6668762" y="443830"/>
              <a:ext cx="703197" cy="28580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>
                <a:lnSpc>
                  <a:spcPts val="2100"/>
                </a:lnSpc>
              </a:pPr>
              <a:r>
                <a:rPr lang="en-GB" sz="1600" dirty="0"/>
                <a:t>values</a:t>
              </a:r>
            </a:p>
          </p:txBody>
        </p:sp>
        <p:sp>
          <p:nvSpPr>
            <p:cNvPr id="408" name="Rechteck 407">
              <a:extLst>
                <a:ext uri="{FF2B5EF4-FFF2-40B4-BE49-F238E27FC236}">
                  <a16:creationId xmlns:a16="http://schemas.microsoft.com/office/drawing/2014/main" id="{9713C559-38BA-480B-6301-6E6E11B48F4A}"/>
                </a:ext>
              </a:extLst>
            </p:cNvPr>
            <p:cNvSpPr/>
            <p:nvPr/>
          </p:nvSpPr>
          <p:spPr>
            <a:xfrm>
              <a:off x="6491526" y="362405"/>
              <a:ext cx="953023" cy="8817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10" name="Ellipse 409">
            <a:extLst>
              <a:ext uri="{FF2B5EF4-FFF2-40B4-BE49-F238E27FC236}">
                <a16:creationId xmlns:a16="http://schemas.microsoft.com/office/drawing/2014/main" id="{D35CC143-2AE6-FC91-A868-A8972BAE871A}"/>
              </a:ext>
            </a:extLst>
          </p:cNvPr>
          <p:cNvSpPr/>
          <p:nvPr/>
        </p:nvSpPr>
        <p:spPr>
          <a:xfrm>
            <a:off x="7593966" y="1611898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1" name="Ellipse 410">
            <a:extLst>
              <a:ext uri="{FF2B5EF4-FFF2-40B4-BE49-F238E27FC236}">
                <a16:creationId xmlns:a16="http://schemas.microsoft.com/office/drawing/2014/main" id="{7E7D5F1F-8474-C5FF-0CE3-CD5FEBAD6F8C}"/>
              </a:ext>
            </a:extLst>
          </p:cNvPr>
          <p:cNvSpPr/>
          <p:nvPr/>
        </p:nvSpPr>
        <p:spPr>
          <a:xfrm>
            <a:off x="7593966" y="2247053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12" name="Ellipse 411">
            <a:extLst>
              <a:ext uri="{FF2B5EF4-FFF2-40B4-BE49-F238E27FC236}">
                <a16:creationId xmlns:a16="http://schemas.microsoft.com/office/drawing/2014/main" id="{D68D0CAA-4DEE-6F0A-5D3F-36BB2212ADBB}"/>
              </a:ext>
            </a:extLst>
          </p:cNvPr>
          <p:cNvSpPr/>
          <p:nvPr/>
        </p:nvSpPr>
        <p:spPr>
          <a:xfrm>
            <a:off x="7593966" y="2825792"/>
            <a:ext cx="334194" cy="334194"/>
          </a:xfrm>
          <a:prstGeom prst="ellipse">
            <a:avLst/>
          </a:prstGeom>
          <a:solidFill>
            <a:schemeClr val="bg2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3" name="Ellipse 412">
            <a:extLst>
              <a:ext uri="{FF2B5EF4-FFF2-40B4-BE49-F238E27FC236}">
                <a16:creationId xmlns:a16="http://schemas.microsoft.com/office/drawing/2014/main" id="{C5982468-91B1-AB56-B485-4AE44279FE74}"/>
              </a:ext>
            </a:extLst>
          </p:cNvPr>
          <p:cNvSpPr/>
          <p:nvPr/>
        </p:nvSpPr>
        <p:spPr>
          <a:xfrm>
            <a:off x="7591496" y="4213210"/>
            <a:ext cx="334194" cy="33419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14" name="Textfeld 413">
            <a:extLst>
              <a:ext uri="{FF2B5EF4-FFF2-40B4-BE49-F238E27FC236}">
                <a16:creationId xmlns:a16="http://schemas.microsoft.com/office/drawing/2014/main" id="{EA3C7B5C-2B99-4AE1-4AE1-2D630D4CE98C}"/>
              </a:ext>
            </a:extLst>
          </p:cNvPr>
          <p:cNvSpPr txBox="1"/>
          <p:nvPr/>
        </p:nvSpPr>
        <p:spPr>
          <a:xfrm>
            <a:off x="7729077" y="3281525"/>
            <a:ext cx="331276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  <a:p>
            <a:r>
              <a:rPr lang="en-GB" sz="1600" dirty="0"/>
              <a:t>.</a:t>
            </a:r>
          </a:p>
        </p:txBody>
      </p:sp>
      <p:sp>
        <p:nvSpPr>
          <p:cNvPr id="415" name="Rechteck 414">
            <a:extLst>
              <a:ext uri="{FF2B5EF4-FFF2-40B4-BE49-F238E27FC236}">
                <a16:creationId xmlns:a16="http://schemas.microsoft.com/office/drawing/2014/main" id="{8F710C14-7D77-D3FB-2CE6-B5FEE0285804}"/>
              </a:ext>
            </a:extLst>
          </p:cNvPr>
          <p:cNvSpPr/>
          <p:nvPr/>
        </p:nvSpPr>
        <p:spPr>
          <a:xfrm>
            <a:off x="7412351" y="1429018"/>
            <a:ext cx="705173" cy="326490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3" name="Textfeld 422">
            <a:extLst>
              <a:ext uri="{FF2B5EF4-FFF2-40B4-BE49-F238E27FC236}">
                <a16:creationId xmlns:a16="http://schemas.microsoft.com/office/drawing/2014/main" id="{ADEEC612-DE1F-13CB-E05E-02E07C4C3A36}"/>
              </a:ext>
            </a:extLst>
          </p:cNvPr>
          <p:cNvSpPr txBox="1"/>
          <p:nvPr/>
        </p:nvSpPr>
        <p:spPr>
          <a:xfrm>
            <a:off x="8655777" y="3723372"/>
            <a:ext cx="331276" cy="59714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cxnSp>
        <p:nvCxnSpPr>
          <p:cNvPr id="427" name="Gerade Verbindung mit Pfeil 426">
            <a:extLst>
              <a:ext uri="{FF2B5EF4-FFF2-40B4-BE49-F238E27FC236}">
                <a16:creationId xmlns:a16="http://schemas.microsoft.com/office/drawing/2014/main" id="{FA664E69-0599-933D-D075-64CC95E762FA}"/>
              </a:ext>
            </a:extLst>
          </p:cNvPr>
          <p:cNvCxnSpPr>
            <a:cxnSpLocks/>
          </p:cNvCxnSpPr>
          <p:nvPr/>
        </p:nvCxnSpPr>
        <p:spPr>
          <a:xfrm>
            <a:off x="7981761" y="1778995"/>
            <a:ext cx="351303" cy="76743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Gerade Verbindung mit Pfeil 427">
            <a:extLst>
              <a:ext uri="{FF2B5EF4-FFF2-40B4-BE49-F238E27FC236}">
                <a16:creationId xmlns:a16="http://schemas.microsoft.com/office/drawing/2014/main" id="{8658F6EB-ED1A-365D-F292-E0A17CAB222A}"/>
              </a:ext>
            </a:extLst>
          </p:cNvPr>
          <p:cNvCxnSpPr>
            <a:cxnSpLocks/>
          </p:cNvCxnSpPr>
          <p:nvPr/>
        </p:nvCxnSpPr>
        <p:spPr>
          <a:xfrm flipV="1">
            <a:off x="7937751" y="1963040"/>
            <a:ext cx="440360" cy="347863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 Verbindung mit Pfeil 429">
            <a:extLst>
              <a:ext uri="{FF2B5EF4-FFF2-40B4-BE49-F238E27FC236}">
                <a16:creationId xmlns:a16="http://schemas.microsoft.com/office/drawing/2014/main" id="{3B316655-B0ED-8248-EFA0-4D775389FE50}"/>
              </a:ext>
            </a:extLst>
          </p:cNvPr>
          <p:cNvCxnSpPr>
            <a:cxnSpLocks/>
          </p:cNvCxnSpPr>
          <p:nvPr/>
        </p:nvCxnSpPr>
        <p:spPr>
          <a:xfrm flipV="1">
            <a:off x="7947836" y="1976939"/>
            <a:ext cx="438829" cy="891701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 Verbindung mit Pfeil 431">
            <a:extLst>
              <a:ext uri="{FF2B5EF4-FFF2-40B4-BE49-F238E27FC236}">
                <a16:creationId xmlns:a16="http://schemas.microsoft.com/office/drawing/2014/main" id="{18FD93CA-6D95-F402-5D4A-63DE52C15ADF}"/>
              </a:ext>
            </a:extLst>
          </p:cNvPr>
          <p:cNvCxnSpPr>
            <a:cxnSpLocks/>
          </p:cNvCxnSpPr>
          <p:nvPr/>
        </p:nvCxnSpPr>
        <p:spPr>
          <a:xfrm flipV="1">
            <a:off x="7937751" y="2014700"/>
            <a:ext cx="461096" cy="2265989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8" name="Gerade Verbindung mit Pfeil 437">
            <a:extLst>
              <a:ext uri="{FF2B5EF4-FFF2-40B4-BE49-F238E27FC236}">
                <a16:creationId xmlns:a16="http://schemas.microsoft.com/office/drawing/2014/main" id="{403CE48A-5DD7-D28E-B747-CECCA6BF25BF}"/>
              </a:ext>
            </a:extLst>
          </p:cNvPr>
          <p:cNvCxnSpPr>
            <a:cxnSpLocks/>
          </p:cNvCxnSpPr>
          <p:nvPr/>
        </p:nvCxnSpPr>
        <p:spPr>
          <a:xfrm>
            <a:off x="7958509" y="1877568"/>
            <a:ext cx="419602" cy="311131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Gerade Verbindung mit Pfeil 440">
            <a:extLst>
              <a:ext uri="{FF2B5EF4-FFF2-40B4-BE49-F238E27FC236}">
                <a16:creationId xmlns:a16="http://schemas.microsoft.com/office/drawing/2014/main" id="{679D2CD0-66DA-33F8-0934-E87BAD5C03A5}"/>
              </a:ext>
            </a:extLst>
          </p:cNvPr>
          <p:cNvCxnSpPr>
            <a:cxnSpLocks/>
          </p:cNvCxnSpPr>
          <p:nvPr/>
        </p:nvCxnSpPr>
        <p:spPr>
          <a:xfrm flipV="1">
            <a:off x="7958729" y="2310903"/>
            <a:ext cx="419382" cy="81838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3" name="Gerade Verbindung mit Pfeil 442">
            <a:extLst>
              <a:ext uri="{FF2B5EF4-FFF2-40B4-BE49-F238E27FC236}">
                <a16:creationId xmlns:a16="http://schemas.microsoft.com/office/drawing/2014/main" id="{FF5121E7-F3D0-8409-0101-2D97630CB22D}"/>
              </a:ext>
            </a:extLst>
          </p:cNvPr>
          <p:cNvCxnSpPr>
            <a:cxnSpLocks/>
          </p:cNvCxnSpPr>
          <p:nvPr/>
        </p:nvCxnSpPr>
        <p:spPr>
          <a:xfrm flipV="1">
            <a:off x="7983312" y="2376142"/>
            <a:ext cx="403353" cy="594252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Gerade Verbindung mit Pfeil 444">
            <a:extLst>
              <a:ext uri="{FF2B5EF4-FFF2-40B4-BE49-F238E27FC236}">
                <a16:creationId xmlns:a16="http://schemas.microsoft.com/office/drawing/2014/main" id="{14F285BE-3C4F-2BF5-4BE4-527FD100821E}"/>
              </a:ext>
            </a:extLst>
          </p:cNvPr>
          <p:cNvCxnSpPr>
            <a:cxnSpLocks/>
          </p:cNvCxnSpPr>
          <p:nvPr/>
        </p:nvCxnSpPr>
        <p:spPr>
          <a:xfrm flipV="1">
            <a:off x="7955735" y="2395763"/>
            <a:ext cx="496011" cy="1884926"/>
          </a:xfrm>
          <a:prstGeom prst="straightConnector1">
            <a:avLst/>
          </a:prstGeom>
          <a:ln>
            <a:solidFill>
              <a:srgbClr val="18181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Textfeld 446">
            <a:extLst>
              <a:ext uri="{FF2B5EF4-FFF2-40B4-BE49-F238E27FC236}">
                <a16:creationId xmlns:a16="http://schemas.microsoft.com/office/drawing/2014/main" id="{4D178CA6-A685-0140-5337-4D1B2356B9FA}"/>
              </a:ext>
            </a:extLst>
          </p:cNvPr>
          <p:cNvSpPr txBox="1"/>
          <p:nvPr/>
        </p:nvSpPr>
        <p:spPr>
          <a:xfrm rot="16200000">
            <a:off x="7955889" y="3898889"/>
            <a:ext cx="735678" cy="33127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/>
              <a:t>Linear</a:t>
            </a:r>
          </a:p>
        </p:txBody>
      </p:sp>
      <p:sp>
        <p:nvSpPr>
          <p:cNvPr id="225" name="Textfeld 224">
            <a:extLst>
              <a:ext uri="{FF2B5EF4-FFF2-40B4-BE49-F238E27FC236}">
                <a16:creationId xmlns:a16="http://schemas.microsoft.com/office/drawing/2014/main" id="{E600B5D6-27D0-A0D0-7F98-9CB66094DCE9}"/>
              </a:ext>
            </a:extLst>
          </p:cNvPr>
          <p:cNvSpPr txBox="1"/>
          <p:nvPr/>
        </p:nvSpPr>
        <p:spPr>
          <a:xfrm>
            <a:off x="7918622" y="4800239"/>
            <a:ext cx="1297351" cy="3111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output_dim</a:t>
            </a:r>
            <a:endParaRPr lang="en-GB" sz="1600" dirty="0"/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50CD3944-9EE0-A603-56DA-D8A18EC3BDEE}"/>
              </a:ext>
            </a:extLst>
          </p:cNvPr>
          <p:cNvSpPr txBox="1"/>
          <p:nvPr/>
        </p:nvSpPr>
        <p:spPr>
          <a:xfrm>
            <a:off x="8657175" y="3724770"/>
            <a:ext cx="331276" cy="59714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  <a:p>
            <a:r>
              <a:rPr lang="en-GB" sz="1050" b="1" dirty="0"/>
              <a:t>.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971B2F93-A0CC-4640-D9E4-BA0C13F9859F}"/>
              </a:ext>
            </a:extLst>
          </p:cNvPr>
          <p:cNvSpPr/>
          <p:nvPr/>
        </p:nvSpPr>
        <p:spPr>
          <a:xfrm>
            <a:off x="1275127" y="1797015"/>
            <a:ext cx="1434517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" name="Rechteck 233">
            <a:extLst>
              <a:ext uri="{FF2B5EF4-FFF2-40B4-BE49-F238E27FC236}">
                <a16:creationId xmlns:a16="http://schemas.microsoft.com/office/drawing/2014/main" id="{0FC5B1B4-2A81-F846-B2EB-84AEADA204E6}"/>
              </a:ext>
            </a:extLst>
          </p:cNvPr>
          <p:cNvSpPr/>
          <p:nvPr/>
        </p:nvSpPr>
        <p:spPr>
          <a:xfrm>
            <a:off x="1275127" y="2027057"/>
            <a:ext cx="3090313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echteck 234">
            <a:extLst>
              <a:ext uri="{FF2B5EF4-FFF2-40B4-BE49-F238E27FC236}">
                <a16:creationId xmlns:a16="http://schemas.microsoft.com/office/drawing/2014/main" id="{8AF07EF4-2D88-5AE9-67B5-D9CAD101BC01}"/>
              </a:ext>
            </a:extLst>
          </p:cNvPr>
          <p:cNvSpPr/>
          <p:nvPr/>
        </p:nvSpPr>
        <p:spPr>
          <a:xfrm>
            <a:off x="1275127" y="2255463"/>
            <a:ext cx="1149291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Rechteck 236">
            <a:extLst>
              <a:ext uri="{FF2B5EF4-FFF2-40B4-BE49-F238E27FC236}">
                <a16:creationId xmlns:a16="http://schemas.microsoft.com/office/drawing/2014/main" id="{12389F9D-0F3F-18B9-7475-945670E1EA51}"/>
              </a:ext>
            </a:extLst>
          </p:cNvPr>
          <p:cNvSpPr/>
          <p:nvPr/>
        </p:nvSpPr>
        <p:spPr>
          <a:xfrm>
            <a:off x="1273712" y="2488206"/>
            <a:ext cx="3167778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3" name="Textfeld 242">
            <a:extLst>
              <a:ext uri="{FF2B5EF4-FFF2-40B4-BE49-F238E27FC236}">
                <a16:creationId xmlns:a16="http://schemas.microsoft.com/office/drawing/2014/main" id="{15AC5122-EB47-9E5F-5F50-6081FA3AEC6E}"/>
              </a:ext>
            </a:extLst>
          </p:cNvPr>
          <p:cNvSpPr txBox="1"/>
          <p:nvPr/>
        </p:nvSpPr>
        <p:spPr>
          <a:xfrm>
            <a:off x="4984034" y="4792917"/>
            <a:ext cx="1297351" cy="3111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600" dirty="0" err="1"/>
              <a:t>input_dim</a:t>
            </a:r>
            <a:endParaRPr lang="en-GB" sz="1600" dirty="0"/>
          </a:p>
        </p:txBody>
      </p:sp>
      <p:sp>
        <p:nvSpPr>
          <p:cNvPr id="244" name="Rechteck 243">
            <a:extLst>
              <a:ext uri="{FF2B5EF4-FFF2-40B4-BE49-F238E27FC236}">
                <a16:creationId xmlns:a16="http://schemas.microsoft.com/office/drawing/2014/main" id="{9B545215-BBA6-0038-A1C2-9AB714A21F9D}"/>
              </a:ext>
            </a:extLst>
          </p:cNvPr>
          <p:cNvSpPr/>
          <p:nvPr/>
        </p:nvSpPr>
        <p:spPr>
          <a:xfrm>
            <a:off x="530452" y="909454"/>
            <a:ext cx="3986848" cy="2132952"/>
          </a:xfrm>
          <a:prstGeom prst="rect">
            <a:avLst/>
          </a:prstGeom>
          <a:noFill/>
          <a:ln w="317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35E39A4-5998-8FC8-153C-040911E55D6C}"/>
              </a:ext>
            </a:extLst>
          </p:cNvPr>
          <p:cNvSpPr txBox="1"/>
          <p:nvPr/>
        </p:nvSpPr>
        <p:spPr>
          <a:xfrm>
            <a:off x="254339" y="4752708"/>
            <a:ext cx="1540906" cy="311121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200" dirty="0"/>
              <a:t> Linear: f(x) = </a:t>
            </a:r>
            <a:r>
              <a:rPr lang="en-GB" sz="1200" dirty="0" err="1"/>
              <a:t>xW</a:t>
            </a:r>
            <a:r>
              <a:rPr lang="en-GB" sz="1200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30835C3-E147-5017-9F7B-5823831D70A3}"/>
              </a:ext>
            </a:extLst>
          </p:cNvPr>
          <p:cNvSpPr txBox="1"/>
          <p:nvPr/>
        </p:nvSpPr>
        <p:spPr>
          <a:xfrm>
            <a:off x="2127233" y="4744319"/>
            <a:ext cx="1991761" cy="311121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0" tIns="0" rIns="0" bIns="0" rtlCol="0">
            <a:noAutofit/>
          </a:bodyPr>
          <a:lstStyle/>
          <a:p>
            <a:pPr>
              <a:lnSpc>
                <a:spcPts val="2100"/>
              </a:lnSpc>
            </a:pPr>
            <a:r>
              <a:rPr lang="en-GB" sz="1200" dirty="0"/>
              <a:t> </a:t>
            </a:r>
            <a:r>
              <a:rPr lang="en-GB" sz="1200" dirty="0" err="1"/>
              <a:t>ReLU</a:t>
            </a:r>
            <a:r>
              <a:rPr lang="en-GB" sz="1200" dirty="0"/>
              <a:t>: f(x) = max(0,x) </a:t>
            </a:r>
          </a:p>
        </p:txBody>
      </p:sp>
    </p:spTree>
    <p:extLst>
      <p:ext uri="{BB962C8B-B14F-4D97-AF65-F5344CB8AC3E}">
        <p14:creationId xmlns:p14="http://schemas.microsoft.com/office/powerpoint/2010/main" val="1272199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7" grpId="0" animBg="1"/>
      <p:bldP spid="418" grpId="0" animBg="1"/>
      <p:bldP spid="419" grpId="0" animBg="1"/>
      <p:bldP spid="420" grpId="0" animBg="1"/>
      <p:bldP spid="421" grpId="0" animBg="1"/>
      <p:bldP spid="422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8" grpId="1" animBg="1"/>
      <p:bldP spid="229" grpId="0" animBg="1"/>
      <p:bldP spid="229" grpId="1" animBg="1"/>
      <p:bldP spid="230" grpId="0" animBg="1"/>
      <p:bldP spid="230" grpId="1" animBg="1"/>
      <p:bldP spid="231" grpId="0" animBg="1"/>
      <p:bldP spid="231" grpId="1" animBg="1"/>
      <p:bldP spid="252" grpId="0" animBg="1"/>
      <p:bldP spid="253" grpId="0" animBg="1"/>
      <p:bldP spid="254" grpId="0" animBg="1"/>
      <p:bldP spid="260" grpId="0" animBg="1"/>
      <p:bldP spid="261" grpId="0" animBg="1"/>
      <p:bldP spid="262" grpId="0" animBg="1"/>
      <p:bldP spid="268" grpId="0" animBg="1"/>
      <p:bldP spid="269" grpId="0" animBg="1"/>
      <p:bldP spid="270" grpId="0" animBg="1"/>
      <p:bldP spid="276" grpId="0" animBg="1"/>
      <p:bldP spid="277" grpId="0" animBg="1"/>
      <p:bldP spid="278" grpId="0" animBg="1"/>
      <p:bldP spid="284" grpId="0" animBg="1"/>
      <p:bldP spid="285" grpId="0" animBg="1"/>
      <p:bldP spid="286" grpId="0" animBg="1"/>
      <p:bldP spid="292" grpId="0" animBg="1"/>
      <p:bldP spid="293" grpId="0" animBg="1"/>
      <p:bldP spid="294" grpId="0" animBg="1"/>
      <p:bldP spid="300" grpId="0" animBg="1"/>
      <p:bldP spid="301" grpId="0" animBg="1"/>
      <p:bldP spid="302" grpId="0" animBg="1"/>
      <p:bldP spid="308" grpId="0" animBg="1"/>
      <p:bldP spid="309" grpId="0" animBg="1"/>
      <p:bldP spid="310" grpId="0" animBg="1"/>
      <p:bldP spid="316" grpId="0" animBg="1"/>
      <p:bldP spid="321" grpId="0" animBg="1"/>
      <p:bldP spid="323" grpId="0" animBg="1"/>
      <p:bldP spid="334" grpId="0"/>
      <p:bldP spid="362" grpId="0" animBg="1"/>
      <p:bldP spid="363" grpId="0" animBg="1"/>
      <p:bldP spid="364" grpId="0" animBg="1"/>
      <p:bldP spid="365" grpId="0" animBg="1"/>
      <p:bldP spid="366" grpId="0"/>
      <p:bldP spid="367" grpId="0" animBg="1"/>
      <p:bldP spid="369" grpId="0"/>
      <p:bldP spid="391" grpId="0"/>
      <p:bldP spid="392" grpId="0"/>
      <p:bldP spid="393" grpId="0"/>
      <p:bldP spid="400" grpId="0" animBg="1"/>
      <p:bldP spid="401" grpId="0"/>
      <p:bldP spid="402" grpId="0" animBg="1"/>
      <p:bldP spid="403" grpId="0"/>
      <p:bldP spid="404" grpId="0"/>
      <p:bldP spid="410" grpId="0" animBg="1"/>
      <p:bldP spid="411" grpId="0" animBg="1"/>
      <p:bldP spid="412" grpId="0" animBg="1"/>
      <p:bldP spid="413" grpId="0" animBg="1"/>
      <p:bldP spid="414" grpId="0"/>
      <p:bldP spid="415" grpId="0" animBg="1"/>
      <p:bldP spid="423" grpId="0"/>
      <p:bldP spid="447" grpId="0"/>
      <p:bldP spid="225" grpId="0"/>
      <p:bldP spid="232" grpId="0"/>
      <p:bldP spid="232" grpId="1"/>
      <p:bldP spid="233" grpId="1" animBg="1"/>
      <p:bldP spid="233" grpId="2" animBg="1"/>
      <p:bldP spid="234" grpId="0" animBg="1"/>
      <p:bldP spid="234" grpId="1" animBg="1"/>
      <p:bldP spid="235" grpId="0" animBg="1"/>
      <p:bldP spid="235" grpId="1" animBg="1"/>
      <p:bldP spid="237" grpId="0" animBg="1"/>
      <p:bldP spid="237" grpId="1" animBg="1"/>
      <p:bldP spid="243" grpId="0"/>
      <p:bldP spid="244" grpId="0" animBg="1"/>
      <p:bldP spid="244" grpId="1" animBg="1"/>
      <p:bldP spid="2" grpId="0" animBg="1"/>
      <p:bldP spid="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AF171-9708-681B-AB7C-0EE23BC16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460626E-B7A5-8240-B63B-4957A488F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85D4A75-588D-C511-3F07-50912D68F2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53670" y="639670"/>
            <a:ext cx="4418330" cy="4054250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214D9B68-8652-AA1E-510F-70A61CF271C6}"/>
              </a:ext>
            </a:extLst>
          </p:cNvPr>
          <p:cNvSpPr/>
          <p:nvPr/>
        </p:nvSpPr>
        <p:spPr>
          <a:xfrm>
            <a:off x="990000" y="3603942"/>
            <a:ext cx="3474050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4" name="Rechteck 223">
            <a:extLst>
              <a:ext uri="{FF2B5EF4-FFF2-40B4-BE49-F238E27FC236}">
                <a16:creationId xmlns:a16="http://schemas.microsoft.com/office/drawing/2014/main" id="{5D848858-3649-31CD-BA61-54577D39D245}"/>
              </a:ext>
            </a:extLst>
          </p:cNvPr>
          <p:cNvSpPr/>
          <p:nvPr/>
        </p:nvSpPr>
        <p:spPr>
          <a:xfrm>
            <a:off x="990000" y="1558911"/>
            <a:ext cx="1216305" cy="2561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Pfeil: nach rechts gekrümmt 237">
            <a:extLst>
              <a:ext uri="{FF2B5EF4-FFF2-40B4-BE49-F238E27FC236}">
                <a16:creationId xmlns:a16="http://schemas.microsoft.com/office/drawing/2014/main" id="{CEAE0C1C-C2F4-084D-43AB-F2621F32DE75}"/>
              </a:ext>
            </a:extLst>
          </p:cNvPr>
          <p:cNvSpPr/>
          <p:nvPr/>
        </p:nvSpPr>
        <p:spPr>
          <a:xfrm>
            <a:off x="464121" y="1683659"/>
            <a:ext cx="459920" cy="2101329"/>
          </a:xfrm>
          <a:prstGeom prst="curv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40" name="Textfeld 239">
            <a:extLst>
              <a:ext uri="{FF2B5EF4-FFF2-40B4-BE49-F238E27FC236}">
                <a16:creationId xmlns:a16="http://schemas.microsoft.com/office/drawing/2014/main" id="{37A751D4-B074-F002-C4ED-FF434FD16644}"/>
              </a:ext>
            </a:extLst>
          </p:cNvPr>
          <p:cNvSpPr txBox="1"/>
          <p:nvPr/>
        </p:nvSpPr>
        <p:spPr>
          <a:xfrm>
            <a:off x="5536474" y="1529563"/>
            <a:ext cx="261752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b="1" dirty="0" err="1"/>
              <a:t>We</a:t>
            </a:r>
            <a:r>
              <a:rPr lang="de-DE" sz="1400" b="1" dirty="0"/>
              <a:t> </a:t>
            </a:r>
            <a:r>
              <a:rPr lang="de-DE" sz="1400" b="1" dirty="0" err="1"/>
              <a:t>need</a:t>
            </a:r>
            <a:r>
              <a:rPr lang="de-DE" sz="1400" b="1" dirty="0"/>
              <a:t> to </a:t>
            </a:r>
            <a:r>
              <a:rPr lang="de-DE" sz="1400" b="1" dirty="0" err="1"/>
              <a:t>call</a:t>
            </a:r>
            <a:r>
              <a:rPr lang="de-DE" sz="1400" b="1" dirty="0"/>
              <a:t> the </a:t>
            </a:r>
            <a:r>
              <a:rPr lang="de-DE" sz="1400" b="1" dirty="0" err="1"/>
              <a:t>defined</a:t>
            </a:r>
            <a:r>
              <a:rPr lang="de-DE" sz="1400" b="1" dirty="0"/>
              <a:t> </a:t>
            </a:r>
            <a:r>
              <a:rPr lang="de-DE" sz="1400" b="1" dirty="0" err="1"/>
              <a:t>container</a:t>
            </a:r>
            <a:r>
              <a:rPr lang="de-DE" sz="1400" b="1" dirty="0"/>
              <a:t>(s) in the </a:t>
            </a:r>
            <a:r>
              <a:rPr lang="de-DE" sz="1400" b="1" dirty="0" err="1"/>
              <a:t>forward</a:t>
            </a:r>
            <a:r>
              <a:rPr lang="de-DE" sz="1400" b="1" dirty="0"/>
              <a:t> </a:t>
            </a:r>
            <a:r>
              <a:rPr lang="de-DE" sz="1400" b="1" dirty="0" err="1"/>
              <a:t>function</a:t>
            </a:r>
            <a:endParaRPr lang="de-DE" sz="1400" b="1" dirty="0"/>
          </a:p>
          <a:p>
            <a:endParaRPr lang="de-DE" sz="1400" b="1" dirty="0"/>
          </a:p>
          <a:p>
            <a:r>
              <a:rPr lang="de-DE" sz="1400" dirty="0"/>
              <a:t>The </a:t>
            </a:r>
            <a:r>
              <a:rPr lang="de-DE" sz="1400" dirty="0" err="1"/>
              <a:t>input</a:t>
            </a:r>
            <a:r>
              <a:rPr lang="de-DE" sz="1400" dirty="0"/>
              <a:t> in the </a:t>
            </a:r>
            <a:r>
              <a:rPr lang="de-DE" sz="1400" dirty="0" err="1"/>
              <a:t>forward</a:t>
            </a:r>
            <a:r>
              <a:rPr lang="de-DE" sz="1400" dirty="0"/>
              <a:t> </a:t>
            </a:r>
            <a:r>
              <a:rPr lang="de-DE" sz="1400" dirty="0" err="1"/>
              <a:t>function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our</a:t>
            </a:r>
            <a:r>
              <a:rPr lang="de-DE" sz="1400" dirty="0"/>
              <a:t> </a:t>
            </a:r>
            <a:r>
              <a:rPr lang="de-DE" sz="1400" dirty="0" err="1"/>
              <a:t>model</a:t>
            </a:r>
            <a:r>
              <a:rPr lang="de-DE" sz="1400" dirty="0"/>
              <a:t> </a:t>
            </a:r>
            <a:r>
              <a:rPr lang="de-DE" sz="1400" dirty="0" err="1"/>
              <a:t>input</a:t>
            </a:r>
            <a:endParaRPr lang="de-DE" sz="1200" dirty="0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DBFDAEDF-5062-96EA-FF14-7C3586DAA107}"/>
              </a:ext>
            </a:extLst>
          </p:cNvPr>
          <p:cNvSpPr txBox="1"/>
          <p:nvPr/>
        </p:nvSpPr>
        <p:spPr>
          <a:xfrm>
            <a:off x="5536474" y="3335624"/>
            <a:ext cx="325518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We could also call everything individually (see Jupyter Notebook)</a:t>
            </a:r>
          </a:p>
        </p:txBody>
      </p:sp>
      <p:cxnSp>
        <p:nvCxnSpPr>
          <p:cNvPr id="244" name="Gerade Verbindung mit Pfeil 243">
            <a:extLst>
              <a:ext uri="{FF2B5EF4-FFF2-40B4-BE49-F238E27FC236}">
                <a16:creationId xmlns:a16="http://schemas.microsoft.com/office/drawing/2014/main" id="{43E26626-B270-741A-7337-CBCC7758CBE6}"/>
              </a:ext>
            </a:extLst>
          </p:cNvPr>
          <p:cNvCxnSpPr>
            <a:cxnSpLocks/>
          </p:cNvCxnSpPr>
          <p:nvPr/>
        </p:nvCxnSpPr>
        <p:spPr>
          <a:xfrm flipH="1">
            <a:off x="2541864" y="2264895"/>
            <a:ext cx="185161" cy="936159"/>
          </a:xfrm>
          <a:prstGeom prst="straightConnector1">
            <a:avLst/>
          </a:prstGeom>
          <a:ln w="444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Runde Klammer links/rechts 246">
            <a:extLst>
              <a:ext uri="{FF2B5EF4-FFF2-40B4-BE49-F238E27FC236}">
                <a16:creationId xmlns:a16="http://schemas.microsoft.com/office/drawing/2014/main" id="{7DCA51B5-B1AB-2A09-CE1E-86837A69E7F6}"/>
              </a:ext>
            </a:extLst>
          </p:cNvPr>
          <p:cNvSpPr/>
          <p:nvPr/>
        </p:nvSpPr>
        <p:spPr>
          <a:xfrm>
            <a:off x="5536474" y="3352402"/>
            <a:ext cx="2777016" cy="738664"/>
          </a:xfrm>
          <a:prstGeom prst="bracketPair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8DA37828-B271-D7E8-EDF2-A35E55D94713}"/>
              </a:ext>
            </a:extLst>
          </p:cNvPr>
          <p:cNvSpPr txBox="1"/>
          <p:nvPr/>
        </p:nvSpPr>
        <p:spPr>
          <a:xfrm>
            <a:off x="2634444" y="2686873"/>
            <a:ext cx="1828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>
                <a:solidFill>
                  <a:srgbClr val="FF0000"/>
                </a:solidFill>
              </a:rPr>
              <a:t>Defines</a:t>
            </a:r>
            <a:r>
              <a:rPr lang="de-DE" sz="1200" dirty="0">
                <a:solidFill>
                  <a:srgbClr val="FF0000"/>
                </a:solidFill>
              </a:rPr>
              <a:t> </a:t>
            </a:r>
            <a:r>
              <a:rPr lang="de-DE" sz="1200" dirty="0" err="1">
                <a:solidFill>
                  <a:srgbClr val="FF0000"/>
                </a:solidFill>
              </a:rPr>
              <a:t>input</a:t>
            </a:r>
            <a:r>
              <a:rPr lang="de-DE" sz="1200" dirty="0">
                <a:solidFill>
                  <a:srgbClr val="FF0000"/>
                </a:solidFill>
              </a:rPr>
              <a:t> </a:t>
            </a:r>
            <a:r>
              <a:rPr lang="de-DE" sz="1200" dirty="0" err="1">
                <a:solidFill>
                  <a:srgbClr val="FF0000"/>
                </a:solidFill>
              </a:rPr>
              <a:t>dimensions</a:t>
            </a:r>
            <a:endParaRPr lang="de-DE" sz="1100" dirty="0">
              <a:solidFill>
                <a:srgbClr val="FF0000"/>
              </a:solidFill>
            </a:endParaRPr>
          </a:p>
        </p:txBody>
      </p:sp>
      <p:sp>
        <p:nvSpPr>
          <p:cNvPr id="258" name="Rechteck 257">
            <a:extLst>
              <a:ext uri="{FF2B5EF4-FFF2-40B4-BE49-F238E27FC236}">
                <a16:creationId xmlns:a16="http://schemas.microsoft.com/office/drawing/2014/main" id="{405C8B50-4519-27B2-8E97-7A3B542D4BE9}"/>
              </a:ext>
            </a:extLst>
          </p:cNvPr>
          <p:cNvSpPr/>
          <p:nvPr/>
        </p:nvSpPr>
        <p:spPr>
          <a:xfrm>
            <a:off x="477202" y="3036640"/>
            <a:ext cx="3986848" cy="1496695"/>
          </a:xfrm>
          <a:prstGeom prst="rect">
            <a:avLst/>
          </a:prstGeom>
          <a:noFill/>
          <a:ln w="317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4610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24" grpId="0" animBg="1"/>
      <p:bldP spid="238" grpId="0" animBg="1"/>
      <p:bldP spid="240" grpId="0"/>
      <p:bldP spid="242" grpId="0"/>
      <p:bldP spid="247" grpId="0" animBg="1"/>
      <p:bldP spid="256" grpId="0"/>
      <p:bldP spid="258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238BC-B095-B2A6-FAD3-476D76F54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8A349C12-FA7C-2733-D5F1-552EFEEA5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86" y="639669"/>
            <a:ext cx="4418330" cy="441833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21D71CC9-7EBF-9803-AB2B-AABDFD01C9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63186" y="639669"/>
            <a:ext cx="4418330" cy="405425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A188899C-2480-4089-8FE2-33C2C04DDAE2}"/>
              </a:ext>
            </a:extLst>
          </p:cNvPr>
          <p:cNvSpPr txBox="1"/>
          <p:nvPr/>
        </p:nvSpPr>
        <p:spPr>
          <a:xfrm>
            <a:off x="5519867" y="2417861"/>
            <a:ext cx="2617526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b="1" dirty="0"/>
              <a:t>How do </a:t>
            </a:r>
            <a:r>
              <a:rPr lang="de-DE" sz="1400" b="1" dirty="0" err="1"/>
              <a:t>we</a:t>
            </a:r>
            <a:r>
              <a:rPr lang="de-DE" sz="1400" b="1" dirty="0"/>
              <a:t> </a:t>
            </a:r>
            <a:r>
              <a:rPr lang="de-DE" sz="1400" b="1" dirty="0" err="1"/>
              <a:t>now</a:t>
            </a:r>
            <a:r>
              <a:rPr lang="de-DE" sz="1400" b="1" dirty="0"/>
              <a:t> </a:t>
            </a:r>
            <a:r>
              <a:rPr lang="de-DE" sz="1400" b="1" dirty="0" err="1"/>
              <a:t>train</a:t>
            </a:r>
            <a:r>
              <a:rPr lang="de-DE" sz="1400" b="1" dirty="0"/>
              <a:t> and </a:t>
            </a:r>
            <a:r>
              <a:rPr lang="de-DE" sz="1400" b="1" dirty="0" err="1"/>
              <a:t>use</a:t>
            </a:r>
            <a:r>
              <a:rPr lang="de-DE" sz="1400" b="1" dirty="0"/>
              <a:t> </a:t>
            </a:r>
            <a:r>
              <a:rPr lang="de-DE" sz="1400" b="1" dirty="0" err="1"/>
              <a:t>this</a:t>
            </a:r>
            <a:r>
              <a:rPr lang="de-DE" sz="1400" b="1" dirty="0"/>
              <a:t>?</a:t>
            </a:r>
          </a:p>
          <a:p>
            <a:endParaRPr lang="de-DE" sz="1400" b="1" dirty="0"/>
          </a:p>
          <a:p>
            <a:endParaRPr lang="de-DE" sz="2000" b="1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5ECC814-E205-6EFD-1830-80E21CBC3676}"/>
              </a:ext>
            </a:extLst>
          </p:cNvPr>
          <p:cNvSpPr/>
          <p:nvPr/>
        </p:nvSpPr>
        <p:spPr>
          <a:xfrm>
            <a:off x="246681" y="4709287"/>
            <a:ext cx="2988297" cy="291576"/>
          </a:xfrm>
          <a:prstGeom prst="rect">
            <a:avLst/>
          </a:prstGeom>
          <a:noFill/>
          <a:ln w="317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6852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121D1-B7C0-09B6-B948-782115013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rafik 31">
            <a:extLst>
              <a:ext uri="{FF2B5EF4-FFF2-40B4-BE49-F238E27FC236}">
                <a16:creationId xmlns:a16="http://schemas.microsoft.com/office/drawing/2014/main" id="{0EE29350-0CAF-75A6-129F-ED8C75369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" y="1915244"/>
            <a:ext cx="4001351" cy="203508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2300A56-4633-8D45-ED5B-789D0B7E0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PyTorch</a:t>
            </a:r>
            <a:r>
              <a:rPr lang="en-GB" dirty="0"/>
              <a:t> - Training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A5772AA-33AA-4C11-E55F-75F374B29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18</a:t>
            </a:fld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95D7F9B-26C9-164E-E286-AEE5E7DA6E81}"/>
              </a:ext>
            </a:extLst>
          </p:cNvPr>
          <p:cNvCxnSpPr>
            <a:cxnSpLocks/>
          </p:cNvCxnSpPr>
          <p:nvPr/>
        </p:nvCxnSpPr>
        <p:spPr>
          <a:xfrm flipV="1">
            <a:off x="2812943" y="1394212"/>
            <a:ext cx="2735450" cy="70536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28FFCC9-B3C3-E037-3808-627CB92FFFAC}"/>
              </a:ext>
            </a:extLst>
          </p:cNvPr>
          <p:cNvCxnSpPr>
            <a:cxnSpLocks/>
          </p:cNvCxnSpPr>
          <p:nvPr/>
        </p:nvCxnSpPr>
        <p:spPr>
          <a:xfrm flipV="1">
            <a:off x="3231396" y="2211102"/>
            <a:ext cx="2290992" cy="35570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DCF98A9-9A52-DB38-C304-1BC23147190A}"/>
              </a:ext>
            </a:extLst>
          </p:cNvPr>
          <p:cNvCxnSpPr>
            <a:cxnSpLocks/>
          </p:cNvCxnSpPr>
          <p:nvPr/>
        </p:nvCxnSpPr>
        <p:spPr>
          <a:xfrm>
            <a:off x="4482000" y="3020621"/>
            <a:ext cx="1066393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6CDC043-42E0-A0FE-765C-791E6D387F0A}"/>
              </a:ext>
            </a:extLst>
          </p:cNvPr>
          <p:cNvCxnSpPr>
            <a:cxnSpLocks/>
          </p:cNvCxnSpPr>
          <p:nvPr/>
        </p:nvCxnSpPr>
        <p:spPr>
          <a:xfrm>
            <a:off x="2235607" y="3281509"/>
            <a:ext cx="3312786" cy="51620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4776500A-F91C-FE13-04B3-C2096165490D}"/>
              </a:ext>
            </a:extLst>
          </p:cNvPr>
          <p:cNvSpPr txBox="1"/>
          <p:nvPr/>
        </p:nvSpPr>
        <p:spPr>
          <a:xfrm>
            <a:off x="5582147" y="1114688"/>
            <a:ext cx="35618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We need to s</a:t>
            </a:r>
            <a:r>
              <a:rPr lang="de-DE" sz="1200" dirty="0"/>
              <a:t>et </a:t>
            </a:r>
            <a:r>
              <a:rPr lang="de-DE" sz="1200" dirty="0" err="1"/>
              <a:t>gradients</a:t>
            </a:r>
            <a:r>
              <a:rPr lang="de-DE" sz="1200" dirty="0"/>
              <a:t> </a:t>
            </a:r>
            <a:r>
              <a:rPr lang="de-DE" sz="1200" dirty="0" err="1"/>
              <a:t>from</a:t>
            </a:r>
            <a:r>
              <a:rPr lang="de-DE" sz="1200" dirty="0"/>
              <a:t> </a:t>
            </a:r>
            <a:r>
              <a:rPr lang="de-DE" sz="1200" dirty="0" err="1"/>
              <a:t>previous</a:t>
            </a:r>
            <a:r>
              <a:rPr lang="de-DE" sz="1200" dirty="0"/>
              <a:t> </a:t>
            </a:r>
            <a:r>
              <a:rPr lang="de-DE" sz="1200" dirty="0" err="1"/>
              <a:t>batch</a:t>
            </a:r>
            <a:r>
              <a:rPr lang="de-DE" sz="1200" dirty="0"/>
              <a:t> to 0 </a:t>
            </a:r>
            <a:r>
              <a:rPr lang="de-DE" sz="1200" dirty="0" err="1"/>
              <a:t>before</a:t>
            </a:r>
            <a:r>
              <a:rPr lang="de-DE" sz="1200" dirty="0"/>
              <a:t> </a:t>
            </a:r>
            <a:r>
              <a:rPr lang="de-DE" sz="1200" dirty="0" err="1"/>
              <a:t>calculating</a:t>
            </a:r>
            <a:r>
              <a:rPr lang="de-DE" sz="1200" dirty="0"/>
              <a:t> </a:t>
            </a:r>
            <a:r>
              <a:rPr lang="de-DE" sz="1200" dirty="0" err="1"/>
              <a:t>gradients</a:t>
            </a:r>
            <a:r>
              <a:rPr lang="de-DE" sz="1200" dirty="0"/>
              <a:t> for the </a:t>
            </a:r>
            <a:r>
              <a:rPr lang="de-DE" sz="1200" dirty="0" err="1"/>
              <a:t>current</a:t>
            </a:r>
            <a:r>
              <a:rPr lang="de-DE" sz="1200" dirty="0"/>
              <a:t> </a:t>
            </a:r>
            <a:r>
              <a:rPr lang="de-DE" sz="1200" dirty="0" err="1"/>
              <a:t>batch</a:t>
            </a:r>
            <a:endParaRPr lang="de-DE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4E2E9675-A68C-7F08-BC06-BF84F715B377}"/>
              </a:ext>
            </a:extLst>
          </p:cNvPr>
          <p:cNvSpPr txBox="1"/>
          <p:nvPr/>
        </p:nvSpPr>
        <p:spPr>
          <a:xfrm>
            <a:off x="5548393" y="2046400"/>
            <a:ext cx="3561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We call the model with the necessary input </a:t>
            </a:r>
            <a:endParaRPr lang="de-DE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EEF387CD-B204-75D6-3BE0-A208DB39BEA2}"/>
              </a:ext>
            </a:extLst>
          </p:cNvPr>
          <p:cNvSpPr txBox="1"/>
          <p:nvPr/>
        </p:nvSpPr>
        <p:spPr>
          <a:xfrm>
            <a:off x="5514639" y="2882233"/>
            <a:ext cx="3561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We</a:t>
            </a:r>
            <a:r>
              <a:rPr lang="de-DE" sz="1200" dirty="0"/>
              <a:t> </a:t>
            </a:r>
            <a:r>
              <a:rPr lang="de-DE" sz="1200" dirty="0" err="1"/>
              <a:t>calculate</a:t>
            </a:r>
            <a:r>
              <a:rPr lang="de-DE" sz="1200" dirty="0"/>
              <a:t> the </a:t>
            </a:r>
            <a:r>
              <a:rPr lang="de-DE" sz="1200" dirty="0" err="1"/>
              <a:t>loss</a:t>
            </a:r>
            <a:r>
              <a:rPr lang="de-DE" sz="1200" dirty="0"/>
              <a:t> </a:t>
            </a:r>
            <a:r>
              <a:rPr lang="de-DE" sz="1200" dirty="0" err="1"/>
              <a:t>using</a:t>
            </a:r>
            <a:r>
              <a:rPr lang="de-DE" sz="1200" dirty="0"/>
              <a:t> the </a:t>
            </a:r>
            <a:r>
              <a:rPr lang="de-DE" sz="1200" dirty="0" err="1"/>
              <a:t>defined</a:t>
            </a:r>
            <a:r>
              <a:rPr lang="de-DE" sz="1200" dirty="0"/>
              <a:t> </a:t>
            </a:r>
            <a:r>
              <a:rPr lang="de-DE" sz="1200" dirty="0" err="1"/>
              <a:t>loss</a:t>
            </a:r>
            <a:r>
              <a:rPr lang="de-DE" sz="1200" dirty="0"/>
              <a:t> </a:t>
            </a:r>
            <a:r>
              <a:rPr lang="de-DE" sz="1200" dirty="0" err="1"/>
              <a:t>function</a:t>
            </a:r>
            <a:endParaRPr lang="de-DE" dirty="0"/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A798FB-0039-61D1-5155-9B014D36DF27}"/>
              </a:ext>
            </a:extLst>
          </p:cNvPr>
          <p:cNvCxnSpPr>
            <a:cxnSpLocks/>
          </p:cNvCxnSpPr>
          <p:nvPr/>
        </p:nvCxnSpPr>
        <p:spPr>
          <a:xfrm>
            <a:off x="2269361" y="3777211"/>
            <a:ext cx="3279032" cy="73195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F1E96E0-E0BF-6723-DFCA-D0D0714521B8}"/>
              </a:ext>
            </a:extLst>
          </p:cNvPr>
          <p:cNvSpPr txBox="1"/>
          <p:nvPr/>
        </p:nvSpPr>
        <p:spPr>
          <a:xfrm>
            <a:off x="5497077" y="3539611"/>
            <a:ext cx="3561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We</a:t>
            </a:r>
            <a:r>
              <a:rPr lang="de-DE" sz="1200" dirty="0"/>
              <a:t> </a:t>
            </a:r>
            <a:r>
              <a:rPr lang="de-DE" sz="1200" dirty="0" err="1"/>
              <a:t>calculate</a:t>
            </a:r>
            <a:r>
              <a:rPr lang="de-DE" sz="1200" dirty="0"/>
              <a:t> the </a:t>
            </a:r>
            <a:r>
              <a:rPr lang="de-DE" sz="1200" dirty="0" err="1"/>
              <a:t>gradients</a:t>
            </a:r>
            <a:r>
              <a:rPr lang="de-DE" sz="1200" dirty="0"/>
              <a:t> for the </a:t>
            </a:r>
            <a:r>
              <a:rPr lang="de-DE" sz="1200" dirty="0" err="1"/>
              <a:t>current</a:t>
            </a:r>
            <a:r>
              <a:rPr lang="de-DE" sz="1200" dirty="0"/>
              <a:t> </a:t>
            </a:r>
            <a:r>
              <a:rPr lang="de-DE" sz="1200" dirty="0" err="1"/>
              <a:t>loss</a:t>
            </a:r>
            <a:r>
              <a:rPr lang="de-DE" sz="1200" dirty="0"/>
              <a:t> via </a:t>
            </a:r>
            <a:r>
              <a:rPr lang="de-DE" sz="1200" dirty="0" err="1"/>
              <a:t>backpropagation</a:t>
            </a:r>
            <a:endParaRPr lang="de-DE" sz="1200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3D1AC09D-2AFC-619B-3E6D-C847395D68D7}"/>
              </a:ext>
            </a:extLst>
          </p:cNvPr>
          <p:cNvSpPr txBox="1"/>
          <p:nvPr/>
        </p:nvSpPr>
        <p:spPr>
          <a:xfrm>
            <a:off x="5543550" y="4248628"/>
            <a:ext cx="35618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We</a:t>
            </a:r>
            <a:r>
              <a:rPr lang="de-DE" sz="1200" dirty="0"/>
              <a:t> update the </a:t>
            </a:r>
            <a:r>
              <a:rPr lang="de-DE" sz="1200" dirty="0" err="1"/>
              <a:t>models</a:t>
            </a:r>
            <a:r>
              <a:rPr lang="de-DE" sz="1200" dirty="0"/>
              <a:t> </a:t>
            </a:r>
            <a:r>
              <a:rPr lang="de-DE" sz="1200" dirty="0" err="1"/>
              <a:t>training</a:t>
            </a:r>
            <a:r>
              <a:rPr lang="de-DE" sz="1200" dirty="0"/>
              <a:t> </a:t>
            </a:r>
            <a:r>
              <a:rPr lang="de-DE" sz="1200" dirty="0" err="1"/>
              <a:t>parameters</a:t>
            </a:r>
            <a:r>
              <a:rPr lang="de-DE" sz="1200" dirty="0"/>
              <a:t> </a:t>
            </a:r>
            <a:r>
              <a:rPr lang="de-DE" sz="1200" dirty="0" err="1"/>
              <a:t>according</a:t>
            </a:r>
            <a:r>
              <a:rPr lang="de-DE" sz="1200" dirty="0"/>
              <a:t> to the </a:t>
            </a:r>
            <a:r>
              <a:rPr lang="de-DE" sz="1200" dirty="0" err="1"/>
              <a:t>gradients</a:t>
            </a:r>
            <a:r>
              <a:rPr lang="de-DE" sz="1200" dirty="0"/>
              <a:t> and the </a:t>
            </a:r>
            <a:r>
              <a:rPr lang="de-DE" sz="1200" dirty="0" err="1"/>
              <a:t>optimizer</a:t>
            </a:r>
            <a:r>
              <a:rPr lang="de-DE" sz="1200" dirty="0"/>
              <a:t> </a:t>
            </a:r>
            <a:r>
              <a:rPr lang="de-DE" sz="1200" dirty="0" err="1"/>
              <a:t>function</a:t>
            </a:r>
            <a:endParaRPr lang="de-DE" sz="1100" dirty="0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E8C6CC03-B6E8-C600-B760-64A99E5CD574}"/>
              </a:ext>
            </a:extLst>
          </p:cNvPr>
          <p:cNvSpPr txBox="1"/>
          <p:nvPr/>
        </p:nvSpPr>
        <p:spPr>
          <a:xfrm>
            <a:off x="454680" y="1342510"/>
            <a:ext cx="35618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/>
              <a:t>One</a:t>
            </a:r>
            <a:r>
              <a:rPr lang="de-DE" sz="1400" dirty="0"/>
              <a:t> step of </a:t>
            </a:r>
            <a:r>
              <a:rPr lang="de-DE" sz="1400" dirty="0" err="1"/>
              <a:t>training</a:t>
            </a:r>
            <a:r>
              <a:rPr lang="de-DE" sz="1400" dirty="0"/>
              <a:t>: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887081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44BD4-26F6-20F2-DB49-046332FD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rafik 31">
            <a:extLst>
              <a:ext uri="{FF2B5EF4-FFF2-40B4-BE49-F238E27FC236}">
                <a16:creationId xmlns:a16="http://schemas.microsoft.com/office/drawing/2014/main" id="{D3C6562A-5008-B94D-613B-87A17E4C6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" y="1915244"/>
            <a:ext cx="4001351" cy="203508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2256B52-9042-1A41-B85F-593425F0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PyTorch</a:t>
            </a:r>
            <a:r>
              <a:rPr lang="en-GB" dirty="0"/>
              <a:t> - Training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7FA034-E8C2-1AA7-E3C0-9369111DE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19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9DB35E1-BCD5-6202-60F8-712DCC7DA0D5}"/>
              </a:ext>
            </a:extLst>
          </p:cNvPr>
          <p:cNvSpPr txBox="1"/>
          <p:nvPr/>
        </p:nvSpPr>
        <p:spPr>
          <a:xfrm>
            <a:off x="5046771" y="1275503"/>
            <a:ext cx="3561853" cy="30246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We need to iterate over multiple epochs </a:t>
            </a:r>
          </a:p>
          <a:p>
            <a:pPr>
              <a:lnSpc>
                <a:spcPts val="2100"/>
              </a:lnSpc>
            </a:pPr>
            <a:endParaRPr lang="en-GB" sz="14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Every epoch is trained using batches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One batch contains one or multiple samples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Larger batches allow faster training</a:t>
            </a:r>
          </a:p>
        </p:txBody>
      </p:sp>
    </p:spTree>
    <p:extLst>
      <p:ext uri="{BB962C8B-B14F-4D97-AF65-F5344CB8AC3E}">
        <p14:creationId xmlns:p14="http://schemas.microsoft.com/office/powerpoint/2010/main" val="6992369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57ADB-8D70-7480-3EBB-150D9924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784813-0F86-C76D-723C-8EEE4DE77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PyTorch</a:t>
            </a:r>
            <a:r>
              <a:rPr lang="en-GB" dirty="0"/>
              <a:t> - </a:t>
            </a:r>
            <a:r>
              <a:rPr lang="en-GB" dirty="0" err="1"/>
              <a:t>Dataloader</a:t>
            </a:r>
            <a:endParaRPr lang="en-GB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BF54AAC-7DED-182F-BB31-3B9EB1D20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20</a:t>
            </a:fld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19D6C6D-D9AC-224A-B95C-59BB1E0AA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8412" y="1558201"/>
            <a:ext cx="2642588" cy="2510459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F75225A-6220-CF30-B542-88D773542222}"/>
              </a:ext>
            </a:extLst>
          </p:cNvPr>
          <p:cNvSpPr txBox="1"/>
          <p:nvPr/>
        </p:nvSpPr>
        <p:spPr>
          <a:xfrm>
            <a:off x="812868" y="4307721"/>
            <a:ext cx="3759132" cy="331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</a:pPr>
            <a:r>
              <a:rPr lang="en-GB" sz="1100" dirty="0"/>
              <a:t>In our case: Dimensions are then (64, 1, 28, 28)</a:t>
            </a:r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D52DF8C2-F598-2126-8647-77F5DA958467}"/>
              </a:ext>
            </a:extLst>
          </p:cNvPr>
          <p:cNvSpPr/>
          <p:nvPr/>
        </p:nvSpPr>
        <p:spPr>
          <a:xfrm>
            <a:off x="2358999" y="4157062"/>
            <a:ext cx="545566" cy="215153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4BA8D18-19BA-1BDF-4EAD-202E0829FDA9}"/>
              </a:ext>
            </a:extLst>
          </p:cNvPr>
          <p:cNvSpPr txBox="1"/>
          <p:nvPr/>
        </p:nvSpPr>
        <p:spPr>
          <a:xfrm>
            <a:off x="5046771" y="1275503"/>
            <a:ext cx="3561853" cy="30246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We need to iterate over multiple epochs </a:t>
            </a:r>
          </a:p>
          <a:p>
            <a:pPr>
              <a:lnSpc>
                <a:spcPts val="2100"/>
              </a:lnSpc>
            </a:pPr>
            <a:endParaRPr lang="en-GB" sz="14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Every epoch is trained using batches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One batch contains one or multiple samples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Larger batches allow faster training</a:t>
            </a:r>
          </a:p>
        </p:txBody>
      </p:sp>
    </p:spTree>
    <p:extLst>
      <p:ext uri="{BB962C8B-B14F-4D97-AF65-F5344CB8AC3E}">
        <p14:creationId xmlns:p14="http://schemas.microsoft.com/office/powerpoint/2010/main" val="36505792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529AE-5894-F74A-8B80-ADF02DFC8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rafik 31">
            <a:extLst>
              <a:ext uri="{FF2B5EF4-FFF2-40B4-BE49-F238E27FC236}">
                <a16:creationId xmlns:a16="http://schemas.microsoft.com/office/drawing/2014/main" id="{738D183A-279C-ABC0-94A3-922DFF817F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913" b="54669"/>
          <a:stretch>
            <a:fillRect/>
          </a:stretch>
        </p:blipFill>
        <p:spPr>
          <a:xfrm>
            <a:off x="539750" y="2361188"/>
            <a:ext cx="4001351" cy="47656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D0D64A7-D4A8-AB46-931C-1E582CFE1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PyTorch</a:t>
            </a:r>
            <a:r>
              <a:rPr lang="en-GB" dirty="0"/>
              <a:t> – After training: Inference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97E4179-A93E-B439-9F3D-D8FD5490B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21</a:t>
            </a:fld>
            <a:endParaRPr lang="de-DE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4CF7D4A-010A-9995-1F56-AC467D3B6EEA}"/>
              </a:ext>
            </a:extLst>
          </p:cNvPr>
          <p:cNvCxnSpPr>
            <a:cxnSpLocks/>
          </p:cNvCxnSpPr>
          <p:nvPr/>
        </p:nvCxnSpPr>
        <p:spPr>
          <a:xfrm flipV="1">
            <a:off x="3231396" y="2211102"/>
            <a:ext cx="2290992" cy="35570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7CEE9F9F-9857-E5D6-235B-AC58DC307F98}"/>
              </a:ext>
            </a:extLst>
          </p:cNvPr>
          <p:cNvSpPr txBox="1"/>
          <p:nvPr/>
        </p:nvSpPr>
        <p:spPr>
          <a:xfrm>
            <a:off x="5548393" y="2046400"/>
            <a:ext cx="31420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We call the trained model to predict new instances of data</a:t>
            </a:r>
            <a:endParaRPr lang="de-DE" dirty="0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709171F3-41C1-522A-7DEB-4A4BBD98C5DF}"/>
              </a:ext>
            </a:extLst>
          </p:cNvPr>
          <p:cNvSpPr txBox="1"/>
          <p:nvPr/>
        </p:nvSpPr>
        <p:spPr>
          <a:xfrm>
            <a:off x="605354" y="1421042"/>
            <a:ext cx="3771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/>
              <a:t>For </a:t>
            </a:r>
            <a:r>
              <a:rPr lang="de-DE" sz="1400" dirty="0" err="1"/>
              <a:t>inference</a:t>
            </a:r>
            <a:r>
              <a:rPr lang="de-DE" sz="1400" dirty="0"/>
              <a:t>, </a:t>
            </a:r>
            <a:r>
              <a:rPr lang="de-DE" sz="1400" dirty="0" err="1"/>
              <a:t>we</a:t>
            </a:r>
            <a:r>
              <a:rPr lang="de-DE" sz="1400" dirty="0"/>
              <a:t> </a:t>
            </a:r>
            <a:r>
              <a:rPr lang="de-DE" sz="1400" dirty="0" err="1"/>
              <a:t>only</a:t>
            </a:r>
            <a:r>
              <a:rPr lang="de-DE" sz="1400" dirty="0"/>
              <a:t> </a:t>
            </a:r>
            <a:r>
              <a:rPr lang="de-DE" sz="1400" dirty="0" err="1"/>
              <a:t>need</a:t>
            </a:r>
            <a:r>
              <a:rPr lang="de-DE" sz="1400" dirty="0"/>
              <a:t> to </a:t>
            </a:r>
            <a:r>
              <a:rPr lang="de-DE" sz="1400" dirty="0" err="1"/>
              <a:t>call</a:t>
            </a:r>
            <a:r>
              <a:rPr lang="de-DE" sz="1400" dirty="0"/>
              <a:t> the </a:t>
            </a:r>
            <a:r>
              <a:rPr lang="de-DE" sz="1400" dirty="0" err="1"/>
              <a:t>trained</a:t>
            </a:r>
            <a:r>
              <a:rPr lang="de-DE" sz="1400" dirty="0"/>
              <a:t> </a:t>
            </a:r>
            <a:r>
              <a:rPr lang="de-DE" sz="1400" dirty="0" err="1"/>
              <a:t>model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5898092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B056B-9837-5896-DE14-736DEE323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E41C72D5-6B0F-27CA-F870-EE74E5ABF0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86" y="393781"/>
            <a:ext cx="4418330" cy="441833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94C6D3E-94B6-347E-E3F3-BC39402A1D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40"/>
          <a:stretch>
            <a:fillRect/>
          </a:stretch>
        </p:blipFill>
        <p:spPr>
          <a:xfrm>
            <a:off x="163186" y="393781"/>
            <a:ext cx="4418330" cy="405425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A4484CB-FE65-0E7C-D6EB-0D0087ED0317}"/>
              </a:ext>
            </a:extLst>
          </p:cNvPr>
          <p:cNvSpPr txBox="1"/>
          <p:nvPr/>
        </p:nvSpPr>
        <p:spPr>
          <a:xfrm>
            <a:off x="5519867" y="1729964"/>
            <a:ext cx="26175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b="1" dirty="0"/>
              <a:t>How </a:t>
            </a:r>
            <a:r>
              <a:rPr lang="de-DE" sz="1400" b="1" dirty="0" err="1"/>
              <a:t>could</a:t>
            </a:r>
            <a:r>
              <a:rPr lang="de-DE" sz="1400" b="1" dirty="0"/>
              <a:t> </a:t>
            </a:r>
            <a:r>
              <a:rPr lang="de-DE" sz="1400" b="1" dirty="0" err="1"/>
              <a:t>we</a:t>
            </a:r>
            <a:r>
              <a:rPr lang="de-DE" sz="1400" b="1" dirty="0"/>
              <a:t> </a:t>
            </a:r>
            <a:r>
              <a:rPr lang="de-DE" sz="1400" b="1" dirty="0" err="1"/>
              <a:t>add</a:t>
            </a:r>
            <a:r>
              <a:rPr lang="de-DE" sz="1400" b="1" dirty="0"/>
              <a:t> an additional </a:t>
            </a:r>
            <a:r>
              <a:rPr lang="de-DE" sz="1400" b="1" dirty="0" err="1"/>
              <a:t>layer</a:t>
            </a:r>
            <a:r>
              <a:rPr lang="de-DE" sz="1400" b="1" dirty="0"/>
              <a:t>?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DB7F5C-B9E9-21A1-4D4C-F17B45B8E79B}"/>
              </a:ext>
            </a:extLst>
          </p:cNvPr>
          <p:cNvSpPr txBox="1"/>
          <p:nvPr/>
        </p:nvSpPr>
        <p:spPr>
          <a:xfrm>
            <a:off x="5519867" y="2814965"/>
            <a:ext cx="261752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b="1" dirty="0" err="1"/>
              <a:t>What</a:t>
            </a:r>
            <a:r>
              <a:rPr lang="de-DE" sz="1400" b="1" dirty="0"/>
              <a:t> </a:t>
            </a:r>
            <a:r>
              <a:rPr lang="de-DE" sz="1400" b="1" dirty="0" err="1"/>
              <a:t>would</a:t>
            </a:r>
            <a:r>
              <a:rPr lang="de-DE" sz="1400" b="1" dirty="0"/>
              <a:t> </a:t>
            </a:r>
            <a:r>
              <a:rPr lang="de-DE" sz="1400" b="1" dirty="0" err="1"/>
              <a:t>we</a:t>
            </a:r>
            <a:r>
              <a:rPr lang="de-DE" sz="1400" b="1" dirty="0"/>
              <a:t> </a:t>
            </a:r>
            <a:r>
              <a:rPr lang="de-DE" sz="1400" b="1" dirty="0" err="1"/>
              <a:t>need</a:t>
            </a:r>
            <a:r>
              <a:rPr lang="de-DE" sz="1400" b="1" dirty="0"/>
              <a:t> to change to go </a:t>
            </a:r>
            <a:r>
              <a:rPr lang="de-DE" sz="1400" b="1" dirty="0" err="1"/>
              <a:t>from</a:t>
            </a:r>
            <a:r>
              <a:rPr lang="de-DE" sz="1400" b="1" dirty="0"/>
              <a:t> </a:t>
            </a:r>
            <a:r>
              <a:rPr lang="de-DE" sz="1400" b="1" dirty="0" err="1"/>
              <a:t>this</a:t>
            </a:r>
            <a:r>
              <a:rPr lang="de-DE" sz="1400" b="1" dirty="0"/>
              <a:t> to a CNN?</a:t>
            </a:r>
          </a:p>
        </p:txBody>
      </p:sp>
    </p:spTree>
    <p:extLst>
      <p:ext uri="{BB962C8B-B14F-4D97-AF65-F5344CB8AC3E}">
        <p14:creationId xmlns:p14="http://schemas.microsoft.com/office/powerpoint/2010/main" val="7366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BAM_16zu9_master">
  <a:themeElements>
    <a:clrScheme name="BAM">
      <a:dk1>
        <a:srgbClr val="000000"/>
      </a:dk1>
      <a:lt1>
        <a:sysClr val="window" lastClr="FFFFFF"/>
      </a:lt1>
      <a:dk2>
        <a:srgbClr val="002832"/>
      </a:dk2>
      <a:lt2>
        <a:srgbClr val="FFFFFF"/>
      </a:lt2>
      <a:accent1>
        <a:srgbClr val="D2001E"/>
      </a:accent1>
      <a:accent2>
        <a:srgbClr val="501919"/>
      </a:accent2>
      <a:accent3>
        <a:srgbClr val="00AFF0"/>
      </a:accent3>
      <a:accent4>
        <a:srgbClr val="00556E"/>
      </a:accent4>
      <a:accent5>
        <a:srgbClr val="8CB40F"/>
      </a:accent5>
      <a:accent6>
        <a:srgbClr val="FFFF00"/>
      </a:accent6>
      <a:hlink>
        <a:srgbClr val="002832"/>
      </a:hlink>
      <a:folHlink>
        <a:srgbClr val="002832"/>
      </a:folHlink>
    </a:clrScheme>
    <a:fontScheme name="BAM Tex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>
          <a:lnSpc>
            <a:spcPts val="2100"/>
          </a:lnSpc>
          <a:defRPr sz="1600" dirty="0"/>
        </a:defPPr>
      </a:lstStyle>
    </a:txDef>
  </a:objectDefaults>
  <a:extraClrSchemeLst>
    <a:extraClrScheme>
      <a:clrScheme name="BAM Farben">
        <a:dk1>
          <a:sysClr val="windowText" lastClr="000000"/>
        </a:dk1>
        <a:lt1>
          <a:sysClr val="window" lastClr="FFFFFF"/>
        </a:lt1>
        <a:dk2>
          <a:srgbClr val="002832"/>
        </a:dk2>
        <a:lt2>
          <a:srgbClr val="FFFFFF"/>
        </a:lt2>
        <a:accent1>
          <a:srgbClr val="D2001E"/>
        </a:accent1>
        <a:accent2>
          <a:srgbClr val="501919"/>
        </a:accent2>
        <a:accent3>
          <a:srgbClr val="00AFF0"/>
        </a:accent3>
        <a:accent4>
          <a:srgbClr val="00556E"/>
        </a:accent4>
        <a:accent5>
          <a:srgbClr val="8CB40F"/>
        </a:accent5>
        <a:accent6>
          <a:srgbClr val="FFFF00"/>
        </a:accent6>
        <a:hlink>
          <a:srgbClr val="002832"/>
        </a:hlink>
        <a:folHlink>
          <a:srgbClr val="002832"/>
        </a:folHlink>
      </a:clrScheme>
    </a:extraClrScheme>
  </a:extraClrSchemeLst>
  <a:extLst>
    <a:ext uri="{05A4C25C-085E-4340-85A3-A5531E510DB2}">
      <thm15:themeFamily xmlns:thm15="http://schemas.microsoft.com/office/thememl/2012/main" name="BAM_16zu9_master" id="{C9821BEF-2ACB-2B4B-8DCE-EE3870480A58}" vid="{C73E6368-F41D-804E-8BA9-C0FF5A538FBE}"/>
    </a:ext>
  </a:extLst>
</a:theme>
</file>

<file path=ppt/theme/theme2.xml><?xml version="1.0" encoding="utf-8"?>
<a:theme xmlns:a="http://schemas.openxmlformats.org/drawingml/2006/main" name="BAM - Master">
  <a:themeElements>
    <a:clrScheme name="BAM">
      <a:dk1>
        <a:srgbClr val="002832"/>
      </a:dk1>
      <a:lt1>
        <a:sysClr val="window" lastClr="FFFFFF"/>
      </a:lt1>
      <a:dk2>
        <a:srgbClr val="002832"/>
      </a:dk2>
      <a:lt2>
        <a:srgbClr val="FFFFFF"/>
      </a:lt2>
      <a:accent1>
        <a:srgbClr val="D2001E"/>
      </a:accent1>
      <a:accent2>
        <a:srgbClr val="501919"/>
      </a:accent2>
      <a:accent3>
        <a:srgbClr val="00AFF0"/>
      </a:accent3>
      <a:accent4>
        <a:srgbClr val="00556E"/>
      </a:accent4>
      <a:accent5>
        <a:srgbClr val="8CB40F"/>
      </a:accent5>
      <a:accent6>
        <a:srgbClr val="FFDC00"/>
      </a:accent6>
      <a:hlink>
        <a:srgbClr val="DC2328"/>
      </a:hlink>
      <a:folHlink>
        <a:srgbClr val="00556E"/>
      </a:folHlink>
    </a:clrScheme>
    <a:fontScheme name="BAM Tex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>
          <a:lnSpc>
            <a:spcPts val="2100"/>
          </a:lnSpc>
          <a:defRPr sz="1600" dirty="0"/>
        </a:defPPr>
      </a:lstStyle>
    </a:txDef>
  </a:objectDefaults>
  <a:extraClrSchemeLst>
    <a:extraClrScheme>
      <a:clrScheme name="BAM Farben">
        <a:dk1>
          <a:sysClr val="windowText" lastClr="000000"/>
        </a:dk1>
        <a:lt1>
          <a:sysClr val="window" lastClr="FFFFFF"/>
        </a:lt1>
        <a:dk2>
          <a:srgbClr val="002832"/>
        </a:dk2>
        <a:lt2>
          <a:srgbClr val="FFFFFF"/>
        </a:lt2>
        <a:accent1>
          <a:srgbClr val="D2001E"/>
        </a:accent1>
        <a:accent2>
          <a:srgbClr val="501919"/>
        </a:accent2>
        <a:accent3>
          <a:srgbClr val="00AFF0"/>
        </a:accent3>
        <a:accent4>
          <a:srgbClr val="00556E"/>
        </a:accent4>
        <a:accent5>
          <a:srgbClr val="8CB40F"/>
        </a:accent5>
        <a:accent6>
          <a:srgbClr val="FFDC00"/>
        </a:accent6>
        <a:hlink>
          <a:srgbClr val="002832"/>
        </a:hlink>
        <a:folHlink>
          <a:srgbClr val="002832"/>
        </a:folHlink>
      </a:clrScheme>
    </a:extraClrScheme>
  </a:extraClrScheme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BAM_16zu9</Template>
  <TotalTime>0</TotalTime>
  <Words>1760</Words>
  <Application>Microsoft Office PowerPoint</Application>
  <PresentationFormat>Bildschirmpräsentation (16:9)</PresentationFormat>
  <Paragraphs>397</Paragraphs>
  <Slides>22</Slides>
  <Notes>12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8" baseType="lpstr">
      <vt:lpstr>.AppleSystemUIFont</vt:lpstr>
      <vt:lpstr>Arial</vt:lpstr>
      <vt:lpstr>Calibri</vt:lpstr>
      <vt:lpstr>Verdana</vt:lpstr>
      <vt:lpstr>Wingdings</vt:lpstr>
      <vt:lpstr>BAM_16zu9_master</vt:lpstr>
      <vt:lpstr>Your first Neural Network in PyTorch  –  An Introduction</vt:lpstr>
      <vt:lpstr>We will use existing code</vt:lpstr>
      <vt:lpstr>What we will do today</vt:lpstr>
      <vt:lpstr>General approach to data centric modeling</vt:lpstr>
      <vt:lpstr>Specific example today</vt:lpstr>
      <vt:lpstr>An illustration</vt:lpstr>
      <vt:lpstr>Data creation</vt:lpstr>
      <vt:lpstr>Confusion Matrix – Evaluation Metrics </vt:lpstr>
      <vt:lpstr>Confusion Matrix – Evaluation Metrics </vt:lpstr>
      <vt:lpstr>Confusion Matrix – Evaluation Metrics </vt:lpstr>
      <vt:lpstr>MNIST dataset for training for our example</vt:lpstr>
      <vt:lpstr>PyTorch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PyTorch - Training</vt:lpstr>
      <vt:lpstr>PyTorch - Training</vt:lpstr>
      <vt:lpstr>PyTorch - Dataloader</vt:lpstr>
      <vt:lpstr>PyTorch – After training: Inference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Müller, Simon</dc:creator>
  <cp:lastModifiedBy>Müller, Simon</cp:lastModifiedBy>
  <cp:revision>124</cp:revision>
  <dcterms:created xsi:type="dcterms:W3CDTF">2026-08-19T12:05:13Z</dcterms:created>
  <dcterms:modified xsi:type="dcterms:W3CDTF">2026-09-04T12:13:13Z</dcterms:modified>
  <cp:category>Präsentation</cp:category>
  <cp:contentStatus>2017-04-11</cp:contentStatus>
</cp:coreProperties>
</file>