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83" r:id="rId2"/>
    <p:sldId id="273" r:id="rId3"/>
    <p:sldId id="257" r:id="rId4"/>
    <p:sldId id="258" r:id="rId5"/>
    <p:sldId id="260" r:id="rId6"/>
    <p:sldId id="261" r:id="rId7"/>
    <p:sldId id="269" r:id="rId8"/>
    <p:sldId id="275" r:id="rId9"/>
    <p:sldId id="277" r:id="rId10"/>
    <p:sldId id="276" r:id="rId11"/>
    <p:sldId id="262" r:id="rId12"/>
    <p:sldId id="284" r:id="rId13"/>
    <p:sldId id="268" r:id="rId14"/>
    <p:sldId id="274" r:id="rId15"/>
    <p:sldId id="267" r:id="rId16"/>
    <p:sldId id="288" r:id="rId17"/>
    <p:sldId id="289" r:id="rId18"/>
    <p:sldId id="286" r:id="rId19"/>
    <p:sldId id="287" r:id="rId20"/>
    <p:sldId id="279" r:id="rId21"/>
    <p:sldId id="290" r:id="rId22"/>
    <p:sldId id="291" r:id="rId23"/>
    <p:sldId id="278" r:id="rId24"/>
    <p:sldId id="292" r:id="rId25"/>
    <p:sldId id="293" r:id="rId26"/>
    <p:sldId id="265" r:id="rId27"/>
    <p:sldId id="281" r:id="rId28"/>
    <p:sldId id="282" r:id="rId29"/>
    <p:sldId id="271" r:id="rId30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2" userDrawn="1">
          <p15:clr>
            <a:srgbClr val="A4A3A4"/>
          </p15:clr>
        </p15:guide>
        <p15:guide id="2" orient="horz" pos="690" userDrawn="1">
          <p15:clr>
            <a:srgbClr val="A4A3A4"/>
          </p15:clr>
        </p15:guide>
        <p15:guide id="5" orient="horz" pos="735" userDrawn="1">
          <p15:clr>
            <a:srgbClr val="A4A3A4"/>
          </p15:clr>
        </p15:guide>
        <p15:guide id="6" orient="horz" pos="2845" userDrawn="1">
          <p15:clr>
            <a:srgbClr val="A4A3A4"/>
          </p15:clr>
        </p15:guide>
        <p15:guide id="7" pos="340">
          <p15:clr>
            <a:srgbClr val="A4A3A4"/>
          </p15:clr>
        </p15:guide>
        <p15:guide id="8" pos="5420">
          <p15:clr>
            <a:srgbClr val="A4A3A4"/>
          </p15:clr>
        </p15:guide>
        <p15:guide id="9" pos="2971" userDrawn="1">
          <p15:clr>
            <a:srgbClr val="A4A3A4"/>
          </p15:clr>
        </p15:guide>
        <p15:guide id="10" pos="2812" userDrawn="1">
          <p15:clr>
            <a:srgbClr val="A4A3A4"/>
          </p15:clr>
        </p15:guide>
        <p15:guide id="12" pos="4536" userDrawn="1">
          <p15:clr>
            <a:srgbClr val="A4A3A4"/>
          </p15:clr>
        </p15:guide>
        <p15:guide id="13" pos="2080">
          <p15:clr>
            <a:srgbClr val="A4A3A4"/>
          </p15:clr>
        </p15:guide>
        <p15:guide id="14" pos="1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4646"/>
    <a:srgbClr val="181818"/>
    <a:srgbClr val="D1DBC9"/>
    <a:srgbClr val="F1F1F1"/>
    <a:srgbClr val="C9F6AB"/>
    <a:srgbClr val="FFB2AC"/>
    <a:srgbClr val="D2DFC5"/>
    <a:srgbClr val="B11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974" autoAdjust="0"/>
  </p:normalViewPr>
  <p:slideViewPr>
    <p:cSldViewPr snapToGrid="0" snapToObjects="1" showGuides="1">
      <p:cViewPr varScale="1">
        <p:scale>
          <a:sx n="124" d="100"/>
          <a:sy n="124" d="100"/>
        </p:scale>
        <p:origin x="1182" y="96"/>
      </p:cViewPr>
      <p:guideLst>
        <p:guide orient="horz" pos="1552"/>
        <p:guide orient="horz" pos="690"/>
        <p:guide orient="horz" pos="735"/>
        <p:guide orient="horz" pos="2845"/>
        <p:guide pos="340"/>
        <p:guide pos="5420"/>
        <p:guide pos="2971"/>
        <p:guide pos="2812"/>
        <p:guide pos="4536"/>
        <p:guide pos="2080"/>
        <p:guide pos="179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5BC77-E589-FC43-842C-314DEB76EF88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BCADE-75F8-C143-8D6A-11EFEA56B0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94934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DCD43-2D46-4F8F-A5DD-26B42E953E0E}" type="datetimeFigureOut">
              <a:rPr lang="de-DE" smtClean="0"/>
              <a:t>07.09.2026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D62D0-23E2-4DD5-9BB6-D6C7194C92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478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machine-learning/epoch-in-machine-learning/" TargetMode="External"/><Relationship Id="rId3" Type="http://schemas.openxmlformats.org/officeDocument/2006/relationships/hyperlink" Target="https://medium.com/syntaxerrorpub/what-are-steps-epochs-and-batch-size-in-deep-learning-5c942539a5f8" TargetMode="External"/><Relationship Id="rId7" Type="http://schemas.openxmlformats.org/officeDocument/2006/relationships/hyperlink" Target="https://www.eimt.edu.eu/difference-between-epoch-and-batch-machine-learning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1EGnVNd6b6Q&amp;t=154" TargetMode="External"/><Relationship Id="rId5" Type="http://schemas.openxmlformats.org/officeDocument/2006/relationships/hyperlink" Target="https://www.youtube.com/watch?v=TcsrNmZNGLE&amp;t=28" TargetMode="External"/><Relationship Id="rId10" Type="http://schemas.openxmlformats.org/officeDocument/2006/relationships/hyperlink" Target="https://medium.com/@akankshaverma136/epochs-batch-and-iterations-in-deep-learning-ed319565e85e" TargetMode="External"/><Relationship Id="rId4" Type="http://schemas.openxmlformats.org/officeDocument/2006/relationships/hyperlink" Target="https://www.youtube.com/shorts/O7OIG8XQqgw" TargetMode="External"/><Relationship Id="rId9" Type="http://schemas.openxmlformats.org/officeDocument/2006/relationships/hyperlink" Target="https://www.youtube.com/watch?v=NFLlXE-6vno" TargetMode="External"/></Relationships>
</file>

<file path=ppt/notesSlides/_rels/notes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machine-learning/epoch-in-machine-learning/" TargetMode="External"/><Relationship Id="rId3" Type="http://schemas.openxmlformats.org/officeDocument/2006/relationships/hyperlink" Target="https://medium.com/syntaxerrorpub/what-are-steps-epochs-and-batch-size-in-deep-learning-5c942539a5f8" TargetMode="External"/><Relationship Id="rId7" Type="http://schemas.openxmlformats.org/officeDocument/2006/relationships/hyperlink" Target="https://www.eimt.edu.eu/difference-between-epoch-and-batch-machine-learning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1EGnVNd6b6Q&amp;t=154" TargetMode="External"/><Relationship Id="rId5" Type="http://schemas.openxmlformats.org/officeDocument/2006/relationships/hyperlink" Target="https://www.youtube.com/watch?v=TcsrNmZNGLE&amp;t=28" TargetMode="External"/><Relationship Id="rId10" Type="http://schemas.openxmlformats.org/officeDocument/2006/relationships/hyperlink" Target="https://medium.com/@akankshaverma136/epochs-batch-and-iterations-in-deep-learning-ed319565e85e" TargetMode="External"/><Relationship Id="rId4" Type="http://schemas.openxmlformats.org/officeDocument/2006/relationships/hyperlink" Target="https://www.youtube.com/shorts/O7OIG8XQqgw" TargetMode="External"/><Relationship Id="rId9" Type="http://schemas.openxmlformats.org/officeDocument/2006/relationships/hyperlink" Target="https://www.youtube.com/watch?v=NFLlXE-6vno" TargetMode="External"/></Relationships>
</file>

<file path=ppt/notesSlides/_rels/notes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machine-learning/epoch-in-machine-learning/" TargetMode="External"/><Relationship Id="rId3" Type="http://schemas.openxmlformats.org/officeDocument/2006/relationships/hyperlink" Target="https://medium.com/syntaxerrorpub/what-are-steps-epochs-and-batch-size-in-deep-learning-5c942539a5f8" TargetMode="External"/><Relationship Id="rId7" Type="http://schemas.openxmlformats.org/officeDocument/2006/relationships/hyperlink" Target="https://www.eimt.edu.eu/difference-between-epoch-and-batch-machine-learning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youtube.com/watch?v=1EGnVNd6b6Q&amp;t=154" TargetMode="External"/><Relationship Id="rId5" Type="http://schemas.openxmlformats.org/officeDocument/2006/relationships/hyperlink" Target="https://www.youtube.com/watch?v=TcsrNmZNGLE&amp;t=28" TargetMode="External"/><Relationship Id="rId10" Type="http://schemas.openxmlformats.org/officeDocument/2006/relationships/hyperlink" Target="https://medium.com/@akankshaverma136/epochs-batch-and-iterations-in-deep-learning-ed319565e85e" TargetMode="External"/><Relationship Id="rId4" Type="http://schemas.openxmlformats.org/officeDocument/2006/relationships/hyperlink" Target="https://www.youtube.com/shorts/O7OIG8XQqgw" TargetMode="External"/><Relationship Id="rId9" Type="http://schemas.openxmlformats.org/officeDocument/2006/relationships/hyperlink" Target="https://www.youtube.com/watch?v=NFLlXE-6vno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More emphasis on machine learning! When does it make sense, what can it do?</a:t>
            </a:r>
          </a:p>
          <a:p>
            <a:r>
              <a:rPr lang="en-GB" dirty="0"/>
              <a:t>Data key point! They are not there out of thin air!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847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502B1-8F12-468C-1314-84502417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A620B92-0473-C049-BC93-7B9AE5DFD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17B4D1E-3682-826C-2FD9-CB31BDA86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AA9453-FD04-BBBA-8E63-E9ED496E6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9198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095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Methods = functions that belong to objects or classes</a:t>
            </a:r>
          </a:p>
          <a:p>
            <a:endParaRPr lang="en-GB" dirty="0"/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Tracks Parameters: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biases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de-DE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Enables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.to() and .</a:t>
            </a:r>
            <a:r>
              <a:rPr lang="de-DE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cuda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all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variables to a GPU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de-DE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Manages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Training Modes: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switch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and .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5973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nn.Modules</a:t>
            </a:r>
            <a:r>
              <a:rPr lang="en-GB" dirty="0"/>
              <a:t> are python classes that have internal attributes like </a:t>
            </a:r>
            <a:r>
              <a:rPr lang="en-GB" dirty="0" err="1"/>
              <a:t>self.weight</a:t>
            </a:r>
            <a:r>
              <a:rPr lang="en-GB" dirty="0"/>
              <a:t> or </a:t>
            </a:r>
            <a:r>
              <a:rPr lang="en-GB" dirty="0" err="1"/>
              <a:t>self.bias</a:t>
            </a:r>
            <a:r>
              <a:rPr lang="en-GB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dirty="0"/>
              <a:t>these are tuned automatically with internal functions and do not have to be defined or given every time this module is called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counterpart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 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somewhere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dirty="0"/>
              <a:t>Easier than using </a:t>
            </a:r>
            <a:r>
              <a:rPr lang="en-GB" dirty="0" err="1"/>
              <a:t>nn.functional.linear</a:t>
            </a:r>
            <a:r>
              <a:rPr lang="en-GB" dirty="0"/>
              <a:t>(), which would just be a function. But: more flexibility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4725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Questions: </a:t>
            </a:r>
          </a:p>
          <a:p>
            <a:r>
              <a:rPr lang="en-GB" dirty="0"/>
              <a:t>What are input dimensions? 784</a:t>
            </a:r>
          </a:p>
          <a:p>
            <a:r>
              <a:rPr lang="en-GB" dirty="0"/>
              <a:t>What are the output dimensions? 10</a:t>
            </a:r>
          </a:p>
          <a:p>
            <a:r>
              <a:rPr lang="en-GB" dirty="0"/>
              <a:t>What are the hidden dimensions? arbitrary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5943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36400-E7AC-BECC-F669-7EA9C09FC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50699E7-35EC-304C-B960-949770237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EF63030-4521-0FD3-80CE-641D7FB9B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Questions: </a:t>
            </a:r>
          </a:p>
          <a:p>
            <a:r>
              <a:rPr lang="en-GB" dirty="0"/>
              <a:t>What are input dimensions? 784</a:t>
            </a:r>
          </a:p>
          <a:p>
            <a:r>
              <a:rPr lang="en-GB" dirty="0"/>
              <a:t>What are the output dimensions? 10</a:t>
            </a:r>
          </a:p>
          <a:p>
            <a:r>
              <a:rPr lang="en-GB" dirty="0"/>
              <a:t>What are the hidden dimensions? arbitrary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7FE58B-CEA7-EB51-E07E-E59A6F414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6685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B3ADB-DCD7-108D-BB0C-DF6649BCF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802C2BE-30DA-9CF7-77D3-B5F7BB8A2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A46FB13-D34B-63C5-FCF9-58C4E8DE7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Questions: </a:t>
            </a:r>
          </a:p>
          <a:p>
            <a:r>
              <a:rPr lang="en-GB" dirty="0"/>
              <a:t>What are input dimensions? 784</a:t>
            </a:r>
          </a:p>
          <a:p>
            <a:r>
              <a:rPr lang="en-GB" dirty="0"/>
              <a:t>What are the output dimensions? 10</a:t>
            </a:r>
          </a:p>
          <a:p>
            <a:r>
              <a:rPr lang="en-GB" dirty="0"/>
              <a:t>What are the hidden dimensions? arbitrary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6C26FB-EA78-2C8C-2026-A5D4635B1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0508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489C9-A163-B344-08A0-7733D5F6E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3F0F160-D0C2-438B-D4D4-8843D8704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94908C8-E188-921D-781A-EC7B016AE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Questions: </a:t>
            </a:r>
          </a:p>
          <a:p>
            <a:r>
              <a:rPr lang="en-GB" dirty="0"/>
              <a:t>What are input dimensions? 784</a:t>
            </a:r>
          </a:p>
          <a:p>
            <a:r>
              <a:rPr lang="en-GB" dirty="0"/>
              <a:t>What are the output dimensions? 10</a:t>
            </a:r>
          </a:p>
          <a:p>
            <a:r>
              <a:rPr lang="en-GB" dirty="0"/>
              <a:t>What are the hidden dimensions? arbitrary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9AC266-3608-3616-79E7-5D0389E89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604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82051-9A42-4B27-F47A-E631282A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ACBC20D-4069-F134-61D7-A3FFA1CDB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502A56E-1379-0DFB-57F0-A19E4B61A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Questions: </a:t>
            </a:r>
          </a:p>
          <a:p>
            <a:r>
              <a:rPr lang="en-GB" dirty="0"/>
              <a:t>What are input dimensions? 784</a:t>
            </a:r>
          </a:p>
          <a:p>
            <a:r>
              <a:rPr lang="en-GB" dirty="0"/>
              <a:t>What are the output dimensions? 10</a:t>
            </a:r>
          </a:p>
          <a:p>
            <a:r>
              <a:rPr lang="en-GB" dirty="0"/>
              <a:t>What are the hidden dimensions? arbitrary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DEFB96-D304-99AA-164B-D04EC2F6D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0793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nn.Modules</a:t>
            </a:r>
            <a:r>
              <a:rPr lang="en-GB" dirty="0"/>
              <a:t> are python classes that have internal attributes like </a:t>
            </a:r>
            <a:r>
              <a:rPr lang="en-GB" dirty="0" err="1"/>
              <a:t>self.weight</a:t>
            </a:r>
            <a:r>
              <a:rPr lang="en-GB" dirty="0"/>
              <a:t> or </a:t>
            </a:r>
            <a:r>
              <a:rPr lang="en-GB" dirty="0" err="1"/>
              <a:t>self.bias</a:t>
            </a:r>
            <a:r>
              <a:rPr lang="en-GB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dirty="0"/>
              <a:t>these are tuned automatically with internal functions and do not have to be defined or given every time this module is called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counterpart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 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somewhere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dirty="0"/>
              <a:t>Easier than using </a:t>
            </a:r>
            <a:r>
              <a:rPr lang="en-GB" dirty="0" err="1"/>
              <a:t>nn.functional.linear</a:t>
            </a:r>
            <a:r>
              <a:rPr lang="en-GB" dirty="0"/>
              <a:t>(), which would just be a function. But: more flexibility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2946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0E44-5CFF-AB08-A046-FB3BABFB2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91BA921-D3B5-80C6-7384-E65ED2DD1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3E516B6-E8E4-539B-E567-94EC07D01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nn.Modules</a:t>
            </a:r>
            <a:r>
              <a:rPr lang="en-GB" dirty="0"/>
              <a:t> are python classes that have internal attributes like </a:t>
            </a:r>
            <a:r>
              <a:rPr lang="en-GB" dirty="0" err="1"/>
              <a:t>self.weight</a:t>
            </a:r>
            <a:r>
              <a:rPr lang="en-GB" dirty="0"/>
              <a:t> or </a:t>
            </a:r>
            <a:r>
              <a:rPr lang="en-GB" dirty="0" err="1"/>
              <a:t>self.bias</a:t>
            </a:r>
            <a:r>
              <a:rPr lang="en-GB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dirty="0"/>
              <a:t>these are tuned automatically with internal functions and do not have to be defined or given every time this module is called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counterpart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 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somewhere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dirty="0"/>
              <a:t>Easier than using </a:t>
            </a:r>
            <a:r>
              <a:rPr lang="en-GB" dirty="0" err="1"/>
              <a:t>nn.functional.linear</a:t>
            </a:r>
            <a:r>
              <a:rPr lang="en-GB" dirty="0"/>
              <a:t>(), which would just be a function. But: more flexibility</a:t>
            </a:r>
          </a:p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EF489F-2D22-FA89-D53D-B8F518D35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347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80CE-BFA6-A6F0-D011-ACFBA7C48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F84418A-94FF-31D2-14DD-335CE5C4F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D5529E-85E1-8E9A-49FF-77A66157B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nn.Modules</a:t>
            </a:r>
            <a:r>
              <a:rPr lang="en-GB" dirty="0"/>
              <a:t> are python classes that have internal attributes like </a:t>
            </a:r>
            <a:r>
              <a:rPr lang="en-GB" dirty="0" err="1"/>
              <a:t>self.weight</a:t>
            </a:r>
            <a:r>
              <a:rPr lang="en-GB" dirty="0"/>
              <a:t> or </a:t>
            </a:r>
            <a:r>
              <a:rPr lang="en-GB" dirty="0" err="1"/>
              <a:t>self.bias</a:t>
            </a:r>
            <a:r>
              <a:rPr lang="en-GB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dirty="0"/>
              <a:t>these are tuned automatically with internal functions and do not have to be defined or given every time this module is called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counterpart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 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somewhere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dirty="0"/>
              <a:t>Easier than using </a:t>
            </a:r>
            <a:r>
              <a:rPr lang="en-GB" dirty="0" err="1"/>
              <a:t>nn.functional.linear</a:t>
            </a:r>
            <a:r>
              <a:rPr lang="en-GB" dirty="0"/>
              <a:t>(), which would just be a function. But: more flexibility</a:t>
            </a:r>
          </a:p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9FE379-4CF0-52A1-DECF-40366BD11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498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7154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43E90-C74C-51F6-9AA6-DCE7B7DD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6C3E2A-5A26-1E92-DC39-0ABFB612D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98490A-9CBF-32FC-A395-648C2AE19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80CD50-3AFD-02E4-DF25-8BD4058BD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5690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train for multiple “epochs” -&gt; one epoch runs with batches</a:t>
            </a:r>
          </a:p>
          <a:p>
            <a:endParaRPr lang="en-GB" dirty="0"/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Epoch: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sample in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Training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multiple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epochs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accurately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portion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chosen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update internal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Size: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samples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contained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Iteration (</a:t>
            </a:r>
            <a:r>
              <a:rPr lang="de-DE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[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2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3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4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5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6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7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/>
              </a:rPr>
              <a:t>8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535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504C4-B30B-ED3D-C1AC-B05ED508C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0EE5878-E6D9-A962-800F-1AD04EF9B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3C9EA0-643F-45C8-D94E-5DA6CADF9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train for multiple “epochs” -&gt; one epoch runs with batches</a:t>
            </a:r>
          </a:p>
          <a:p>
            <a:endParaRPr lang="en-GB" dirty="0"/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Epoch: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sample in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Training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multiple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epochs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accurately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portion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chosen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update internal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Size: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samples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contained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Iteration (</a:t>
            </a:r>
            <a:r>
              <a:rPr lang="de-DE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[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2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3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4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5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6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7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/>
              </a:rPr>
              <a:t>8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C94653-E802-C63F-C327-3AB8EDD4F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8491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704AD-92CE-D954-D1ED-578EB15BD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AD774DC-5B84-BD6D-E3A9-BA7DD8C29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F4193A-87E3-73E7-F65C-5AD58234E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train for multiple “epochs” -&gt; one epoch runs with batches</a:t>
            </a:r>
          </a:p>
          <a:p>
            <a:endParaRPr lang="en-GB" dirty="0"/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Epoch: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sample in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Training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multiple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epochs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accurately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portion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chosen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update internal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Size: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samples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contained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Iteration (</a:t>
            </a:r>
            <a:r>
              <a:rPr lang="de-DE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updating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weights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[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2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3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4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5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6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7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/>
              </a:rPr>
              <a:t>8</a:t>
            </a:r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439F67-B907-90F5-ABC0-1EA42ED62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0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1"/>
            <a:ext cx="7200000" cy="750166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 dirty="0"/>
              <a:t>TITEL DER PRÄSENTATION</a:t>
            </a:r>
            <a:br>
              <a:rPr lang="de-DE" dirty="0"/>
            </a:br>
            <a:r>
              <a:rPr lang="de-DE" dirty="0"/>
              <a:t>SCHRIFT VERDANA BOLD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728800"/>
            <a:ext cx="7200000" cy="164315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Untertitel (optional), Name des Redners</a:t>
            </a:r>
          </a:p>
          <a:p>
            <a:r>
              <a:rPr lang="de-DE" dirty="0" err="1"/>
              <a:t>Veranstatungstitel</a:t>
            </a:r>
            <a:endParaRPr lang="de-DE" dirty="0"/>
          </a:p>
          <a:p>
            <a:r>
              <a:rPr lang="de-DE" dirty="0" err="1"/>
              <a:t>Verdana</a:t>
            </a:r>
            <a:r>
              <a:rPr lang="de-DE" dirty="0"/>
              <a:t> Regular 24 </a:t>
            </a:r>
            <a:r>
              <a:rPr lang="de-DE" dirty="0" err="1"/>
              <a:t>pt</a:t>
            </a:r>
            <a:r>
              <a:rPr lang="de-DE" dirty="0"/>
              <a:t>, ZAB 30 </a:t>
            </a:r>
            <a:r>
              <a:rPr lang="de-DE" dirty="0" err="1"/>
              <a:t>pt</a:t>
            </a:r>
            <a:endParaRPr lang="de-DE" dirty="0"/>
          </a:p>
          <a:p>
            <a:r>
              <a:rPr lang="de-DE" dirty="0"/>
              <a:t>Maximal vier Zeilen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cxnSp>
        <p:nvCxnSpPr>
          <p:cNvPr id="11" name="Gerade Verbindung 10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Datum</a:t>
            </a:r>
          </a:p>
        </p:txBody>
      </p:sp>
      <p:sp>
        <p:nvSpPr>
          <p:cNvPr id="13" name="Textfeld 12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2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 (ausführlic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cxnSp>
        <p:nvCxnSpPr>
          <p:cNvPr id="13" name="Gerade Verbindung 12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0"/>
            <a:ext cx="8064000" cy="748800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 dirty="0"/>
              <a:t>TITEL DER PRÄSENTATION (AUSFÜHRLICH)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340000"/>
            <a:ext cx="8064000" cy="74880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Untertitel </a:t>
            </a:r>
            <a:r>
              <a:rPr lang="de-DE" dirty="0" err="1"/>
              <a:t>Verdana</a:t>
            </a:r>
            <a:r>
              <a:rPr lang="de-DE" dirty="0"/>
              <a:t> Regular, 24 </a:t>
            </a:r>
            <a:r>
              <a:rPr lang="de-DE" dirty="0" err="1"/>
              <a:t>pt</a:t>
            </a:r>
            <a:r>
              <a:rPr lang="de-DE" dirty="0"/>
              <a:t> ZAB 30 </a:t>
            </a:r>
            <a:r>
              <a:rPr lang="de-DE" dirty="0" err="1"/>
              <a:t>pt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sp>
        <p:nvSpPr>
          <p:cNvPr id="15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3042000"/>
            <a:ext cx="8064000" cy="75388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Auflistung der Beteiligten Personen </a:t>
            </a:r>
            <a:r>
              <a:rPr lang="de-DE" dirty="0" err="1"/>
              <a:t>Verdana</a:t>
            </a:r>
            <a:r>
              <a:rPr lang="de-DE" dirty="0"/>
              <a:t> Regular 16 </a:t>
            </a:r>
            <a:r>
              <a:rPr lang="de-DE" dirty="0" err="1"/>
              <a:t>pt</a:t>
            </a:r>
            <a:r>
              <a:rPr lang="de-DE" dirty="0"/>
              <a:t>, ZAB 21 </a:t>
            </a:r>
            <a:r>
              <a:rPr lang="de-DE" dirty="0" err="1"/>
              <a:t>pt</a:t>
            </a:r>
            <a:endParaRPr lang="de-DE" dirty="0"/>
          </a:p>
          <a:p>
            <a:pPr lvl="0"/>
            <a:endParaRPr lang="de-DE" dirty="0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3579862"/>
            <a:ext cx="6264498" cy="720080"/>
          </a:xfrm>
        </p:spPr>
        <p:txBody>
          <a:bodyPr anchor="b" anchorCtr="0"/>
          <a:lstStyle>
            <a:lvl1pPr>
              <a:lnSpc>
                <a:spcPts val="1500"/>
              </a:lnSpc>
              <a:spcBef>
                <a:spcPts val="0"/>
              </a:spcBef>
              <a:defRPr sz="1200" baseline="0"/>
            </a:lvl1pPr>
            <a:lvl2pPr>
              <a:lnSpc>
                <a:spcPts val="1500"/>
              </a:lnSpc>
              <a:spcBef>
                <a:spcPts val="0"/>
              </a:spcBef>
              <a:defRPr sz="1200"/>
            </a:lvl2pPr>
            <a:lvl3pPr>
              <a:lnSpc>
                <a:spcPts val="1500"/>
              </a:lnSpc>
              <a:spcBef>
                <a:spcPts val="0"/>
              </a:spcBef>
              <a:defRPr sz="1200"/>
            </a:lvl3pPr>
            <a:lvl4pPr>
              <a:lnSpc>
                <a:spcPts val="1500"/>
              </a:lnSpc>
              <a:spcBef>
                <a:spcPts val="0"/>
              </a:spcBef>
              <a:defRPr sz="1200"/>
            </a:lvl4pPr>
            <a:lvl5pPr>
              <a:lnSpc>
                <a:spcPts val="15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de-DE" dirty="0"/>
              <a:t>Auflistung der beteiligten Einrichtungen </a:t>
            </a:r>
            <a:r>
              <a:rPr lang="de-DE" dirty="0" err="1"/>
              <a:t>Verdana</a:t>
            </a:r>
            <a:r>
              <a:rPr lang="de-DE" dirty="0"/>
              <a:t> Regular 12 </a:t>
            </a:r>
            <a:r>
              <a:rPr lang="de-DE" dirty="0" err="1"/>
              <a:t>pt</a:t>
            </a:r>
            <a:r>
              <a:rPr lang="de-DE" dirty="0"/>
              <a:t>, ZAB 15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18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Datum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18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Gliederung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151999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tabLst>
                <a:tab pos="6794500" algn="r"/>
              </a:tabLst>
              <a:defRPr/>
            </a:lvl1pPr>
          </a:lstStyle>
          <a:p>
            <a:pPr lvl="0"/>
            <a:r>
              <a:rPr lang="de-DE" dirty="0"/>
              <a:t>Seitenbeschreibung	5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05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539750" y="1080000"/>
            <a:ext cx="80645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000"/>
            <a:ext cx="9144000" cy="3563111"/>
          </a:xfrm>
          <a:prstGeom prst="rect">
            <a:avLst/>
          </a:prstGeom>
        </p:spPr>
      </p:pic>
      <p:cxnSp>
        <p:nvCxnSpPr>
          <p:cNvPr id="10" name="Gerade Verbindung 9"/>
          <p:cNvCxnSpPr/>
          <p:nvPr userDrawn="1"/>
        </p:nvCxnSpPr>
        <p:spPr>
          <a:xfrm>
            <a:off x="539750" y="1483168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1677600"/>
            <a:ext cx="6822250" cy="748800"/>
          </a:xfrm>
        </p:spPr>
        <p:txBody>
          <a:bodyPr/>
          <a:lstStyle>
            <a:lvl1pPr>
              <a:lnSpc>
                <a:spcPts val="3000"/>
              </a:lnSpc>
              <a:defRPr sz="2400" b="1"/>
            </a:lvl1pPr>
          </a:lstStyle>
          <a:p>
            <a:pPr lvl="0"/>
            <a:r>
              <a:rPr lang="de-DE" dirty="0" err="1"/>
              <a:t>Kapiteltrenner</a:t>
            </a:r>
            <a:endParaRPr lang="de-DE" dirty="0"/>
          </a:p>
          <a:p>
            <a:pPr lvl="0"/>
            <a:r>
              <a:rPr lang="de-DE" dirty="0" err="1"/>
              <a:t>Verdana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24 PT, ZAB 30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9750" y="2440800"/>
            <a:ext cx="6822250" cy="1641600"/>
          </a:xfrm>
        </p:spPr>
        <p:txBody>
          <a:bodyPr/>
          <a:lstStyle>
            <a:lvl1pPr>
              <a:lnSpc>
                <a:spcPts val="3000"/>
              </a:lnSpc>
              <a:defRPr sz="2400"/>
            </a:lvl1pPr>
          </a:lstStyle>
          <a:p>
            <a:pPr lvl="0"/>
            <a:r>
              <a:rPr lang="de-DE" dirty="0"/>
              <a:t>Untertitel </a:t>
            </a:r>
            <a:r>
              <a:rPr lang="de-DE" dirty="0" err="1"/>
              <a:t>Verdana</a:t>
            </a:r>
            <a:r>
              <a:rPr lang="de-DE" dirty="0"/>
              <a:t> Regular 24 </a:t>
            </a:r>
            <a:r>
              <a:rPr lang="de-DE" dirty="0" err="1"/>
              <a:t>pt</a:t>
            </a:r>
            <a:r>
              <a:rPr lang="de-DE" dirty="0"/>
              <a:t>, ZAB 30 </a:t>
            </a:r>
            <a:r>
              <a:rPr lang="de-DE" dirty="0" err="1"/>
              <a:t>pt</a:t>
            </a:r>
            <a:endParaRPr lang="de-DE" dirty="0"/>
          </a:p>
          <a:p>
            <a:pPr lvl="0"/>
            <a:r>
              <a:rPr lang="de-DE" dirty="0"/>
              <a:t>Maximal vier Zeilen</a:t>
            </a:r>
          </a:p>
          <a:p>
            <a:pPr lvl="0"/>
            <a:r>
              <a:rPr lang="de-DE" dirty="0"/>
              <a:t>Textfarbe BAM Schwarz</a:t>
            </a:r>
          </a:p>
        </p:txBody>
      </p:sp>
      <p:sp>
        <p:nvSpPr>
          <p:cNvPr id="12" name="Textfeld 11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98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L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 hasCustomPrompt="1"/>
          </p:nvPr>
        </p:nvSpPr>
        <p:spPr>
          <a:xfrm>
            <a:off x="539750" y="1152000"/>
            <a:ext cx="6822250" cy="3546001"/>
          </a:xfrm>
        </p:spPr>
        <p:txBody>
          <a:bodyPr/>
          <a:lstStyle>
            <a:lvl1pPr marL="270000" indent="-270000">
              <a:spcBef>
                <a:spcPts val="1000"/>
              </a:spcBef>
              <a:buFont typeface="+mj-lt"/>
              <a:buAutoNum type="arabicPeriod"/>
              <a:defRPr/>
            </a:lvl1pPr>
            <a:lvl2pPr marL="270000" indent="-270000">
              <a:spcBef>
                <a:spcPts val="0"/>
              </a:spcBef>
              <a:buFont typeface=".AppleSystemUIFont" charset="-120"/>
              <a:buChar char="–"/>
              <a:defRPr/>
            </a:lvl2pPr>
            <a:lvl3pPr marL="540000" indent="-270000">
              <a:spcBef>
                <a:spcPts val="0"/>
              </a:spcBef>
              <a:defRPr/>
            </a:lvl3pPr>
            <a:lvl4pPr marL="540000">
              <a:spcBef>
                <a:spcPts val="0"/>
              </a:spcBef>
              <a:defRPr/>
            </a:lvl4pPr>
            <a:lvl5pPr marL="810000">
              <a:spcBef>
                <a:spcPts val="0"/>
              </a:spcBef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74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M: kleine Schriftgröß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0000" y="1151999"/>
            <a:ext cx="6480000" cy="3546001"/>
          </a:xfrm>
        </p:spPr>
        <p:txBody>
          <a:bodyPr/>
          <a:lstStyle>
            <a:lvl1pPr marL="270000" indent="-270000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  <a:defRPr sz="1300">
                <a:solidFill>
                  <a:schemeClr val="tx2"/>
                </a:solidFill>
              </a:defRPr>
            </a:lvl1pPr>
            <a:lvl2pPr marL="270000" indent="-270000">
              <a:lnSpc>
                <a:spcPts val="1600"/>
              </a:lnSpc>
              <a:spcBef>
                <a:spcPts val="0"/>
              </a:spcBef>
              <a:buFont typeface=".AppleSystemUIFont" charset="0"/>
              <a:buChar char="–"/>
              <a:defRPr sz="1300">
                <a:solidFill>
                  <a:schemeClr val="tx2"/>
                </a:solidFill>
              </a:defRPr>
            </a:lvl2pPr>
            <a:lvl3pPr marL="540000" indent="-27000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chemeClr val="tx2"/>
                </a:solidFill>
              </a:defRPr>
            </a:lvl3pPr>
            <a:lvl4pPr marL="54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4pPr>
            <a:lvl5pPr marL="81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682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89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8064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40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8"/>
          <p:cNvSpPr>
            <a:spLocks noGrp="1"/>
          </p:cNvSpPr>
          <p:nvPr>
            <p:ph sz="quarter" idx="14"/>
          </p:nvPr>
        </p:nvSpPr>
        <p:spPr>
          <a:xfrm>
            <a:off x="468000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06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 1 z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1152000"/>
            <a:ext cx="2544763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3301750" y="1152000"/>
            <a:ext cx="530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75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6732000" y="1152000"/>
            <a:ext cx="1872000" cy="3546000"/>
          </a:xfrm>
          <a:solidFill>
            <a:srgbClr val="00AFF0"/>
          </a:solidFill>
        </p:spPr>
        <p:txBody>
          <a:bodyPr lIns="72000" tIns="72000" rIns="72000" bIns="72000"/>
          <a:lstStyle>
            <a:lvl1pPr>
              <a:lnSpc>
                <a:spcPts val="12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2pPr>
            <a:lvl3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3pPr>
            <a:lvl4pPr marL="36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4pPr>
            <a:lvl5pPr marL="54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539750" y="1151999"/>
            <a:ext cx="5940000" cy="3546001"/>
          </a:xfrm>
        </p:spPr>
        <p:txBody>
          <a:bodyPr/>
          <a:lstStyle>
            <a:lvl1pPr>
              <a:lnSpc>
                <a:spcPts val="21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ts val="21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ts val="21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ts val="21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ts val="21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539750" y="1188000"/>
            <a:ext cx="3924000" cy="24732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4680250" y="1188000"/>
            <a:ext cx="3924000" cy="24715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8"/>
          </p:nvPr>
        </p:nvSpPr>
        <p:spPr>
          <a:xfrm>
            <a:off x="539750" y="3815999"/>
            <a:ext cx="3924000" cy="882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9"/>
          </p:nvPr>
        </p:nvSpPr>
        <p:spPr>
          <a:xfrm>
            <a:off x="4678363" y="3816000"/>
            <a:ext cx="3924000" cy="88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584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3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3302000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539313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6059488" y="1188000"/>
            <a:ext cx="2545200" cy="20196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9"/>
          </p:nvPr>
        </p:nvSpPr>
        <p:spPr>
          <a:xfrm>
            <a:off x="539750" y="3348000"/>
            <a:ext cx="5302800" cy="133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64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, 4er 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4678113" y="1227600"/>
            <a:ext cx="1854000" cy="15444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/>
          </p:nvPr>
        </p:nvSpPr>
        <p:spPr>
          <a:xfrm>
            <a:off x="6749750" y="1227600"/>
            <a:ext cx="1854000" cy="1544402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5"/>
          </p:nvPr>
        </p:nvSpPr>
        <p:spPr>
          <a:xfrm>
            <a:off x="6750000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8"/>
          <p:cNvSpPr>
            <a:spLocks noGrp="1"/>
          </p:cNvSpPr>
          <p:nvPr>
            <p:ph type="pic" sz="quarter" idx="16"/>
          </p:nvPr>
        </p:nvSpPr>
        <p:spPr>
          <a:xfrm>
            <a:off x="4678113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540000" y="1188000"/>
            <a:ext cx="3923750" cy="3510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122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anzseitig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1080000"/>
            <a:ext cx="91440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Bildfolie</a:t>
            </a:r>
            <a:br>
              <a:rPr lang="de-DE" dirty="0"/>
            </a:br>
            <a:r>
              <a:rPr lang="de-DE" dirty="0"/>
              <a:t>Folie mit nur einem Bild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4"/>
          </p:nvPr>
        </p:nvSpPr>
        <p:spPr>
          <a:xfrm>
            <a:off x="0" y="987574"/>
            <a:ext cx="9144000" cy="38184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4025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6822000" cy="717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Überschrift</a:t>
            </a:r>
            <a:br>
              <a:rPr lang="de-DE" dirty="0"/>
            </a:br>
            <a:r>
              <a:rPr lang="de-DE" dirty="0" err="1"/>
              <a:t>Verdana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, 19 </a:t>
            </a:r>
            <a:r>
              <a:rPr lang="de-DE" dirty="0" err="1"/>
              <a:t>pt</a:t>
            </a:r>
            <a:r>
              <a:rPr lang="de-DE" dirty="0"/>
              <a:t>, ZAB 25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152000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540000" y="4878000"/>
            <a:ext cx="9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2000" y="4878000"/>
            <a:ext cx="576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884000" y="4878000"/>
            <a:ext cx="72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8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3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4" r:id="rId5"/>
    <p:sldLayoutId id="2147483674" r:id="rId6"/>
    <p:sldLayoutId id="2147483672" r:id="rId7"/>
    <p:sldLayoutId id="2147483671" r:id="rId8"/>
    <p:sldLayoutId id="2147483670" r:id="rId9"/>
    <p:sldLayoutId id="2147483669" r:id="rId10"/>
    <p:sldLayoutId id="2147483673" r:id="rId11"/>
    <p:sldLayoutId id="2147483666" r:id="rId12"/>
    <p:sldLayoutId id="2147483665" r:id="rId13"/>
    <p:sldLayoutId id="2147483667" r:id="rId14"/>
    <p:sldLayoutId id="2147483654" r:id="rId15"/>
  </p:sldLayoutIdLst>
  <p:hf hdr="0"/>
  <p:txStyles>
    <p:titleStyle>
      <a:lvl1pPr algn="l" defTabSz="914400" rtl="0" eaLnBrk="1" latinLnBrk="0" hangingPunct="1">
        <a:lnSpc>
          <a:spcPts val="2500"/>
        </a:lnSpc>
        <a:spcBef>
          <a:spcPct val="0"/>
        </a:spcBef>
        <a:buNone/>
        <a:defRPr sz="1900" b="1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100"/>
        </a:lnSpc>
        <a:spcBef>
          <a:spcPts val="0"/>
        </a:spcBef>
        <a:buFontTx/>
        <a:buNone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+mj-lt"/>
        <a:buAutoNum type="arabicPeriod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63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90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tabLst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AMeScience/workshop_neural_nets/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AC358-938C-86F9-211F-91929F306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750" y="2228370"/>
            <a:ext cx="6936565" cy="1498385"/>
          </a:xfrm>
        </p:spPr>
        <p:txBody>
          <a:bodyPr/>
          <a:lstStyle/>
          <a:p>
            <a:r>
              <a:rPr lang="en-US" sz="2000" dirty="0"/>
              <a:t>Your first Neural Network in </a:t>
            </a:r>
            <a:r>
              <a:rPr lang="en-US" sz="2000" dirty="0" err="1"/>
              <a:t>PyTorch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– </a:t>
            </a:r>
            <a:br>
              <a:rPr lang="en-US" sz="2000" dirty="0"/>
            </a:br>
            <a:r>
              <a:rPr lang="en-US" sz="2000" dirty="0"/>
              <a:t>An Introduction</a:t>
            </a:r>
            <a:endParaRPr lang="en-GB" sz="20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B99E75-405B-C623-450D-C6FA12C7A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3972644"/>
            <a:ext cx="7200000" cy="399305"/>
          </a:xfrm>
        </p:spPr>
        <p:txBody>
          <a:bodyPr/>
          <a:lstStyle/>
          <a:p>
            <a:r>
              <a:rPr lang="en-GB" sz="1800" dirty="0"/>
              <a:t>Alexander Kister, Simon Müller from VP.1 eScience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5388CF-CE71-13CF-354B-FBC38E08BA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03.09.2026</a:t>
            </a:r>
          </a:p>
        </p:txBody>
      </p:sp>
    </p:spTree>
    <p:extLst>
      <p:ext uri="{BB962C8B-B14F-4D97-AF65-F5344CB8AC3E}">
        <p14:creationId xmlns:p14="http://schemas.microsoft.com/office/powerpoint/2010/main" val="1312926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1DCC1-B0B0-2E04-0D97-A40FEED9C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will use existing code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6B695C-19FB-F820-3A42-A0CF45383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2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9F47488-3382-9D92-38BD-4B755100FD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38924" y="2725769"/>
            <a:ext cx="6183530" cy="391886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https://github.com/BAMeScience/workshop_neural_nets/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1931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will do </a:t>
            </a:r>
            <a:r>
              <a:rPr lang="de-DE" dirty="0" err="1"/>
              <a:t>today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3</a:t>
            </a:fld>
            <a:endParaRPr lang="de-DE"/>
          </a:p>
        </p:txBody>
      </p:sp>
      <p:sp>
        <p:nvSpPr>
          <p:cNvPr id="7" name="Inhaltsplatzhalter 1"/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D14B33E-EF31-83A5-3429-59904B12B11B}"/>
              </a:ext>
            </a:extLst>
          </p:cNvPr>
          <p:cNvSpPr txBox="1"/>
          <p:nvPr/>
        </p:nvSpPr>
        <p:spPr>
          <a:xfrm>
            <a:off x="539750" y="1786855"/>
            <a:ext cx="6760702" cy="26341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400" dirty="0"/>
              <a:t>(1) Learn the theory of Machine Learning and Neural Networks.</a:t>
            </a:r>
          </a:p>
          <a:p>
            <a:pPr>
              <a:lnSpc>
                <a:spcPts val="2100"/>
              </a:lnSpc>
            </a:pPr>
            <a:endParaRPr lang="en-GB" sz="1400" dirty="0"/>
          </a:p>
          <a:p>
            <a:pPr>
              <a:lnSpc>
                <a:spcPts val="2100"/>
              </a:lnSpc>
            </a:pPr>
            <a:r>
              <a:rPr lang="en-GB" sz="1400" dirty="0"/>
              <a:t>(2) Follow a simple Neural Network implementation and adapt yourself. </a:t>
            </a:r>
          </a:p>
          <a:p>
            <a:pPr>
              <a:lnSpc>
                <a:spcPts val="2100"/>
              </a:lnSpc>
            </a:pPr>
            <a:endParaRPr lang="en-GB" sz="1400" dirty="0"/>
          </a:p>
          <a:p>
            <a:pPr>
              <a:lnSpc>
                <a:spcPts val="2100"/>
              </a:lnSpc>
            </a:pPr>
            <a:r>
              <a:rPr lang="en-GB" sz="1400" dirty="0"/>
              <a:t>Key take-away:</a:t>
            </a:r>
          </a:p>
          <a:p>
            <a:pPr>
              <a:lnSpc>
                <a:spcPts val="2100"/>
              </a:lnSpc>
            </a:pPr>
            <a:endParaRPr lang="en-GB" sz="1600" dirty="0"/>
          </a:p>
          <a:p>
            <a:pPr>
              <a:lnSpc>
                <a:spcPts val="2100"/>
              </a:lnSpc>
            </a:pPr>
            <a:r>
              <a:rPr lang="en-GB" sz="1600" b="1" dirty="0"/>
              <a:t>Machine Learning, Neural Networks and how to use </a:t>
            </a:r>
            <a:r>
              <a:rPr lang="en-GB" sz="1600" b="1" dirty="0" err="1"/>
              <a:t>PyTorch</a:t>
            </a:r>
            <a:r>
              <a:rPr lang="en-GB" sz="1600" b="1" dirty="0"/>
              <a:t> to train and run a Neural Network</a:t>
            </a:r>
          </a:p>
          <a:p>
            <a:pPr>
              <a:lnSpc>
                <a:spcPts val="2100"/>
              </a:lnSpc>
            </a:pPr>
            <a:endParaRPr lang="en-GB" sz="1600" dirty="0"/>
          </a:p>
          <a:p>
            <a:pPr>
              <a:lnSpc>
                <a:spcPts val="2100"/>
              </a:lnSpc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93434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6B228-BB08-6E70-688B-C16772BD6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D75F2A5E-9708-AD72-1A3F-5321C79F06BC}"/>
              </a:ext>
            </a:extLst>
          </p:cNvPr>
          <p:cNvSpPr/>
          <p:nvPr/>
        </p:nvSpPr>
        <p:spPr>
          <a:xfrm>
            <a:off x="6314240" y="3324013"/>
            <a:ext cx="2282009" cy="13753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263F8D9-75CF-9265-0D96-B6F3A9DE61DB}"/>
              </a:ext>
            </a:extLst>
          </p:cNvPr>
          <p:cNvSpPr/>
          <p:nvPr/>
        </p:nvSpPr>
        <p:spPr>
          <a:xfrm>
            <a:off x="3373677" y="2189271"/>
            <a:ext cx="2264760" cy="13753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BFED320-D7F8-63BD-12A6-A8F2C60BD746}"/>
              </a:ext>
            </a:extLst>
          </p:cNvPr>
          <p:cNvSpPr/>
          <p:nvPr/>
        </p:nvSpPr>
        <p:spPr>
          <a:xfrm>
            <a:off x="547751" y="1182487"/>
            <a:ext cx="2264760" cy="13753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774A86-3514-47E5-57E4-68CB76295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approach</a:t>
            </a:r>
            <a:r>
              <a:rPr lang="de-DE" dirty="0"/>
              <a:t> to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centric</a:t>
            </a:r>
            <a:r>
              <a:rPr lang="de-DE" dirty="0"/>
              <a:t> </a:t>
            </a:r>
            <a:r>
              <a:rPr lang="de-DE" dirty="0" err="1"/>
              <a:t>modeling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E68C69-AB60-871E-6C04-F021FE27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4</a:t>
            </a:fld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E6077988-1653-F59E-D69D-AA5C9BACC0D0}"/>
              </a:ext>
            </a:extLst>
          </p:cNvPr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E48635C-26D2-C62C-8BEB-C7C1A212DED4}"/>
              </a:ext>
            </a:extLst>
          </p:cNvPr>
          <p:cNvSpPr txBox="1"/>
          <p:nvPr/>
        </p:nvSpPr>
        <p:spPr>
          <a:xfrm>
            <a:off x="771302" y="1407830"/>
            <a:ext cx="1209784" cy="400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Problem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30FA1BA-0EFB-50F8-3249-933A9053AA94}"/>
              </a:ext>
            </a:extLst>
          </p:cNvPr>
          <p:cNvSpPr txBox="1"/>
          <p:nvPr/>
        </p:nvSpPr>
        <p:spPr>
          <a:xfrm>
            <a:off x="3635807" y="2448595"/>
            <a:ext cx="888166" cy="2571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Data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263B015-B99E-542F-835F-8A8FEB89B736}"/>
              </a:ext>
            </a:extLst>
          </p:cNvPr>
          <p:cNvSpPr txBox="1"/>
          <p:nvPr/>
        </p:nvSpPr>
        <p:spPr>
          <a:xfrm>
            <a:off x="6576628" y="3508857"/>
            <a:ext cx="1947549" cy="400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Validation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E39DE0-3C6D-3932-D1A2-98156AECEF1A}"/>
              </a:ext>
            </a:extLst>
          </p:cNvPr>
          <p:cNvSpPr txBox="1"/>
          <p:nvPr/>
        </p:nvSpPr>
        <p:spPr>
          <a:xfrm>
            <a:off x="788773" y="1776294"/>
            <a:ext cx="1977407" cy="11103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 dirty="0"/>
              <a:t>What do we actually want to do and why? 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F100C8E-212D-EF63-6EC8-1EA53A3ACA65}"/>
              </a:ext>
            </a:extLst>
          </p:cNvPr>
          <p:cNvSpPr txBox="1"/>
          <p:nvPr/>
        </p:nvSpPr>
        <p:spPr>
          <a:xfrm>
            <a:off x="3635807" y="2750123"/>
            <a:ext cx="2051803" cy="4077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 dirty="0"/>
              <a:t>What data do we have?</a:t>
            </a:r>
          </a:p>
          <a:p>
            <a:endParaRPr lang="en-GB" sz="1200" dirty="0"/>
          </a:p>
          <a:p>
            <a:r>
              <a:rPr lang="en-GB" sz="1200" dirty="0"/>
              <a:t>How much data do we have? 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76B4770-4414-D732-2788-865E78520106}"/>
              </a:ext>
            </a:extLst>
          </p:cNvPr>
          <p:cNvSpPr txBox="1"/>
          <p:nvPr/>
        </p:nvSpPr>
        <p:spPr>
          <a:xfrm>
            <a:off x="6557970" y="3909057"/>
            <a:ext cx="2129007" cy="5181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 dirty="0"/>
              <a:t>How can we make sure that our model is any good?</a:t>
            </a:r>
          </a:p>
          <a:p>
            <a:pPr>
              <a:lnSpc>
                <a:spcPts val="2100"/>
              </a:lnSpc>
            </a:pPr>
            <a:endParaRPr lang="en-GB" sz="1200" dirty="0"/>
          </a:p>
        </p:txBody>
      </p:sp>
      <p:sp>
        <p:nvSpPr>
          <p:cNvPr id="8" name="Pfeil: nach oben gekrümmt 7">
            <a:extLst>
              <a:ext uri="{FF2B5EF4-FFF2-40B4-BE49-F238E27FC236}">
                <a16:creationId xmlns:a16="http://schemas.microsoft.com/office/drawing/2014/main" id="{9879B512-B099-6A5C-0FC8-F3A7DB97029C}"/>
              </a:ext>
            </a:extLst>
          </p:cNvPr>
          <p:cNvSpPr/>
          <p:nvPr/>
        </p:nvSpPr>
        <p:spPr>
          <a:xfrm rot="12344263">
            <a:off x="2139360" y="1212870"/>
            <a:ext cx="2123268" cy="810905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DA06749-27E5-DA90-939D-DABD935BBC0F}"/>
              </a:ext>
            </a:extLst>
          </p:cNvPr>
          <p:cNvSpPr txBox="1"/>
          <p:nvPr/>
        </p:nvSpPr>
        <p:spPr>
          <a:xfrm>
            <a:off x="3951000" y="1225886"/>
            <a:ext cx="2264760" cy="3311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 dirty="0"/>
              <a:t>What approach can/should we use?</a:t>
            </a:r>
          </a:p>
        </p:txBody>
      </p:sp>
      <p:sp>
        <p:nvSpPr>
          <p:cNvPr id="6" name="Pfeil: nach oben gekrümmt 5">
            <a:extLst>
              <a:ext uri="{FF2B5EF4-FFF2-40B4-BE49-F238E27FC236}">
                <a16:creationId xmlns:a16="http://schemas.microsoft.com/office/drawing/2014/main" id="{EE7052D0-8FDC-18A6-6759-6E9A79C6F2A2}"/>
              </a:ext>
            </a:extLst>
          </p:cNvPr>
          <p:cNvSpPr/>
          <p:nvPr/>
        </p:nvSpPr>
        <p:spPr>
          <a:xfrm rot="1777303">
            <a:off x="1437851" y="2952861"/>
            <a:ext cx="2123268" cy="810905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4250C66-8B28-65C9-5C32-131DC40DF908}"/>
              </a:ext>
            </a:extLst>
          </p:cNvPr>
          <p:cNvSpPr txBox="1"/>
          <p:nvPr/>
        </p:nvSpPr>
        <p:spPr>
          <a:xfrm>
            <a:off x="954719" y="3871216"/>
            <a:ext cx="35093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Machine Learning might be one possible approach.</a:t>
            </a:r>
          </a:p>
          <a:p>
            <a:r>
              <a:rPr lang="en-GB" sz="1200" dirty="0"/>
              <a:t>Highly dependent on available data. For new projects: think of this before starting!</a:t>
            </a:r>
          </a:p>
        </p:txBody>
      </p:sp>
    </p:spTree>
    <p:extLst>
      <p:ext uri="{BB962C8B-B14F-4D97-AF65-F5344CB8AC3E}">
        <p14:creationId xmlns:p14="http://schemas.microsoft.com/office/powerpoint/2010/main" val="56071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6" grpId="0" animBg="1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D89B0-A67C-45C0-7ED7-1887A9C0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7A75BCA6-B005-7537-BCA3-2401AD9F8A93}"/>
              </a:ext>
            </a:extLst>
          </p:cNvPr>
          <p:cNvSpPr/>
          <p:nvPr/>
        </p:nvSpPr>
        <p:spPr>
          <a:xfrm>
            <a:off x="6314240" y="3324013"/>
            <a:ext cx="2282009" cy="13753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15CA0AA-B226-60EE-38FA-CF7A09A1478B}"/>
              </a:ext>
            </a:extLst>
          </p:cNvPr>
          <p:cNvSpPr/>
          <p:nvPr/>
        </p:nvSpPr>
        <p:spPr>
          <a:xfrm>
            <a:off x="3373677" y="2189272"/>
            <a:ext cx="2264760" cy="15196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64DCD6C-984D-3F35-BC51-93F5F8E7BAAF}"/>
              </a:ext>
            </a:extLst>
          </p:cNvPr>
          <p:cNvSpPr/>
          <p:nvPr/>
        </p:nvSpPr>
        <p:spPr>
          <a:xfrm>
            <a:off x="547751" y="1166258"/>
            <a:ext cx="2264760" cy="3533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069403-7EF6-C3A2-935F-41295A52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today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BC01EF-0A82-088E-91B4-64755EFD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5</a:t>
            </a:fld>
            <a:endParaRPr lang="de-DE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629101B4-849A-C7D9-5368-E2D44FD971AB}"/>
              </a:ext>
            </a:extLst>
          </p:cNvPr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983F254-012E-EFE1-03FA-A5CC11A0A563}"/>
              </a:ext>
            </a:extLst>
          </p:cNvPr>
          <p:cNvSpPr txBox="1"/>
          <p:nvPr/>
        </p:nvSpPr>
        <p:spPr>
          <a:xfrm>
            <a:off x="771302" y="1407830"/>
            <a:ext cx="1209784" cy="400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Problem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DE4E870-5E2B-9459-2753-EB387B9CFCF0}"/>
              </a:ext>
            </a:extLst>
          </p:cNvPr>
          <p:cNvSpPr txBox="1"/>
          <p:nvPr/>
        </p:nvSpPr>
        <p:spPr>
          <a:xfrm>
            <a:off x="3635807" y="2518627"/>
            <a:ext cx="888166" cy="2571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Data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26A95D9-E17F-CFF2-ABE0-70B4EE8CD554}"/>
              </a:ext>
            </a:extLst>
          </p:cNvPr>
          <p:cNvSpPr txBox="1"/>
          <p:nvPr/>
        </p:nvSpPr>
        <p:spPr>
          <a:xfrm>
            <a:off x="6576628" y="3508857"/>
            <a:ext cx="1947549" cy="400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Validation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F3E2DFB-695A-89F5-432F-E80B4F181F6B}"/>
              </a:ext>
            </a:extLst>
          </p:cNvPr>
          <p:cNvSpPr txBox="1"/>
          <p:nvPr/>
        </p:nvSpPr>
        <p:spPr>
          <a:xfrm>
            <a:off x="716760" y="1761787"/>
            <a:ext cx="1904520" cy="1922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We work for the postal service and get a lot of mail with handwritten postal codes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We want automatic sorting of letters according to their postal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GB" sz="1200" dirty="0"/>
          </a:p>
          <a:p>
            <a:pPr>
              <a:lnSpc>
                <a:spcPts val="2100"/>
              </a:lnSpc>
            </a:pPr>
            <a:endParaRPr lang="en-GB" sz="12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42A230-6DBF-E76F-B1D1-EAB47540E35F}"/>
              </a:ext>
            </a:extLst>
          </p:cNvPr>
          <p:cNvSpPr txBox="1"/>
          <p:nvPr/>
        </p:nvSpPr>
        <p:spPr>
          <a:xfrm>
            <a:off x="3635807" y="2916275"/>
            <a:ext cx="1891233" cy="6387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Images of handwritten digits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E47F6FA-107C-4526-FC5C-7CF2E6A0A4D5}"/>
              </a:ext>
            </a:extLst>
          </p:cNvPr>
          <p:cNvSpPr txBox="1"/>
          <p:nvPr/>
        </p:nvSpPr>
        <p:spPr>
          <a:xfrm>
            <a:off x="6441477" y="3840383"/>
            <a:ext cx="2122968" cy="8250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Does our model identify the correct digit?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How can we ensure this?</a:t>
            </a:r>
          </a:p>
          <a:p>
            <a:pPr>
              <a:lnSpc>
                <a:spcPts val="2100"/>
              </a:lnSpc>
            </a:pPr>
            <a:endParaRPr lang="en-GB" sz="1200" dirty="0"/>
          </a:p>
        </p:txBody>
      </p:sp>
      <p:sp>
        <p:nvSpPr>
          <p:cNvPr id="8" name="Pfeil: nach oben gekrümmt 7">
            <a:extLst>
              <a:ext uri="{FF2B5EF4-FFF2-40B4-BE49-F238E27FC236}">
                <a16:creationId xmlns:a16="http://schemas.microsoft.com/office/drawing/2014/main" id="{340EAB75-E4CD-B7AD-F0DF-D4D229C74522}"/>
              </a:ext>
            </a:extLst>
          </p:cNvPr>
          <p:cNvSpPr/>
          <p:nvPr/>
        </p:nvSpPr>
        <p:spPr>
          <a:xfrm rot="12344263">
            <a:off x="2139360" y="1212870"/>
            <a:ext cx="2123268" cy="810905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D4A4D60-D53C-CA80-36EC-93A545825DEB}"/>
              </a:ext>
            </a:extLst>
          </p:cNvPr>
          <p:cNvSpPr txBox="1"/>
          <p:nvPr/>
        </p:nvSpPr>
        <p:spPr>
          <a:xfrm>
            <a:off x="4072170" y="880441"/>
            <a:ext cx="3179132" cy="9892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 dirty="0"/>
              <a:t>With enough data, Machine Learning is one (!) way to approach this. </a:t>
            </a:r>
          </a:p>
          <a:p>
            <a:endParaRPr lang="en-GB" sz="1200" dirty="0"/>
          </a:p>
          <a:p>
            <a:r>
              <a:rPr lang="en-GB" sz="1200" dirty="0"/>
              <a:t>For learning, data must include the image </a:t>
            </a:r>
            <a:r>
              <a:rPr lang="en-GB" sz="1200" b="1" dirty="0"/>
              <a:t>and</a:t>
            </a:r>
            <a:r>
              <a:rPr lang="en-GB" sz="1200" dirty="0"/>
              <a:t> the corresponding digit 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3BFB691-04A6-915B-5FB8-BA40BD55C260}"/>
              </a:ext>
            </a:extLst>
          </p:cNvPr>
          <p:cNvSpPr txBox="1"/>
          <p:nvPr/>
        </p:nvSpPr>
        <p:spPr>
          <a:xfrm>
            <a:off x="716760" y="3986094"/>
            <a:ext cx="20412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We need a program to identify the digits from images</a:t>
            </a:r>
          </a:p>
        </p:txBody>
      </p:sp>
      <p:sp>
        <p:nvSpPr>
          <p:cNvPr id="20" name="Gleichschenkliges Dreieck 19">
            <a:extLst>
              <a:ext uri="{FF2B5EF4-FFF2-40B4-BE49-F238E27FC236}">
                <a16:creationId xmlns:a16="http://schemas.microsoft.com/office/drawing/2014/main" id="{A07F37DC-23D5-DD6F-664C-2CB149162F05}"/>
              </a:ext>
            </a:extLst>
          </p:cNvPr>
          <p:cNvSpPr/>
          <p:nvPr/>
        </p:nvSpPr>
        <p:spPr>
          <a:xfrm rot="10800000">
            <a:off x="1376194" y="3708957"/>
            <a:ext cx="609600" cy="14570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1844BBE8-82D1-7C4B-CBE7-364A184115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050" y="3854666"/>
            <a:ext cx="865950" cy="6342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128D80AB-6BEE-0A08-5AE9-D2779AD40A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166" y="3844322"/>
            <a:ext cx="880073" cy="6446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6DBB093-C636-02BD-FEF7-7E8E6754C3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101" y="3844321"/>
            <a:ext cx="880073" cy="6446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B95F1535-CEE5-5614-AD9E-A9A73C6B9670}"/>
              </a:ext>
            </a:extLst>
          </p:cNvPr>
          <p:cNvSpPr txBox="1"/>
          <p:nvPr/>
        </p:nvSpPr>
        <p:spPr>
          <a:xfrm>
            <a:off x="4143020" y="4483407"/>
            <a:ext cx="9997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. . .</a:t>
            </a:r>
            <a:endParaRPr lang="en-GB" sz="2400" b="1" dirty="0"/>
          </a:p>
        </p:txBody>
      </p:sp>
      <p:sp>
        <p:nvSpPr>
          <p:cNvPr id="6" name="Pfeil: nach oben gekrümmt 5">
            <a:extLst>
              <a:ext uri="{FF2B5EF4-FFF2-40B4-BE49-F238E27FC236}">
                <a16:creationId xmlns:a16="http://schemas.microsoft.com/office/drawing/2014/main" id="{03105CD2-3F54-D4B7-6D27-AE59B9624B5F}"/>
              </a:ext>
            </a:extLst>
          </p:cNvPr>
          <p:cNvSpPr/>
          <p:nvPr/>
        </p:nvSpPr>
        <p:spPr>
          <a:xfrm rot="12344263" flipH="1">
            <a:off x="5475678" y="2130562"/>
            <a:ext cx="2127366" cy="810905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31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2" grpId="0"/>
      <p:bldP spid="13" grpId="0"/>
      <p:bldP spid="15" grpId="0"/>
      <p:bldP spid="16" grpId="0"/>
      <p:bldP spid="8" grpId="0" animBg="1"/>
      <p:bldP spid="9" grpId="0"/>
      <p:bldP spid="28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>
            <a:extLst>
              <a:ext uri="{FF2B5EF4-FFF2-40B4-BE49-F238E27FC236}">
                <a16:creationId xmlns:a16="http://schemas.microsoft.com/office/drawing/2014/main" id="{3EAB733F-90DF-DFFB-505D-02EB90207459}"/>
              </a:ext>
            </a:extLst>
          </p:cNvPr>
          <p:cNvSpPr/>
          <p:nvPr/>
        </p:nvSpPr>
        <p:spPr>
          <a:xfrm>
            <a:off x="777240" y="1119130"/>
            <a:ext cx="3617843" cy="35637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FECBAB-A14C-0F97-0694-2B83B304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illustration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6F4223-DE3C-8B45-BCA2-C2B56DDF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6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72E60E0-1FBA-CC01-3FEC-89DB3C97C0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15" y="1777877"/>
            <a:ext cx="1168572" cy="855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CF52F84-3A3A-F688-3ECA-99FDC567B5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15" y="2722705"/>
            <a:ext cx="1187631" cy="8698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F9B1ACD-BD84-CFD1-56AE-F10AEEDB39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16" y="3681492"/>
            <a:ext cx="1187630" cy="8698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8A5B6D7-0A02-1159-15AB-CF90C761404F}"/>
              </a:ext>
            </a:extLst>
          </p:cNvPr>
          <p:cNvSpPr txBox="1"/>
          <p:nvPr/>
        </p:nvSpPr>
        <p:spPr>
          <a:xfrm>
            <a:off x="1298121" y="1431852"/>
            <a:ext cx="888166" cy="2571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Image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3401586-5B92-8F27-EF6C-E9886C78AECB}"/>
              </a:ext>
            </a:extLst>
          </p:cNvPr>
          <p:cNvSpPr txBox="1"/>
          <p:nvPr/>
        </p:nvSpPr>
        <p:spPr>
          <a:xfrm>
            <a:off x="3653820" y="2081168"/>
            <a:ext cx="594360" cy="4626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2400" dirty="0"/>
              <a:t>1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6B62165-17FF-2758-3502-3DF51254F8EF}"/>
              </a:ext>
            </a:extLst>
          </p:cNvPr>
          <p:cNvCxnSpPr/>
          <p:nvPr/>
        </p:nvCxnSpPr>
        <p:spPr>
          <a:xfrm>
            <a:off x="2354580" y="2205832"/>
            <a:ext cx="116586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7ED957E7-8412-C3E3-8472-71EAB37469ED}"/>
              </a:ext>
            </a:extLst>
          </p:cNvPr>
          <p:cNvSpPr txBox="1"/>
          <p:nvPr/>
        </p:nvSpPr>
        <p:spPr>
          <a:xfrm>
            <a:off x="3653820" y="3987784"/>
            <a:ext cx="594360" cy="4626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2400" dirty="0"/>
              <a:t>3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DCE0E895-047F-A8CD-89AE-0979C3CE45DB}"/>
              </a:ext>
            </a:extLst>
          </p:cNvPr>
          <p:cNvCxnSpPr/>
          <p:nvPr/>
        </p:nvCxnSpPr>
        <p:spPr>
          <a:xfrm>
            <a:off x="2354580" y="4112448"/>
            <a:ext cx="116586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996680F6-3C6D-F76A-E0DE-7C605A253C83}"/>
              </a:ext>
            </a:extLst>
          </p:cNvPr>
          <p:cNvSpPr txBox="1"/>
          <p:nvPr/>
        </p:nvSpPr>
        <p:spPr>
          <a:xfrm>
            <a:off x="3653820" y="3066460"/>
            <a:ext cx="594360" cy="4626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2400" dirty="0"/>
              <a:t>3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F9895CD5-0B92-A705-E221-8314E9E74982}"/>
              </a:ext>
            </a:extLst>
          </p:cNvPr>
          <p:cNvCxnSpPr/>
          <p:nvPr/>
        </p:nvCxnSpPr>
        <p:spPr>
          <a:xfrm>
            <a:off x="2354580" y="3191124"/>
            <a:ext cx="116586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9C7DD49E-E161-B91B-69E7-9F88D2C387CD}"/>
              </a:ext>
            </a:extLst>
          </p:cNvPr>
          <p:cNvSpPr txBox="1"/>
          <p:nvPr/>
        </p:nvSpPr>
        <p:spPr>
          <a:xfrm>
            <a:off x="3506917" y="1422960"/>
            <a:ext cx="888166" cy="2571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Digit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BE2CBEE2-F7F2-7819-36B9-6B84256690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618" y="2425855"/>
            <a:ext cx="1164842" cy="85317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2FC48618-71E6-71A3-FACC-B431EE1CEEB0}"/>
              </a:ext>
            </a:extLst>
          </p:cNvPr>
          <p:cNvCxnSpPr/>
          <p:nvPr/>
        </p:nvCxnSpPr>
        <p:spPr>
          <a:xfrm>
            <a:off x="6590698" y="2852444"/>
            <a:ext cx="116586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797CE499-0DFA-79AE-75F2-64673E3EF4E4}"/>
              </a:ext>
            </a:extLst>
          </p:cNvPr>
          <p:cNvSpPr txBox="1"/>
          <p:nvPr/>
        </p:nvSpPr>
        <p:spPr>
          <a:xfrm>
            <a:off x="7876796" y="2769610"/>
            <a:ext cx="594360" cy="4626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2400" dirty="0"/>
              <a:t>?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6FF28AF-F365-6FC0-D39D-632552F1D69F}"/>
              </a:ext>
            </a:extLst>
          </p:cNvPr>
          <p:cNvSpPr txBox="1"/>
          <p:nvPr/>
        </p:nvSpPr>
        <p:spPr>
          <a:xfrm>
            <a:off x="5261580" y="1181500"/>
            <a:ext cx="3418870" cy="6582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The program needs to predict the digit from new images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04AD6B6-0112-FEFF-19B5-9DD32D0FB338}"/>
              </a:ext>
            </a:extLst>
          </p:cNvPr>
          <p:cNvSpPr txBox="1"/>
          <p:nvPr/>
        </p:nvSpPr>
        <p:spPr>
          <a:xfrm>
            <a:off x="2205346" y="1144255"/>
            <a:ext cx="888166" cy="2571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Dataset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F156F40-BF3E-1476-D451-28573EA177FC}"/>
              </a:ext>
            </a:extLst>
          </p:cNvPr>
          <p:cNvSpPr txBox="1"/>
          <p:nvPr/>
        </p:nvSpPr>
        <p:spPr>
          <a:xfrm>
            <a:off x="5604692" y="3736410"/>
            <a:ext cx="2639308" cy="600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GB" sz="1400" dirty="0"/>
              <a:t>Machine Learning is one (!) way to approach this. </a:t>
            </a:r>
          </a:p>
        </p:txBody>
      </p:sp>
    </p:spTree>
    <p:extLst>
      <p:ext uri="{BB962C8B-B14F-4D97-AF65-F5344CB8AC3E}">
        <p14:creationId xmlns:p14="http://schemas.microsoft.com/office/powerpoint/2010/main" val="77543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4A00D0-CA9B-65F3-9752-DB3A6679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creation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9DE0C9-5566-5291-9CAF-57B9CBCB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7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C17F71D-DCB3-5F17-6BF2-315823D5F8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276350"/>
            <a:ext cx="5760000" cy="18288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Please open paint and draw all digits of your postal code letter by letter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Save every letter as a new .</a:t>
            </a:r>
            <a:r>
              <a:rPr lang="en-GB" dirty="0" err="1"/>
              <a:t>png</a:t>
            </a:r>
            <a:r>
              <a:rPr lang="en-GB" dirty="0"/>
              <a:t>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Save the images in your workshop project folder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A2B5CD7-EB5E-9AD4-307A-2BDF4B285C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397" y="3113585"/>
            <a:ext cx="1168572" cy="855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F0BA595-858E-E87C-2630-FB8A330E63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736" y="3106607"/>
            <a:ext cx="1187631" cy="8698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C3AAC0A-A28B-DB50-97BC-C05A8C1AD1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542" y="3106606"/>
            <a:ext cx="1187630" cy="8698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57013B53-F6C7-970C-37C0-D075F53369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348" y="3114953"/>
            <a:ext cx="1164842" cy="8531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24AB3A1-1FE4-67CC-16E3-9B96CE0B27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366" y="3114953"/>
            <a:ext cx="1187634" cy="8698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2D542BD-DB03-5821-F3BD-B788D6723470}"/>
              </a:ext>
            </a:extLst>
          </p:cNvPr>
          <p:cNvSpPr txBox="1"/>
          <p:nvPr/>
        </p:nvSpPr>
        <p:spPr>
          <a:xfrm>
            <a:off x="447541" y="4302727"/>
            <a:ext cx="61566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How could we do the prediction and evaluation?</a:t>
            </a:r>
          </a:p>
        </p:txBody>
      </p:sp>
    </p:spTree>
    <p:extLst>
      <p:ext uri="{BB962C8B-B14F-4D97-AF65-F5344CB8AC3E}">
        <p14:creationId xmlns:p14="http://schemas.microsoft.com/office/powerpoint/2010/main" val="147288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D6253-C68E-27D1-9C13-C6D198505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Confusion Matrix – Evaluation Metrics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D5F092-2AFA-6C44-ABF1-766368526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8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CC51634-AC60-2E5B-B128-194FBDFBD4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690739"/>
            <a:ext cx="4792969" cy="292598"/>
          </a:xfrm>
        </p:spPr>
        <p:txBody>
          <a:bodyPr/>
          <a:lstStyle/>
          <a:p>
            <a:r>
              <a:rPr lang="en-GB" sz="1400" dirty="0"/>
              <a:t>Confusion matrices are common for classification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439B87CC-E95B-B9AA-8B9E-65D2BE36984F}"/>
              </a:ext>
            </a:extLst>
          </p:cNvPr>
          <p:cNvGrpSpPr/>
          <p:nvPr/>
        </p:nvGrpSpPr>
        <p:grpSpPr>
          <a:xfrm>
            <a:off x="5984554" y="0"/>
            <a:ext cx="2650434" cy="5143500"/>
            <a:chOff x="6493566" y="0"/>
            <a:chExt cx="2650434" cy="5143500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DA154A96-2C98-F019-3234-6ADB205BF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93566" y="0"/>
              <a:ext cx="2650434" cy="5143500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7721992F-AA11-770B-1CB9-5B5609131184}"/>
                </a:ext>
              </a:extLst>
            </p:cNvPr>
            <p:cNvSpPr txBox="1"/>
            <p:nvPr/>
          </p:nvSpPr>
          <p:spPr>
            <a:xfrm>
              <a:off x="8425543" y="3076575"/>
              <a:ext cx="687721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700" dirty="0"/>
                <a:t>©</a:t>
              </a:r>
              <a:r>
                <a:rPr lang="en-GB" sz="700" dirty="0" err="1"/>
                <a:t>wikipedia</a:t>
              </a:r>
              <a:endParaRPr lang="en-GB" sz="700" dirty="0"/>
            </a:p>
          </p:txBody>
        </p:sp>
      </p:grp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998B1383-4C04-7D6C-2B59-D92B828A6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324577"/>
              </p:ext>
            </p:extLst>
          </p:nvPr>
        </p:nvGraphicFramePr>
        <p:xfrm>
          <a:off x="433685" y="1524937"/>
          <a:ext cx="3575707" cy="3317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839">
                  <a:extLst>
                    <a:ext uri="{9D8B030D-6E8A-4147-A177-3AD203B41FA5}">
                      <a16:colId xmlns:a16="http://schemas.microsoft.com/office/drawing/2014/main" val="3293488837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1700644197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3433917102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1569189834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4144896416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2748408521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1643272746"/>
                    </a:ext>
                  </a:extLst>
                </a:gridCol>
              </a:tblGrid>
              <a:tr h="469344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407379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925700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411968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645974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627221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79236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808250"/>
                  </a:ext>
                </a:extLst>
              </a:tr>
            </a:tbl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A22D930E-5027-3C13-5B93-E256B3521562}"/>
              </a:ext>
            </a:extLst>
          </p:cNvPr>
          <p:cNvSpPr txBox="1"/>
          <p:nvPr/>
        </p:nvSpPr>
        <p:spPr>
          <a:xfrm>
            <a:off x="1534016" y="1179531"/>
            <a:ext cx="16357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Predicted digit</a:t>
            </a:r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9DBB595-7643-54D6-D7B5-A94D75CD9159}"/>
              </a:ext>
            </a:extLst>
          </p:cNvPr>
          <p:cNvSpPr txBox="1"/>
          <p:nvPr/>
        </p:nvSpPr>
        <p:spPr>
          <a:xfrm rot="16200000">
            <a:off x="-427803" y="2797464"/>
            <a:ext cx="1302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True digit</a:t>
            </a:r>
            <a:endParaRPr lang="en-GB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F275AC8-FFA7-F5ED-A7BD-E8E0352B198E}"/>
              </a:ext>
            </a:extLst>
          </p:cNvPr>
          <p:cNvSpPr/>
          <p:nvPr/>
        </p:nvSpPr>
        <p:spPr>
          <a:xfrm>
            <a:off x="879940" y="2551960"/>
            <a:ext cx="623340" cy="2328162"/>
          </a:xfrm>
          <a:prstGeom prst="rect">
            <a:avLst/>
          </a:prstGeom>
          <a:noFill/>
          <a:ln>
            <a:solidFill>
              <a:srgbClr val="FF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F6EAC0C-C906-BBA8-8D69-E995ECD58C95}"/>
              </a:ext>
            </a:extLst>
          </p:cNvPr>
          <p:cNvSpPr/>
          <p:nvPr/>
        </p:nvSpPr>
        <p:spPr>
          <a:xfrm rot="5400000">
            <a:off x="2466413" y="965485"/>
            <a:ext cx="623340" cy="2549607"/>
          </a:xfrm>
          <a:prstGeom prst="rect">
            <a:avLst/>
          </a:prstGeom>
          <a:noFill/>
          <a:ln>
            <a:solidFill>
              <a:srgbClr val="D2DF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BFBB10D-461F-C244-8BE2-EC3AA4036243}"/>
              </a:ext>
            </a:extLst>
          </p:cNvPr>
          <p:cNvSpPr/>
          <p:nvPr/>
        </p:nvSpPr>
        <p:spPr>
          <a:xfrm rot="5400000">
            <a:off x="879938" y="1920581"/>
            <a:ext cx="623340" cy="623340"/>
          </a:xfrm>
          <a:prstGeom prst="rect">
            <a:avLst/>
          </a:prstGeom>
          <a:noFill/>
          <a:ln>
            <a:solidFill>
              <a:srgbClr val="C9F6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F4EA992-9B4F-3CD3-80DA-0A2CC63FBBC3}"/>
              </a:ext>
            </a:extLst>
          </p:cNvPr>
          <p:cNvSpPr/>
          <p:nvPr/>
        </p:nvSpPr>
        <p:spPr>
          <a:xfrm rot="7980361">
            <a:off x="2162442" y="2153696"/>
            <a:ext cx="623340" cy="2549607"/>
          </a:xfrm>
          <a:prstGeom prst="rect">
            <a:avLst/>
          </a:prstGeom>
          <a:noFill/>
          <a:ln>
            <a:solidFill>
              <a:srgbClr val="F1F1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391C0D1A-B06C-B9C3-12ED-2ADCB6298FF4}"/>
              </a:ext>
            </a:extLst>
          </p:cNvPr>
          <p:cNvSpPr/>
          <p:nvPr/>
        </p:nvSpPr>
        <p:spPr>
          <a:xfrm>
            <a:off x="4574448" y="3870079"/>
            <a:ext cx="623340" cy="623341"/>
          </a:xfrm>
          <a:prstGeom prst="rect">
            <a:avLst/>
          </a:prstGeom>
          <a:noFill/>
          <a:ln>
            <a:solidFill>
              <a:srgbClr val="FF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90C54A2-EF76-8DC1-B05B-8D32192F11EE}"/>
              </a:ext>
            </a:extLst>
          </p:cNvPr>
          <p:cNvSpPr/>
          <p:nvPr/>
        </p:nvSpPr>
        <p:spPr>
          <a:xfrm rot="5400000">
            <a:off x="4566779" y="3184001"/>
            <a:ext cx="623340" cy="623341"/>
          </a:xfrm>
          <a:prstGeom prst="rect">
            <a:avLst/>
          </a:prstGeom>
          <a:noFill/>
          <a:ln>
            <a:solidFill>
              <a:srgbClr val="D1DB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3E8E834-CA9F-E3AE-0193-7F639E965454}"/>
              </a:ext>
            </a:extLst>
          </p:cNvPr>
          <p:cNvSpPr/>
          <p:nvPr/>
        </p:nvSpPr>
        <p:spPr>
          <a:xfrm rot="5400000">
            <a:off x="4559080" y="1841560"/>
            <a:ext cx="623340" cy="623340"/>
          </a:xfrm>
          <a:prstGeom prst="rect">
            <a:avLst/>
          </a:prstGeom>
          <a:noFill/>
          <a:ln>
            <a:solidFill>
              <a:srgbClr val="C9F6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09FFC32-0FFE-F145-CB22-51828A3B4C39}"/>
              </a:ext>
            </a:extLst>
          </p:cNvPr>
          <p:cNvSpPr/>
          <p:nvPr/>
        </p:nvSpPr>
        <p:spPr>
          <a:xfrm rot="10800000">
            <a:off x="4566779" y="2507319"/>
            <a:ext cx="623340" cy="623342"/>
          </a:xfrm>
          <a:prstGeom prst="rect">
            <a:avLst/>
          </a:prstGeom>
          <a:noFill/>
          <a:ln>
            <a:solidFill>
              <a:srgbClr val="F1F1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D09EEC13-9E42-4D3B-7D66-A59DEA63DDBB}"/>
              </a:ext>
            </a:extLst>
          </p:cNvPr>
          <p:cNvSpPr txBox="1"/>
          <p:nvPr/>
        </p:nvSpPr>
        <p:spPr>
          <a:xfrm>
            <a:off x="4672198" y="1983722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TP</a:t>
            </a:r>
            <a:endParaRPr lang="en-GB" dirty="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CEB179E-55BA-4980-D2F8-8268521439B1}"/>
              </a:ext>
            </a:extLst>
          </p:cNvPr>
          <p:cNvSpPr txBox="1"/>
          <p:nvPr/>
        </p:nvSpPr>
        <p:spPr>
          <a:xfrm>
            <a:off x="4679882" y="2657765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TN</a:t>
            </a:r>
            <a:endParaRPr lang="en-GB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25B1FC32-0136-B6ED-E132-8BC400C48CD1}"/>
              </a:ext>
            </a:extLst>
          </p:cNvPr>
          <p:cNvSpPr txBox="1"/>
          <p:nvPr/>
        </p:nvSpPr>
        <p:spPr>
          <a:xfrm>
            <a:off x="4687566" y="3331808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FN</a:t>
            </a:r>
            <a:endParaRPr lang="en-GB" dirty="0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3BA8C8D3-D414-848C-2F5A-5B30517A9410}"/>
              </a:ext>
            </a:extLst>
          </p:cNvPr>
          <p:cNvSpPr txBox="1"/>
          <p:nvPr/>
        </p:nvSpPr>
        <p:spPr>
          <a:xfrm>
            <a:off x="4701676" y="4005851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3876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921AC-F4B0-AE37-F2BD-B859382F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23FC0C-42A3-121F-7541-03AC6B75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Confusion Matrix – Evaluation Metrics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35A30B-6C0A-D4F1-7E9D-068FF299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9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BC5D201-1E4E-6620-DC06-F0571087B2E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690739"/>
            <a:ext cx="4792969" cy="292598"/>
          </a:xfrm>
        </p:spPr>
        <p:txBody>
          <a:bodyPr/>
          <a:lstStyle/>
          <a:p>
            <a:r>
              <a:rPr lang="en-GB" sz="1400" dirty="0"/>
              <a:t>Confusion matrices are common for classification</a:t>
            </a:r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224C5281-BE67-963B-C624-AD54C842EBCE}"/>
              </a:ext>
            </a:extLst>
          </p:cNvPr>
          <p:cNvGraphicFramePr>
            <a:graphicFrameLocks noGrp="1"/>
          </p:cNvGraphicFramePr>
          <p:nvPr/>
        </p:nvGraphicFramePr>
        <p:xfrm>
          <a:off x="433685" y="1524937"/>
          <a:ext cx="3575707" cy="3317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839">
                  <a:extLst>
                    <a:ext uri="{9D8B030D-6E8A-4147-A177-3AD203B41FA5}">
                      <a16:colId xmlns:a16="http://schemas.microsoft.com/office/drawing/2014/main" val="3293488837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1700644197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3433917102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1569189834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4144896416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2748408521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1643272746"/>
                    </a:ext>
                  </a:extLst>
                </a:gridCol>
              </a:tblGrid>
              <a:tr h="469344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407379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925700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411968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645974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627221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79236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808250"/>
                  </a:ext>
                </a:extLst>
              </a:tr>
            </a:tbl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E834035F-A012-CB31-9961-7AD9AE02663E}"/>
              </a:ext>
            </a:extLst>
          </p:cNvPr>
          <p:cNvSpPr txBox="1"/>
          <p:nvPr/>
        </p:nvSpPr>
        <p:spPr>
          <a:xfrm>
            <a:off x="1534016" y="1179531"/>
            <a:ext cx="16357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Predicted digit</a:t>
            </a:r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A12320D-4FD7-1EBE-FE06-34113B1B5136}"/>
              </a:ext>
            </a:extLst>
          </p:cNvPr>
          <p:cNvSpPr txBox="1"/>
          <p:nvPr/>
        </p:nvSpPr>
        <p:spPr>
          <a:xfrm rot="16200000">
            <a:off x="-427803" y="2797464"/>
            <a:ext cx="1302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True digit</a:t>
            </a:r>
            <a:endParaRPr lang="en-GB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ABCF7B8-2A18-400E-27DB-7CAD31BE2EDD}"/>
              </a:ext>
            </a:extLst>
          </p:cNvPr>
          <p:cNvSpPr/>
          <p:nvPr/>
        </p:nvSpPr>
        <p:spPr>
          <a:xfrm>
            <a:off x="879940" y="2551959"/>
            <a:ext cx="623340" cy="2381595"/>
          </a:xfrm>
          <a:prstGeom prst="rect">
            <a:avLst/>
          </a:prstGeom>
          <a:noFill/>
          <a:ln>
            <a:solidFill>
              <a:srgbClr val="FF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CC462A2-421A-2822-326C-23E64DAD3E2E}"/>
              </a:ext>
            </a:extLst>
          </p:cNvPr>
          <p:cNvSpPr/>
          <p:nvPr/>
        </p:nvSpPr>
        <p:spPr>
          <a:xfrm rot="5400000">
            <a:off x="2466413" y="965485"/>
            <a:ext cx="623340" cy="2549607"/>
          </a:xfrm>
          <a:prstGeom prst="rect">
            <a:avLst/>
          </a:prstGeom>
          <a:noFill/>
          <a:ln>
            <a:solidFill>
              <a:srgbClr val="D2DF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5D72E96-E7DF-77FB-A3F5-2A63DA5D003C}"/>
              </a:ext>
            </a:extLst>
          </p:cNvPr>
          <p:cNvSpPr/>
          <p:nvPr/>
        </p:nvSpPr>
        <p:spPr>
          <a:xfrm rot="5400000">
            <a:off x="879938" y="1920581"/>
            <a:ext cx="623340" cy="623340"/>
          </a:xfrm>
          <a:prstGeom prst="rect">
            <a:avLst/>
          </a:prstGeom>
          <a:noFill/>
          <a:ln>
            <a:solidFill>
              <a:srgbClr val="C9F6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61E19FA-2E31-7044-ABE2-57405C0C26C1}"/>
              </a:ext>
            </a:extLst>
          </p:cNvPr>
          <p:cNvSpPr/>
          <p:nvPr/>
        </p:nvSpPr>
        <p:spPr>
          <a:xfrm rot="7980361">
            <a:off x="2162442" y="2153696"/>
            <a:ext cx="623340" cy="2549607"/>
          </a:xfrm>
          <a:prstGeom prst="rect">
            <a:avLst/>
          </a:prstGeom>
          <a:noFill/>
          <a:ln>
            <a:solidFill>
              <a:srgbClr val="F1F1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67A5491-DFE1-5981-12E8-8158C856EEF2}"/>
              </a:ext>
            </a:extLst>
          </p:cNvPr>
          <p:cNvSpPr/>
          <p:nvPr/>
        </p:nvSpPr>
        <p:spPr>
          <a:xfrm>
            <a:off x="4574448" y="3870079"/>
            <a:ext cx="623340" cy="623341"/>
          </a:xfrm>
          <a:prstGeom prst="rect">
            <a:avLst/>
          </a:prstGeom>
          <a:noFill/>
          <a:ln>
            <a:solidFill>
              <a:srgbClr val="FF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2B834CA-4585-4AC7-7AC8-EC04C814757F}"/>
              </a:ext>
            </a:extLst>
          </p:cNvPr>
          <p:cNvSpPr/>
          <p:nvPr/>
        </p:nvSpPr>
        <p:spPr>
          <a:xfrm rot="5400000">
            <a:off x="4566779" y="3184001"/>
            <a:ext cx="623340" cy="623341"/>
          </a:xfrm>
          <a:prstGeom prst="rect">
            <a:avLst/>
          </a:prstGeom>
          <a:noFill/>
          <a:ln>
            <a:solidFill>
              <a:srgbClr val="D1DB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F953488-59E8-3B9F-62AE-AD490F8E5751}"/>
              </a:ext>
            </a:extLst>
          </p:cNvPr>
          <p:cNvSpPr/>
          <p:nvPr/>
        </p:nvSpPr>
        <p:spPr>
          <a:xfrm rot="5400000">
            <a:off x="4559080" y="1841560"/>
            <a:ext cx="623340" cy="623340"/>
          </a:xfrm>
          <a:prstGeom prst="rect">
            <a:avLst/>
          </a:prstGeom>
          <a:noFill/>
          <a:ln>
            <a:solidFill>
              <a:srgbClr val="C9F6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BA60235-B5A0-A0D8-9532-F80CC0AE6D8C}"/>
              </a:ext>
            </a:extLst>
          </p:cNvPr>
          <p:cNvSpPr/>
          <p:nvPr/>
        </p:nvSpPr>
        <p:spPr>
          <a:xfrm rot="10800000">
            <a:off x="4566779" y="2507319"/>
            <a:ext cx="623340" cy="623342"/>
          </a:xfrm>
          <a:prstGeom prst="rect">
            <a:avLst/>
          </a:prstGeom>
          <a:noFill/>
          <a:ln>
            <a:solidFill>
              <a:srgbClr val="F1F1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AE09CEC-AB81-A74F-112D-3DFEF44D96A6}"/>
              </a:ext>
            </a:extLst>
          </p:cNvPr>
          <p:cNvSpPr txBox="1"/>
          <p:nvPr/>
        </p:nvSpPr>
        <p:spPr>
          <a:xfrm>
            <a:off x="4672198" y="1983722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TP</a:t>
            </a:r>
            <a:endParaRPr lang="en-GB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1004CE7-3D19-01F7-F6C0-1A9E7F9A9E68}"/>
              </a:ext>
            </a:extLst>
          </p:cNvPr>
          <p:cNvSpPr txBox="1"/>
          <p:nvPr/>
        </p:nvSpPr>
        <p:spPr>
          <a:xfrm>
            <a:off x="4679882" y="2657765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TN</a:t>
            </a:r>
            <a:endParaRPr lang="en-GB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C771919-13D2-78C4-2096-509E74B9B0C7}"/>
              </a:ext>
            </a:extLst>
          </p:cNvPr>
          <p:cNvSpPr txBox="1"/>
          <p:nvPr/>
        </p:nvSpPr>
        <p:spPr>
          <a:xfrm>
            <a:off x="4687566" y="3331808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FN</a:t>
            </a:r>
            <a:endParaRPr lang="en-GB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83E40923-D34F-5A78-7450-C9A6181AADA1}"/>
              </a:ext>
            </a:extLst>
          </p:cNvPr>
          <p:cNvSpPr txBox="1"/>
          <p:nvPr/>
        </p:nvSpPr>
        <p:spPr>
          <a:xfrm>
            <a:off x="4701676" y="4005851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FP</a:t>
            </a:r>
            <a:endParaRPr lang="en-GB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4904173-7866-16C9-0CBE-EC8F3BC5D452}"/>
              </a:ext>
            </a:extLst>
          </p:cNvPr>
          <p:cNvSpPr txBox="1"/>
          <p:nvPr/>
        </p:nvSpPr>
        <p:spPr>
          <a:xfrm>
            <a:off x="5684532" y="1207429"/>
            <a:ext cx="333697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Normally, we aim for a combination of both, high precision </a:t>
            </a:r>
            <a:r>
              <a:rPr lang="en-GB" sz="1400" b="1" dirty="0"/>
              <a:t>and</a:t>
            </a:r>
            <a:r>
              <a:rPr lang="en-GB" sz="1400" dirty="0"/>
              <a:t> high recall, but often, one is more important</a:t>
            </a:r>
          </a:p>
          <a:p>
            <a:endParaRPr lang="en-GB" sz="1400" dirty="0"/>
          </a:p>
          <a:p>
            <a:r>
              <a:rPr lang="en-GB" sz="1400" dirty="0"/>
              <a:t>Questions in our example: </a:t>
            </a:r>
          </a:p>
          <a:p>
            <a:endParaRPr lang="en-GB" sz="1400" dirty="0"/>
          </a:p>
          <a:p>
            <a:r>
              <a:rPr lang="en-GB" sz="1400" dirty="0"/>
              <a:t>What values are good enough for automated postal code detection?</a:t>
            </a:r>
          </a:p>
          <a:p>
            <a:endParaRPr lang="en-GB" sz="1400" dirty="0"/>
          </a:p>
          <a:p>
            <a:r>
              <a:rPr lang="en-GB" sz="1400" dirty="0"/>
              <a:t>What is more important for us: higher recall or higher precision?</a:t>
            </a:r>
          </a:p>
          <a:p>
            <a:endParaRPr lang="en-GB" sz="1400" dirty="0"/>
          </a:p>
          <a:p>
            <a:r>
              <a:rPr lang="en-GB" sz="1400" dirty="0"/>
              <a:t>Do we have further constraints that can help us?  </a:t>
            </a:r>
            <a:endParaRPr lang="en-GB" dirty="0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2821C7A-EF9D-D62E-98A7-6E293510A2B0}"/>
              </a:ext>
            </a:extLst>
          </p:cNvPr>
          <p:cNvCxnSpPr>
            <a:cxnSpLocks/>
          </p:cNvCxnSpPr>
          <p:nvPr/>
        </p:nvCxnSpPr>
        <p:spPr>
          <a:xfrm>
            <a:off x="5508625" y="983337"/>
            <a:ext cx="0" cy="3950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639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5C91A-AA9D-1CEB-DFE8-71EFF38F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381B65-FE97-4BBF-249E-C0B69326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Confusion Matrix – Evaluation Metrics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3071CF-D437-FCC8-680D-6FB01AC7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10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7CB3DEB-BF50-750E-6D2C-2A6A162757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690739"/>
            <a:ext cx="4792969" cy="292598"/>
          </a:xfrm>
        </p:spPr>
        <p:txBody>
          <a:bodyPr/>
          <a:lstStyle/>
          <a:p>
            <a:r>
              <a:rPr lang="en-GB" sz="1400" dirty="0"/>
              <a:t>Confusion matrices are common for classification</a:t>
            </a:r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95300829-2FA2-C0F6-6CAA-F4889CCB951B}"/>
              </a:ext>
            </a:extLst>
          </p:cNvPr>
          <p:cNvGraphicFramePr>
            <a:graphicFrameLocks noGrp="1"/>
          </p:cNvGraphicFramePr>
          <p:nvPr/>
        </p:nvGraphicFramePr>
        <p:xfrm>
          <a:off x="433685" y="1524937"/>
          <a:ext cx="3575707" cy="3317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839">
                  <a:extLst>
                    <a:ext uri="{9D8B030D-6E8A-4147-A177-3AD203B41FA5}">
                      <a16:colId xmlns:a16="http://schemas.microsoft.com/office/drawing/2014/main" val="3293488837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1700644197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3433917102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1569189834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4144896416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2748408521"/>
                    </a:ext>
                  </a:extLst>
                </a:gridCol>
                <a:gridCol w="511478">
                  <a:extLst>
                    <a:ext uri="{9D8B030D-6E8A-4147-A177-3AD203B41FA5}">
                      <a16:colId xmlns:a16="http://schemas.microsoft.com/office/drawing/2014/main" val="1643272746"/>
                    </a:ext>
                  </a:extLst>
                </a:gridCol>
              </a:tblGrid>
              <a:tr h="469344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407379"/>
                  </a:ext>
                </a:extLst>
              </a:tr>
              <a:tr h="501491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925700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411968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645974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627221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968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79236"/>
                  </a:ext>
                </a:extLst>
              </a:tr>
              <a:tr h="46934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808250"/>
                  </a:ext>
                </a:extLst>
              </a:tr>
            </a:tbl>
          </a:graphicData>
        </a:graphic>
      </p:graphicFrame>
      <p:sp>
        <p:nvSpPr>
          <p:cNvPr id="14" name="Textfeld 13">
            <a:extLst>
              <a:ext uri="{FF2B5EF4-FFF2-40B4-BE49-F238E27FC236}">
                <a16:creationId xmlns:a16="http://schemas.microsoft.com/office/drawing/2014/main" id="{65711A5A-D0E2-CBE7-566A-72F1309BCA45}"/>
              </a:ext>
            </a:extLst>
          </p:cNvPr>
          <p:cNvSpPr txBox="1"/>
          <p:nvPr/>
        </p:nvSpPr>
        <p:spPr>
          <a:xfrm>
            <a:off x="1534016" y="1179531"/>
            <a:ext cx="16357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Predicted digit</a:t>
            </a:r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A82C5CD-F2F9-6A7E-3762-807560FC8092}"/>
              </a:ext>
            </a:extLst>
          </p:cNvPr>
          <p:cNvSpPr txBox="1"/>
          <p:nvPr/>
        </p:nvSpPr>
        <p:spPr>
          <a:xfrm rot="16200000">
            <a:off x="-427803" y="2797464"/>
            <a:ext cx="1302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True digit</a:t>
            </a:r>
            <a:endParaRPr lang="en-GB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28096EF-CD5C-59F4-8E88-3907A6916F84}"/>
              </a:ext>
            </a:extLst>
          </p:cNvPr>
          <p:cNvSpPr/>
          <p:nvPr/>
        </p:nvSpPr>
        <p:spPr>
          <a:xfrm>
            <a:off x="879940" y="2551959"/>
            <a:ext cx="623340" cy="2381595"/>
          </a:xfrm>
          <a:prstGeom prst="rect">
            <a:avLst/>
          </a:prstGeom>
          <a:noFill/>
          <a:ln>
            <a:solidFill>
              <a:srgbClr val="FF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296BA01-20A2-CC85-3A61-347E40C8C122}"/>
              </a:ext>
            </a:extLst>
          </p:cNvPr>
          <p:cNvSpPr/>
          <p:nvPr/>
        </p:nvSpPr>
        <p:spPr>
          <a:xfrm rot="5400000">
            <a:off x="2466413" y="965485"/>
            <a:ext cx="623340" cy="2549607"/>
          </a:xfrm>
          <a:prstGeom prst="rect">
            <a:avLst/>
          </a:prstGeom>
          <a:noFill/>
          <a:ln>
            <a:solidFill>
              <a:srgbClr val="D2DF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566C50C-4097-A571-6497-ECA0F342A054}"/>
              </a:ext>
            </a:extLst>
          </p:cNvPr>
          <p:cNvSpPr/>
          <p:nvPr/>
        </p:nvSpPr>
        <p:spPr>
          <a:xfrm rot="5400000">
            <a:off x="879938" y="1920581"/>
            <a:ext cx="623340" cy="623340"/>
          </a:xfrm>
          <a:prstGeom prst="rect">
            <a:avLst/>
          </a:prstGeom>
          <a:noFill/>
          <a:ln>
            <a:solidFill>
              <a:srgbClr val="C9F6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F7FDD7B-3332-D669-EADF-E766B4D75F66}"/>
              </a:ext>
            </a:extLst>
          </p:cNvPr>
          <p:cNvSpPr/>
          <p:nvPr/>
        </p:nvSpPr>
        <p:spPr>
          <a:xfrm rot="7980361">
            <a:off x="2162442" y="2153696"/>
            <a:ext cx="623340" cy="2549607"/>
          </a:xfrm>
          <a:prstGeom prst="rect">
            <a:avLst/>
          </a:prstGeom>
          <a:noFill/>
          <a:ln>
            <a:solidFill>
              <a:srgbClr val="F1F1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43900C7-6CC7-FC23-DDD0-ABC89DE45BF5}"/>
              </a:ext>
            </a:extLst>
          </p:cNvPr>
          <p:cNvSpPr/>
          <p:nvPr/>
        </p:nvSpPr>
        <p:spPr>
          <a:xfrm>
            <a:off x="4574448" y="3870079"/>
            <a:ext cx="623340" cy="623341"/>
          </a:xfrm>
          <a:prstGeom prst="rect">
            <a:avLst/>
          </a:prstGeom>
          <a:noFill/>
          <a:ln>
            <a:solidFill>
              <a:srgbClr val="FFB2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810BE02-F3D0-DB83-53BB-61D7A5B4636C}"/>
              </a:ext>
            </a:extLst>
          </p:cNvPr>
          <p:cNvSpPr/>
          <p:nvPr/>
        </p:nvSpPr>
        <p:spPr>
          <a:xfrm rot="5400000">
            <a:off x="4566779" y="3184001"/>
            <a:ext cx="623340" cy="623341"/>
          </a:xfrm>
          <a:prstGeom prst="rect">
            <a:avLst/>
          </a:prstGeom>
          <a:noFill/>
          <a:ln>
            <a:solidFill>
              <a:srgbClr val="D1DB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C2F3DCA-5705-E83F-27E1-F00DD9C91B25}"/>
              </a:ext>
            </a:extLst>
          </p:cNvPr>
          <p:cNvSpPr/>
          <p:nvPr/>
        </p:nvSpPr>
        <p:spPr>
          <a:xfrm rot="5400000">
            <a:off x="4559080" y="1841560"/>
            <a:ext cx="623340" cy="623340"/>
          </a:xfrm>
          <a:prstGeom prst="rect">
            <a:avLst/>
          </a:prstGeom>
          <a:noFill/>
          <a:ln>
            <a:solidFill>
              <a:srgbClr val="C9F6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282A98F-7D6C-21FA-3B58-3C0EB733B184}"/>
              </a:ext>
            </a:extLst>
          </p:cNvPr>
          <p:cNvSpPr/>
          <p:nvPr/>
        </p:nvSpPr>
        <p:spPr>
          <a:xfrm rot="10800000">
            <a:off x="4566779" y="2507319"/>
            <a:ext cx="623340" cy="623342"/>
          </a:xfrm>
          <a:prstGeom prst="rect">
            <a:avLst/>
          </a:prstGeom>
          <a:noFill/>
          <a:ln>
            <a:solidFill>
              <a:srgbClr val="F1F1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EA8214BE-120C-249D-3E00-EA1B32F5D0E6}"/>
              </a:ext>
            </a:extLst>
          </p:cNvPr>
          <p:cNvSpPr txBox="1"/>
          <p:nvPr/>
        </p:nvSpPr>
        <p:spPr>
          <a:xfrm>
            <a:off x="4672198" y="1983722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TP</a:t>
            </a:r>
            <a:endParaRPr lang="en-GB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B679F9C-94DE-B207-10B0-E6762A5EF398}"/>
              </a:ext>
            </a:extLst>
          </p:cNvPr>
          <p:cNvSpPr txBox="1"/>
          <p:nvPr/>
        </p:nvSpPr>
        <p:spPr>
          <a:xfrm>
            <a:off x="4679882" y="2657765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TN</a:t>
            </a:r>
            <a:endParaRPr lang="en-GB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AF08E60-10BB-1DDF-18E5-034FB769E187}"/>
              </a:ext>
            </a:extLst>
          </p:cNvPr>
          <p:cNvSpPr txBox="1"/>
          <p:nvPr/>
        </p:nvSpPr>
        <p:spPr>
          <a:xfrm>
            <a:off x="4687566" y="3331808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FN</a:t>
            </a:r>
            <a:endParaRPr lang="en-GB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0216A77-8022-AA7A-23D6-869774C011A1}"/>
              </a:ext>
            </a:extLst>
          </p:cNvPr>
          <p:cNvSpPr txBox="1"/>
          <p:nvPr/>
        </p:nvSpPr>
        <p:spPr>
          <a:xfrm>
            <a:off x="4701676" y="4005851"/>
            <a:ext cx="5102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FP</a:t>
            </a:r>
            <a:endParaRPr lang="en-GB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E64F3D3-A821-E008-C2F3-41E7C454583F}"/>
              </a:ext>
            </a:extLst>
          </p:cNvPr>
          <p:cNvSpPr txBox="1"/>
          <p:nvPr/>
        </p:nvSpPr>
        <p:spPr>
          <a:xfrm>
            <a:off x="5715342" y="1822022"/>
            <a:ext cx="24629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Recall = TP / (TP + FN) 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60281C7-B213-C7B2-042F-B5A5C8C7E4D2}"/>
              </a:ext>
            </a:extLst>
          </p:cNvPr>
          <p:cNvSpPr txBox="1"/>
          <p:nvPr/>
        </p:nvSpPr>
        <p:spPr>
          <a:xfrm>
            <a:off x="5715342" y="2308938"/>
            <a:ext cx="269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Precision = TP / (TP + FP) </a:t>
            </a:r>
            <a:endParaRPr lang="en-GB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5330E05-6907-4ABC-834E-C5F4B6AE25A8}"/>
              </a:ext>
            </a:extLst>
          </p:cNvPr>
          <p:cNvSpPr txBox="1"/>
          <p:nvPr/>
        </p:nvSpPr>
        <p:spPr>
          <a:xfrm>
            <a:off x="5715342" y="2728207"/>
            <a:ext cx="3917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Accuracy = </a:t>
            </a:r>
          </a:p>
          <a:p>
            <a:r>
              <a:rPr lang="en-GB" sz="1400" dirty="0"/>
              <a:t>(TP + TN) / (TP + TN + FP + FN) </a:t>
            </a:r>
            <a:endParaRPr lang="en-GB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2F484CC-61F2-4B9C-CB48-D672CCF360E0}"/>
              </a:ext>
            </a:extLst>
          </p:cNvPr>
          <p:cNvSpPr txBox="1"/>
          <p:nvPr/>
        </p:nvSpPr>
        <p:spPr>
          <a:xfrm>
            <a:off x="5746152" y="3318693"/>
            <a:ext cx="3917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F1 = </a:t>
            </a:r>
          </a:p>
          <a:p>
            <a:r>
              <a:rPr lang="en-GB" sz="1400" dirty="0"/>
              <a:t>(2 x TP) / (2 x TP + FP + FN) </a:t>
            </a:r>
            <a:endParaRPr lang="en-GB" dirty="0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F05EB64-CB71-A65B-E049-96E91C03A077}"/>
              </a:ext>
            </a:extLst>
          </p:cNvPr>
          <p:cNvCxnSpPr>
            <a:cxnSpLocks/>
          </p:cNvCxnSpPr>
          <p:nvPr/>
        </p:nvCxnSpPr>
        <p:spPr>
          <a:xfrm>
            <a:off x="5508625" y="983337"/>
            <a:ext cx="0" cy="3950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C759A3E4-3A3B-7920-A4BE-766715EDF9DE}"/>
              </a:ext>
            </a:extLst>
          </p:cNvPr>
          <p:cNvSpPr txBox="1"/>
          <p:nvPr/>
        </p:nvSpPr>
        <p:spPr>
          <a:xfrm>
            <a:off x="5715342" y="3983306"/>
            <a:ext cx="3917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Jaccard index = </a:t>
            </a:r>
          </a:p>
          <a:p>
            <a:r>
              <a:rPr lang="en-GB" sz="1400" dirty="0"/>
              <a:t>TP / (TP + FP + FN) </a:t>
            </a:r>
            <a:endParaRPr lang="en-GB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7B84ACC-9088-F072-3295-44D22F0E6F75}"/>
              </a:ext>
            </a:extLst>
          </p:cNvPr>
          <p:cNvSpPr txBox="1"/>
          <p:nvPr/>
        </p:nvSpPr>
        <p:spPr>
          <a:xfrm>
            <a:off x="5715342" y="1335106"/>
            <a:ext cx="24629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Metrics used often: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60306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15C95E-3232-4F97-7EC5-C402BE66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MNIST dataset for training for our example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7DFC04-4B90-426E-5158-1BC9E6E3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11</a:t>
            </a:fld>
            <a:endParaRPr lang="de-DE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3E2AD6C3-1A92-6C0C-6664-9E1538C8DE4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569" y="1126111"/>
            <a:ext cx="5832862" cy="3544888"/>
          </a:xfrm>
          <a:prstGeom prst="rect">
            <a:avLst/>
          </a:prstGeom>
        </p:spPr>
      </p:pic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2423EBAF-5B84-DB36-A0A2-873709A97BD3}"/>
              </a:ext>
            </a:extLst>
          </p:cNvPr>
          <p:cNvSpPr txBox="1">
            <a:spLocks/>
          </p:cNvSpPr>
          <p:nvPr/>
        </p:nvSpPr>
        <p:spPr>
          <a:xfrm>
            <a:off x="539750" y="1600350"/>
            <a:ext cx="2440800" cy="182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Images and labels of 60.000 handwritten digits for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10.000 images and labels for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Size of images:     28 x 28</a:t>
            </a:r>
          </a:p>
        </p:txBody>
      </p:sp>
    </p:spTree>
    <p:extLst>
      <p:ext uri="{BB962C8B-B14F-4D97-AF65-F5344CB8AC3E}">
        <p14:creationId xmlns:p14="http://schemas.microsoft.com/office/powerpoint/2010/main" val="3426648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270C3-51B0-7981-9445-F64A81E84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091F65-2FDE-3AE7-B439-C2CF38BA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PyTorch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959E54-AFE7-D997-5054-14D309E46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12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B5F04-ABFD-7B78-858B-3195C8034C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303574"/>
            <a:ext cx="7155158" cy="35460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Powerful Python package designed specifically for working with Neural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Works with so-called tensors -&gt; compatible with </a:t>
            </a:r>
            <a:r>
              <a:rPr lang="en-GB" dirty="0" err="1"/>
              <a:t>numpy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Easy usage with GPU (more specifically: NVIDIA GPU)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Handles all math (derivatives and chain rule!) internally in an efficient manner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Necessary building blocks of all basic Neural Network architectures included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7962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EC88-77D5-C9C6-FA5C-C5BC28428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9ED4E8F0-5120-1487-B518-839944DC30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53670" y="619350"/>
            <a:ext cx="4418330" cy="405425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692112-C78F-C3FE-EF6A-FBEB80597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13</a:t>
            </a:fld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E6D5E56-5027-A33D-3A07-CA2A37929EE6}"/>
              </a:ext>
            </a:extLst>
          </p:cNvPr>
          <p:cNvSpPr txBox="1"/>
          <p:nvPr/>
        </p:nvSpPr>
        <p:spPr>
          <a:xfrm>
            <a:off x="5046771" y="995079"/>
            <a:ext cx="3561853" cy="60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We create a new class for our model (</a:t>
            </a:r>
            <a:r>
              <a:rPr lang="en-GB" sz="1600" dirty="0" err="1"/>
              <a:t>nn.Module</a:t>
            </a:r>
            <a:r>
              <a:rPr lang="en-GB" sz="1600" dirty="0"/>
              <a:t> important!)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F617B63-0A8E-9A7D-DA81-B270DC68E677}"/>
              </a:ext>
            </a:extLst>
          </p:cNvPr>
          <p:cNvSpPr txBox="1"/>
          <p:nvPr/>
        </p:nvSpPr>
        <p:spPr>
          <a:xfrm>
            <a:off x="5079048" y="1807637"/>
            <a:ext cx="3832477" cy="60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We need at least an __</a:t>
            </a:r>
            <a:r>
              <a:rPr lang="en-GB" sz="1600" dirty="0" err="1"/>
              <a:t>init</a:t>
            </a:r>
            <a:r>
              <a:rPr lang="en-GB" sz="1600" dirty="0"/>
              <a:t>__ and a forward methods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CCC07B5-0824-A265-84AF-A8FA260E8D71}"/>
              </a:ext>
            </a:extLst>
          </p:cNvPr>
          <p:cNvSpPr txBox="1"/>
          <p:nvPr/>
        </p:nvSpPr>
        <p:spPr>
          <a:xfrm>
            <a:off x="5079048" y="2644727"/>
            <a:ext cx="3529576" cy="87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We stack the building blocks of the models architecture in the “__</a:t>
            </a:r>
            <a:r>
              <a:rPr lang="en-GB" sz="1600" dirty="0" err="1"/>
              <a:t>init</a:t>
            </a:r>
            <a:r>
              <a:rPr lang="en-GB" sz="1600" dirty="0"/>
              <a:t>__” method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B2B5658-070E-AF34-515A-04EDDED33219}"/>
              </a:ext>
            </a:extLst>
          </p:cNvPr>
          <p:cNvSpPr txBox="1"/>
          <p:nvPr/>
        </p:nvSpPr>
        <p:spPr>
          <a:xfrm>
            <a:off x="5079048" y="3694705"/>
            <a:ext cx="3450063" cy="60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We call the wanted blocks in the “forward” method</a:t>
            </a:r>
          </a:p>
        </p:txBody>
      </p:sp>
    </p:spTree>
    <p:extLst>
      <p:ext uri="{BB962C8B-B14F-4D97-AF65-F5344CB8AC3E}">
        <p14:creationId xmlns:p14="http://schemas.microsoft.com/office/powerpoint/2010/main" val="207199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2148D-620E-412E-CBEF-2B8E39EA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76AB4F96-5A4E-8BED-2E4F-74E40E6014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53670" y="619350"/>
            <a:ext cx="4418330" cy="405425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994933-B1E2-51C6-05B1-6D08567BE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14</a:t>
            </a:fld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8EE9466-BC8C-2C43-603B-F9918508596F}"/>
              </a:ext>
            </a:extLst>
          </p:cNvPr>
          <p:cNvSpPr txBox="1"/>
          <p:nvPr/>
        </p:nvSpPr>
        <p:spPr>
          <a:xfrm>
            <a:off x="4862353" y="1010319"/>
            <a:ext cx="4127977" cy="35685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All components of the network architecture are individual modules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Common to include the modules that make up the network in “__</a:t>
            </a:r>
            <a:r>
              <a:rPr lang="en-GB" sz="1600" dirty="0" err="1"/>
              <a:t>init</a:t>
            </a:r>
            <a:r>
              <a:rPr lang="en-GB" sz="1600" dirty="0"/>
              <a:t>__” (not strictly necessary!)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Sequential: container that stacks all modules and handles them according to their order 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We call the container in forward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GB" sz="1600" dirty="0"/>
          </a:p>
        </p:txBody>
      </p:sp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329667B2-1AA8-E8FC-5035-E11E80EEF534}"/>
              </a:ext>
            </a:extLst>
          </p:cNvPr>
          <p:cNvSpPr/>
          <p:nvPr/>
        </p:nvSpPr>
        <p:spPr>
          <a:xfrm>
            <a:off x="2643308" y="583987"/>
            <a:ext cx="999804" cy="390969"/>
          </a:xfrm>
          <a:custGeom>
            <a:avLst/>
            <a:gdLst>
              <a:gd name="csX0" fmla="*/ 69156 w 999804"/>
              <a:gd name="csY0" fmla="*/ 291993 h 390969"/>
              <a:gd name="csX1" fmla="*/ 107576 w 999804"/>
              <a:gd name="csY1" fmla="*/ 330413 h 390969"/>
              <a:gd name="csX2" fmla="*/ 153680 w 999804"/>
              <a:gd name="csY2" fmla="*/ 345781 h 390969"/>
              <a:gd name="csX3" fmla="*/ 176732 w 999804"/>
              <a:gd name="csY3" fmla="*/ 361149 h 390969"/>
              <a:gd name="csX4" fmla="*/ 315045 w 999804"/>
              <a:gd name="csY4" fmla="*/ 376517 h 390969"/>
              <a:gd name="csX5" fmla="*/ 906716 w 999804"/>
              <a:gd name="csY5" fmla="*/ 338097 h 390969"/>
              <a:gd name="csX6" fmla="*/ 952820 w 999804"/>
              <a:gd name="csY6" fmla="*/ 307361 h 390969"/>
              <a:gd name="csX7" fmla="*/ 991240 w 999804"/>
              <a:gd name="csY7" fmla="*/ 253573 h 390969"/>
              <a:gd name="csX8" fmla="*/ 991240 w 999804"/>
              <a:gd name="csY8" fmla="*/ 153680 h 390969"/>
              <a:gd name="csX9" fmla="*/ 929768 w 999804"/>
              <a:gd name="csY9" fmla="*/ 122944 h 390969"/>
              <a:gd name="csX10" fmla="*/ 806823 w 999804"/>
              <a:gd name="csY10" fmla="*/ 84524 h 390969"/>
              <a:gd name="csX11" fmla="*/ 645458 w 999804"/>
              <a:gd name="csY11" fmla="*/ 53788 h 390969"/>
              <a:gd name="csX12" fmla="*/ 445674 w 999804"/>
              <a:gd name="csY12" fmla="*/ 23052 h 390969"/>
              <a:gd name="csX13" fmla="*/ 338097 w 999804"/>
              <a:gd name="csY13" fmla="*/ 7684 h 390969"/>
              <a:gd name="csX14" fmla="*/ 253573 w 999804"/>
              <a:gd name="csY14" fmla="*/ 0 h 390969"/>
              <a:gd name="csX15" fmla="*/ 30736 w 999804"/>
              <a:gd name="csY15" fmla="*/ 38420 h 390969"/>
              <a:gd name="csX16" fmla="*/ 7684 w 999804"/>
              <a:gd name="csY16" fmla="*/ 76840 h 390969"/>
              <a:gd name="csX17" fmla="*/ 0 w 999804"/>
              <a:gd name="csY17" fmla="*/ 122944 h 390969"/>
              <a:gd name="csX18" fmla="*/ 38420 w 999804"/>
              <a:gd name="csY18" fmla="*/ 268941 h 390969"/>
              <a:gd name="csX19" fmla="*/ 84524 w 999804"/>
              <a:gd name="csY19" fmla="*/ 330413 h 390969"/>
              <a:gd name="csX20" fmla="*/ 138312 w 999804"/>
              <a:gd name="csY20" fmla="*/ 384201 h 390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999804" h="390969">
                <a:moveTo>
                  <a:pt x="69156" y="291993"/>
                </a:moveTo>
                <a:cubicBezTo>
                  <a:pt x="81963" y="304800"/>
                  <a:pt x="92296" y="320689"/>
                  <a:pt x="107576" y="330413"/>
                </a:cubicBezTo>
                <a:cubicBezTo>
                  <a:pt x="121243" y="339110"/>
                  <a:pt x="138877" y="339202"/>
                  <a:pt x="153680" y="345781"/>
                </a:cubicBezTo>
                <a:cubicBezTo>
                  <a:pt x="162119" y="349532"/>
                  <a:pt x="167660" y="359421"/>
                  <a:pt x="176732" y="361149"/>
                </a:cubicBezTo>
                <a:cubicBezTo>
                  <a:pt x="222301" y="369829"/>
                  <a:pt x="268941" y="371394"/>
                  <a:pt x="315045" y="376517"/>
                </a:cubicBezTo>
                <a:cubicBezTo>
                  <a:pt x="439105" y="372972"/>
                  <a:pt x="735187" y="430458"/>
                  <a:pt x="906716" y="338097"/>
                </a:cubicBezTo>
                <a:cubicBezTo>
                  <a:pt x="922978" y="329340"/>
                  <a:pt x="937452" y="317606"/>
                  <a:pt x="952820" y="307361"/>
                </a:cubicBezTo>
                <a:cubicBezTo>
                  <a:pt x="965627" y="289432"/>
                  <a:pt x="980689" y="272916"/>
                  <a:pt x="991240" y="253573"/>
                </a:cubicBezTo>
                <a:cubicBezTo>
                  <a:pt x="1004058" y="230073"/>
                  <a:pt x="1001169" y="168022"/>
                  <a:pt x="991240" y="153680"/>
                </a:cubicBezTo>
                <a:cubicBezTo>
                  <a:pt x="978200" y="134844"/>
                  <a:pt x="950497" y="132699"/>
                  <a:pt x="929768" y="122944"/>
                </a:cubicBezTo>
                <a:cubicBezTo>
                  <a:pt x="838318" y="79909"/>
                  <a:pt x="889707" y="99325"/>
                  <a:pt x="806823" y="84524"/>
                </a:cubicBezTo>
                <a:cubicBezTo>
                  <a:pt x="752920" y="74899"/>
                  <a:pt x="699437" y="62976"/>
                  <a:pt x="645458" y="53788"/>
                </a:cubicBezTo>
                <a:cubicBezTo>
                  <a:pt x="579035" y="42482"/>
                  <a:pt x="512307" y="33047"/>
                  <a:pt x="445674" y="23052"/>
                </a:cubicBezTo>
                <a:cubicBezTo>
                  <a:pt x="409852" y="17679"/>
                  <a:pt x="374171" y="10963"/>
                  <a:pt x="338097" y="7684"/>
                </a:cubicBezTo>
                <a:lnTo>
                  <a:pt x="253573" y="0"/>
                </a:lnTo>
                <a:cubicBezTo>
                  <a:pt x="222773" y="3080"/>
                  <a:pt x="79323" y="6029"/>
                  <a:pt x="30736" y="38420"/>
                </a:cubicBezTo>
                <a:cubicBezTo>
                  <a:pt x="18309" y="46704"/>
                  <a:pt x="15368" y="64033"/>
                  <a:pt x="7684" y="76840"/>
                </a:cubicBezTo>
                <a:cubicBezTo>
                  <a:pt x="5123" y="92208"/>
                  <a:pt x="0" y="107364"/>
                  <a:pt x="0" y="122944"/>
                </a:cubicBezTo>
                <a:cubicBezTo>
                  <a:pt x="0" y="166612"/>
                  <a:pt x="11833" y="233491"/>
                  <a:pt x="38420" y="268941"/>
                </a:cubicBezTo>
                <a:cubicBezTo>
                  <a:pt x="53788" y="289432"/>
                  <a:pt x="67749" y="311057"/>
                  <a:pt x="84524" y="330413"/>
                </a:cubicBezTo>
                <a:cubicBezTo>
                  <a:pt x="101130" y="349574"/>
                  <a:pt x="138312" y="384201"/>
                  <a:pt x="138312" y="38420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411B2BCC-662E-4A09-7330-4AE976CEA52B}"/>
              </a:ext>
            </a:extLst>
          </p:cNvPr>
          <p:cNvSpPr/>
          <p:nvPr/>
        </p:nvSpPr>
        <p:spPr>
          <a:xfrm>
            <a:off x="3050561" y="974956"/>
            <a:ext cx="145997" cy="584903"/>
          </a:xfrm>
          <a:custGeom>
            <a:avLst/>
            <a:gdLst>
              <a:gd name="csX0" fmla="*/ 145997 w 145997"/>
              <a:gd name="csY0" fmla="*/ 0 h 522514"/>
              <a:gd name="csX1" fmla="*/ 138313 w 145997"/>
              <a:gd name="csY1" fmla="*/ 322729 h 522514"/>
              <a:gd name="csX2" fmla="*/ 92209 w 145997"/>
              <a:gd name="csY2" fmla="*/ 399569 h 522514"/>
              <a:gd name="csX3" fmla="*/ 46105 w 145997"/>
              <a:gd name="csY3" fmla="*/ 476410 h 522514"/>
              <a:gd name="csX4" fmla="*/ 0 w 145997"/>
              <a:gd name="csY4" fmla="*/ 522514 h 522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5997" h="522514">
                <a:moveTo>
                  <a:pt x="145997" y="0"/>
                </a:moveTo>
                <a:cubicBezTo>
                  <a:pt x="143436" y="107576"/>
                  <a:pt x="145316" y="215350"/>
                  <a:pt x="138313" y="322729"/>
                </a:cubicBezTo>
                <a:cubicBezTo>
                  <a:pt x="137457" y="335850"/>
                  <a:pt x="92580" y="398976"/>
                  <a:pt x="92209" y="399569"/>
                </a:cubicBezTo>
                <a:cubicBezTo>
                  <a:pt x="76378" y="424899"/>
                  <a:pt x="69430" y="457750"/>
                  <a:pt x="46105" y="476410"/>
                </a:cubicBezTo>
                <a:cubicBezTo>
                  <a:pt x="3212" y="510724"/>
                  <a:pt x="15019" y="492477"/>
                  <a:pt x="0" y="522514"/>
                </a:cubicBezTo>
              </a:path>
            </a:pathLst>
          </a:custGeom>
          <a:noFill/>
          <a:ln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1CAA65A-B4CF-2612-EFD4-2E7128FA86FD}"/>
              </a:ext>
            </a:extLst>
          </p:cNvPr>
          <p:cNvSpPr txBox="1"/>
          <p:nvPr/>
        </p:nvSpPr>
        <p:spPr>
          <a:xfrm>
            <a:off x="3243495" y="944795"/>
            <a:ext cx="1536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rgbClr val="FF0000"/>
                </a:solidFill>
              </a:rPr>
              <a:t>makes everything </a:t>
            </a:r>
            <a:r>
              <a:rPr lang="en-GB" sz="1200" dirty="0">
                <a:solidFill>
                  <a:srgbClr val="FF0000"/>
                </a:solidFill>
              </a:rPr>
              <a:t>trackable</a:t>
            </a:r>
            <a:endParaRPr lang="en-GB" sz="1400" dirty="0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4713F022-EC8C-20C0-DBE4-7860E311FDC3}"/>
              </a:ext>
            </a:extLst>
          </p:cNvPr>
          <p:cNvSpPr/>
          <p:nvPr/>
        </p:nvSpPr>
        <p:spPr>
          <a:xfrm>
            <a:off x="2544422" y="1010319"/>
            <a:ext cx="414938" cy="906716"/>
          </a:xfrm>
          <a:custGeom>
            <a:avLst/>
            <a:gdLst>
              <a:gd name="csX0" fmla="*/ 414938 w 414938"/>
              <a:gd name="csY0" fmla="*/ 0 h 906716"/>
              <a:gd name="csX1" fmla="*/ 391886 w 414938"/>
              <a:gd name="csY1" fmla="*/ 238205 h 906716"/>
              <a:gd name="csX2" fmla="*/ 376518 w 414938"/>
              <a:gd name="csY2" fmla="*/ 315045 h 906716"/>
              <a:gd name="csX3" fmla="*/ 368834 w 414938"/>
              <a:gd name="csY3" fmla="*/ 399569 h 906716"/>
              <a:gd name="csX4" fmla="*/ 361150 w 414938"/>
              <a:gd name="csY4" fmla="*/ 430306 h 906716"/>
              <a:gd name="csX5" fmla="*/ 345782 w 414938"/>
              <a:gd name="csY5" fmla="*/ 484094 h 906716"/>
              <a:gd name="csX6" fmla="*/ 299678 w 414938"/>
              <a:gd name="csY6" fmla="*/ 645458 h 906716"/>
              <a:gd name="csX7" fmla="*/ 253574 w 414938"/>
              <a:gd name="csY7" fmla="*/ 706931 h 906716"/>
              <a:gd name="csX8" fmla="*/ 230521 w 414938"/>
              <a:gd name="csY8" fmla="*/ 729983 h 906716"/>
              <a:gd name="csX9" fmla="*/ 199785 w 414938"/>
              <a:gd name="csY9" fmla="*/ 776087 h 906716"/>
              <a:gd name="csX10" fmla="*/ 122945 w 414938"/>
              <a:gd name="csY10" fmla="*/ 845243 h 906716"/>
              <a:gd name="csX11" fmla="*/ 99893 w 414938"/>
              <a:gd name="csY11" fmla="*/ 852927 h 906716"/>
              <a:gd name="csX12" fmla="*/ 76841 w 414938"/>
              <a:gd name="csY12" fmla="*/ 868295 h 906716"/>
              <a:gd name="csX13" fmla="*/ 53789 w 414938"/>
              <a:gd name="csY13" fmla="*/ 875979 h 906716"/>
              <a:gd name="csX14" fmla="*/ 23053 w 414938"/>
              <a:gd name="csY14" fmla="*/ 891348 h 906716"/>
              <a:gd name="csX15" fmla="*/ 0 w 414938"/>
              <a:gd name="csY15" fmla="*/ 906716 h 906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414938" h="906716">
                <a:moveTo>
                  <a:pt x="414938" y="0"/>
                </a:moveTo>
                <a:cubicBezTo>
                  <a:pt x="407254" y="79402"/>
                  <a:pt x="401543" y="159019"/>
                  <a:pt x="391886" y="238205"/>
                </a:cubicBezTo>
                <a:cubicBezTo>
                  <a:pt x="388724" y="264133"/>
                  <a:pt x="380212" y="289187"/>
                  <a:pt x="376518" y="315045"/>
                </a:cubicBezTo>
                <a:cubicBezTo>
                  <a:pt x="372517" y="343052"/>
                  <a:pt x="372573" y="371526"/>
                  <a:pt x="368834" y="399569"/>
                </a:cubicBezTo>
                <a:cubicBezTo>
                  <a:pt x="367438" y="410037"/>
                  <a:pt x="363929" y="420117"/>
                  <a:pt x="361150" y="430306"/>
                </a:cubicBezTo>
                <a:cubicBezTo>
                  <a:pt x="356244" y="448296"/>
                  <a:pt x="349271" y="465777"/>
                  <a:pt x="345782" y="484094"/>
                </a:cubicBezTo>
                <a:cubicBezTo>
                  <a:pt x="320548" y="616570"/>
                  <a:pt x="352345" y="557679"/>
                  <a:pt x="299678" y="645458"/>
                </a:cubicBezTo>
                <a:cubicBezTo>
                  <a:pt x="287200" y="666255"/>
                  <a:pt x="268792" y="689539"/>
                  <a:pt x="253574" y="706931"/>
                </a:cubicBezTo>
                <a:cubicBezTo>
                  <a:pt x="246418" y="715109"/>
                  <a:pt x="237193" y="721405"/>
                  <a:pt x="230521" y="729983"/>
                </a:cubicBezTo>
                <a:cubicBezTo>
                  <a:pt x="219181" y="744562"/>
                  <a:pt x="212845" y="763027"/>
                  <a:pt x="199785" y="776087"/>
                </a:cubicBezTo>
                <a:cubicBezTo>
                  <a:pt x="178653" y="797219"/>
                  <a:pt x="151017" y="829202"/>
                  <a:pt x="122945" y="845243"/>
                </a:cubicBezTo>
                <a:cubicBezTo>
                  <a:pt x="115913" y="849262"/>
                  <a:pt x="107138" y="849305"/>
                  <a:pt x="99893" y="852927"/>
                </a:cubicBezTo>
                <a:cubicBezTo>
                  <a:pt x="91633" y="857057"/>
                  <a:pt x="85101" y="864165"/>
                  <a:pt x="76841" y="868295"/>
                </a:cubicBezTo>
                <a:cubicBezTo>
                  <a:pt x="69596" y="871917"/>
                  <a:pt x="61234" y="872788"/>
                  <a:pt x="53789" y="875979"/>
                </a:cubicBezTo>
                <a:cubicBezTo>
                  <a:pt x="43260" y="880491"/>
                  <a:pt x="32999" y="885665"/>
                  <a:pt x="23053" y="891348"/>
                </a:cubicBezTo>
                <a:cubicBezTo>
                  <a:pt x="15035" y="895930"/>
                  <a:pt x="0" y="906716"/>
                  <a:pt x="0" y="906716"/>
                </a:cubicBezTo>
              </a:path>
            </a:pathLst>
          </a:custGeom>
          <a:noFill/>
          <a:ln>
            <a:solidFill>
              <a:srgbClr val="FF0000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72236FF6-BAAC-D0A4-FC9D-8A44AF9BC9AE}"/>
              </a:ext>
            </a:extLst>
          </p:cNvPr>
          <p:cNvSpPr/>
          <p:nvPr/>
        </p:nvSpPr>
        <p:spPr>
          <a:xfrm>
            <a:off x="858515" y="899032"/>
            <a:ext cx="2000190" cy="1408971"/>
          </a:xfrm>
          <a:custGeom>
            <a:avLst/>
            <a:gdLst>
              <a:gd name="csX0" fmla="*/ 532295 w 2000190"/>
              <a:gd name="csY0" fmla="*/ 1083448 h 1083448"/>
              <a:gd name="csX1" fmla="*/ 370930 w 2000190"/>
              <a:gd name="csY1" fmla="*/ 998924 h 1083448"/>
              <a:gd name="csX2" fmla="*/ 232618 w 2000190"/>
              <a:gd name="csY2" fmla="*/ 945136 h 1083448"/>
              <a:gd name="csX3" fmla="*/ 171146 w 2000190"/>
              <a:gd name="csY3" fmla="*/ 914400 h 1083448"/>
              <a:gd name="csX4" fmla="*/ 109673 w 2000190"/>
              <a:gd name="csY4" fmla="*/ 845243 h 1083448"/>
              <a:gd name="csX5" fmla="*/ 2097 w 2000190"/>
              <a:gd name="csY5" fmla="*/ 637774 h 1083448"/>
              <a:gd name="csX6" fmla="*/ 9781 w 2000190"/>
              <a:gd name="csY6" fmla="*/ 522514 h 1083448"/>
              <a:gd name="csX7" fmla="*/ 71253 w 2000190"/>
              <a:gd name="csY7" fmla="*/ 507146 h 1083448"/>
              <a:gd name="csX8" fmla="*/ 578399 w 2000190"/>
              <a:gd name="csY8" fmla="*/ 499462 h 1083448"/>
              <a:gd name="csX9" fmla="*/ 1308382 w 2000190"/>
              <a:gd name="csY9" fmla="*/ 476410 h 1083448"/>
              <a:gd name="csX10" fmla="*/ 1631112 w 2000190"/>
              <a:gd name="csY10" fmla="*/ 414937 h 1083448"/>
              <a:gd name="csX11" fmla="*/ 1731004 w 2000190"/>
              <a:gd name="csY11" fmla="*/ 407253 h 1083448"/>
              <a:gd name="csX12" fmla="*/ 1800161 w 2000190"/>
              <a:gd name="csY12" fmla="*/ 384201 h 1083448"/>
              <a:gd name="csX13" fmla="*/ 1907737 w 2000190"/>
              <a:gd name="csY13" fmla="*/ 261257 h 1083448"/>
              <a:gd name="csX14" fmla="*/ 1946157 w 2000190"/>
              <a:gd name="csY14" fmla="*/ 184416 h 1083448"/>
              <a:gd name="csX15" fmla="*/ 1961525 w 2000190"/>
              <a:gd name="csY15" fmla="*/ 161364 h 1083448"/>
              <a:gd name="csX16" fmla="*/ 1999946 w 2000190"/>
              <a:gd name="csY16" fmla="*/ 76840 h 1083448"/>
              <a:gd name="csX17" fmla="*/ 1992261 w 2000190"/>
              <a:gd name="csY17" fmla="*/ 0 h 1083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000190" h="1083448">
                <a:moveTo>
                  <a:pt x="532295" y="1083448"/>
                </a:moveTo>
                <a:cubicBezTo>
                  <a:pt x="408198" y="1042082"/>
                  <a:pt x="598236" y="1109132"/>
                  <a:pt x="370930" y="998924"/>
                </a:cubicBezTo>
                <a:cubicBezTo>
                  <a:pt x="326418" y="977343"/>
                  <a:pt x="278176" y="964411"/>
                  <a:pt x="232618" y="945136"/>
                </a:cubicBezTo>
                <a:cubicBezTo>
                  <a:pt x="211519" y="936210"/>
                  <a:pt x="191637" y="924645"/>
                  <a:pt x="171146" y="914400"/>
                </a:cubicBezTo>
                <a:cubicBezTo>
                  <a:pt x="150655" y="891348"/>
                  <a:pt x="127286" y="870562"/>
                  <a:pt x="109673" y="845243"/>
                </a:cubicBezTo>
                <a:cubicBezTo>
                  <a:pt x="64148" y="779801"/>
                  <a:pt x="35191" y="709479"/>
                  <a:pt x="2097" y="637774"/>
                </a:cubicBezTo>
                <a:cubicBezTo>
                  <a:pt x="4658" y="599354"/>
                  <a:pt x="-8235" y="556545"/>
                  <a:pt x="9781" y="522514"/>
                </a:cubicBezTo>
                <a:cubicBezTo>
                  <a:pt x="19663" y="503847"/>
                  <a:pt x="50149" y="508002"/>
                  <a:pt x="71253" y="507146"/>
                </a:cubicBezTo>
                <a:cubicBezTo>
                  <a:pt x="240182" y="500298"/>
                  <a:pt x="409350" y="502023"/>
                  <a:pt x="578399" y="499462"/>
                </a:cubicBezTo>
                <a:cubicBezTo>
                  <a:pt x="821727" y="491778"/>
                  <a:pt x="1090633" y="585281"/>
                  <a:pt x="1308382" y="476410"/>
                </a:cubicBezTo>
                <a:cubicBezTo>
                  <a:pt x="1425247" y="417979"/>
                  <a:pt x="1345064" y="454199"/>
                  <a:pt x="1631112" y="414937"/>
                </a:cubicBezTo>
                <a:cubicBezTo>
                  <a:pt x="1664197" y="410396"/>
                  <a:pt x="1697707" y="409814"/>
                  <a:pt x="1731004" y="407253"/>
                </a:cubicBezTo>
                <a:cubicBezTo>
                  <a:pt x="1754056" y="399569"/>
                  <a:pt x="1779760" y="397402"/>
                  <a:pt x="1800161" y="384201"/>
                </a:cubicBezTo>
                <a:cubicBezTo>
                  <a:pt x="1829350" y="365314"/>
                  <a:pt x="1888789" y="292263"/>
                  <a:pt x="1907737" y="261257"/>
                </a:cubicBezTo>
                <a:cubicBezTo>
                  <a:pt x="1922670" y="236822"/>
                  <a:pt x="1932580" y="209630"/>
                  <a:pt x="1946157" y="184416"/>
                </a:cubicBezTo>
                <a:cubicBezTo>
                  <a:pt x="1950535" y="176285"/>
                  <a:pt x="1956630" y="169195"/>
                  <a:pt x="1961525" y="161364"/>
                </a:cubicBezTo>
                <a:cubicBezTo>
                  <a:pt x="1976043" y="138135"/>
                  <a:pt x="1998150" y="105568"/>
                  <a:pt x="1999946" y="76840"/>
                </a:cubicBezTo>
                <a:cubicBezTo>
                  <a:pt x="2001552" y="51149"/>
                  <a:pt x="1994823" y="25613"/>
                  <a:pt x="1992261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178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6CD1D-4262-F701-4DFD-5CC0F826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187D5F-F3E7-DFD4-43D9-CF6D7636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668" y="4878000"/>
            <a:ext cx="900000" cy="180000"/>
          </a:xfrm>
        </p:spPr>
        <p:txBody>
          <a:bodyPr/>
          <a:lstStyle/>
          <a:p>
            <a:r>
              <a:rPr lang="de-DE"/>
              <a:t>10.02.2017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327D435-D14D-B149-654F-2E4C6A4A42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53670" y="639670"/>
            <a:ext cx="4418330" cy="4054250"/>
          </a:xfrm>
          <a:prstGeom prst="rect">
            <a:avLst/>
          </a:prstGeom>
        </p:spPr>
      </p:pic>
      <p:sp>
        <p:nvSpPr>
          <p:cNvPr id="244" name="Rechteck 243">
            <a:extLst>
              <a:ext uri="{FF2B5EF4-FFF2-40B4-BE49-F238E27FC236}">
                <a16:creationId xmlns:a16="http://schemas.microsoft.com/office/drawing/2014/main" id="{9B545215-BBA6-0038-A1C2-9AB714A21F9D}"/>
              </a:ext>
            </a:extLst>
          </p:cNvPr>
          <p:cNvSpPr/>
          <p:nvPr/>
        </p:nvSpPr>
        <p:spPr>
          <a:xfrm>
            <a:off x="530452" y="909454"/>
            <a:ext cx="3986848" cy="2132952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19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 animBg="1"/>
      <p:bldP spid="244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03B80-7155-1B1E-80E5-888881E3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034A5E78-F1EB-8C15-DCDC-158D76DB1D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53670" y="639670"/>
            <a:ext cx="4418330" cy="4054250"/>
          </a:xfrm>
          <a:prstGeom prst="rect">
            <a:avLst/>
          </a:prstGeom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53A3E1B-B002-BE85-2045-4B669E8E294A}"/>
              </a:ext>
            </a:extLst>
          </p:cNvPr>
          <p:cNvGrpSpPr/>
          <p:nvPr/>
        </p:nvGrpSpPr>
        <p:grpSpPr>
          <a:xfrm>
            <a:off x="4921798" y="177934"/>
            <a:ext cx="975360" cy="974598"/>
            <a:chOff x="5730240" y="1719072"/>
            <a:chExt cx="975360" cy="974598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68941CC4-FD32-7839-A9B3-256E6FC2572A}"/>
                </a:ext>
              </a:extLst>
            </p:cNvPr>
            <p:cNvSpPr/>
            <p:nvPr/>
          </p:nvSpPr>
          <p:spPr>
            <a:xfrm>
              <a:off x="573024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82D9D1AE-8643-D26A-139B-92AEB19FBB05}"/>
                </a:ext>
              </a:extLst>
            </p:cNvPr>
            <p:cNvSpPr/>
            <p:nvPr/>
          </p:nvSpPr>
          <p:spPr>
            <a:xfrm>
              <a:off x="585216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9CFBB99-261E-E03F-50E2-F937FAD4F3C8}"/>
                </a:ext>
              </a:extLst>
            </p:cNvPr>
            <p:cNvSpPr/>
            <p:nvPr/>
          </p:nvSpPr>
          <p:spPr>
            <a:xfrm>
              <a:off x="597408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17E7FCBE-7F76-C6F7-D38B-6B8E1992FFCE}"/>
                </a:ext>
              </a:extLst>
            </p:cNvPr>
            <p:cNvSpPr/>
            <p:nvPr/>
          </p:nvSpPr>
          <p:spPr>
            <a:xfrm>
              <a:off x="609600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DE87403-AFF0-B098-B2E7-575B783C936F}"/>
                </a:ext>
              </a:extLst>
            </p:cNvPr>
            <p:cNvSpPr/>
            <p:nvPr/>
          </p:nvSpPr>
          <p:spPr>
            <a:xfrm>
              <a:off x="621792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A3692EFA-C7C2-8646-0B78-817F449C1AC2}"/>
                </a:ext>
              </a:extLst>
            </p:cNvPr>
            <p:cNvSpPr/>
            <p:nvPr/>
          </p:nvSpPr>
          <p:spPr>
            <a:xfrm>
              <a:off x="633984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93BFC3E-B99C-5B48-71F6-B1D045F6AFB4}"/>
                </a:ext>
              </a:extLst>
            </p:cNvPr>
            <p:cNvSpPr/>
            <p:nvPr/>
          </p:nvSpPr>
          <p:spPr>
            <a:xfrm>
              <a:off x="646176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CAD9B0FF-337A-D138-65C3-8C71E0C6DF5B}"/>
                </a:ext>
              </a:extLst>
            </p:cNvPr>
            <p:cNvSpPr/>
            <p:nvPr/>
          </p:nvSpPr>
          <p:spPr>
            <a:xfrm>
              <a:off x="658368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FECE5E2E-CC5B-DD4D-8F76-3391AEA0B44A}"/>
                </a:ext>
              </a:extLst>
            </p:cNvPr>
            <p:cNvSpPr/>
            <p:nvPr/>
          </p:nvSpPr>
          <p:spPr>
            <a:xfrm>
              <a:off x="573024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05D096FD-1859-3A02-177F-F1B7702C5F22}"/>
                </a:ext>
              </a:extLst>
            </p:cNvPr>
            <p:cNvSpPr/>
            <p:nvPr/>
          </p:nvSpPr>
          <p:spPr>
            <a:xfrm>
              <a:off x="585216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271F57F5-04D9-C68D-8817-160618291689}"/>
                </a:ext>
              </a:extLst>
            </p:cNvPr>
            <p:cNvSpPr/>
            <p:nvPr/>
          </p:nvSpPr>
          <p:spPr>
            <a:xfrm>
              <a:off x="597408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A4D21856-327E-CBE2-9131-612510408FD3}"/>
                </a:ext>
              </a:extLst>
            </p:cNvPr>
            <p:cNvSpPr/>
            <p:nvPr/>
          </p:nvSpPr>
          <p:spPr>
            <a:xfrm>
              <a:off x="609600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6F84902E-8B95-0174-0BB3-E472A95561DE}"/>
                </a:ext>
              </a:extLst>
            </p:cNvPr>
            <p:cNvSpPr/>
            <p:nvPr/>
          </p:nvSpPr>
          <p:spPr>
            <a:xfrm>
              <a:off x="6217920" y="184099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6FF0A298-6530-DE3E-D8FA-5E453A20EC09}"/>
                </a:ext>
              </a:extLst>
            </p:cNvPr>
            <p:cNvSpPr/>
            <p:nvPr/>
          </p:nvSpPr>
          <p:spPr>
            <a:xfrm>
              <a:off x="633984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7403DC9B-896E-A511-8052-D7845498054E}"/>
                </a:ext>
              </a:extLst>
            </p:cNvPr>
            <p:cNvSpPr/>
            <p:nvPr/>
          </p:nvSpPr>
          <p:spPr>
            <a:xfrm>
              <a:off x="646176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101BA5ED-186B-C420-11F2-92E247010F69}"/>
                </a:ext>
              </a:extLst>
            </p:cNvPr>
            <p:cNvSpPr/>
            <p:nvPr/>
          </p:nvSpPr>
          <p:spPr>
            <a:xfrm>
              <a:off x="658368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266B1844-70C5-DDAE-07FC-CACBBBB6A55A}"/>
                </a:ext>
              </a:extLst>
            </p:cNvPr>
            <p:cNvSpPr/>
            <p:nvPr/>
          </p:nvSpPr>
          <p:spPr>
            <a:xfrm>
              <a:off x="573024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639F3ED1-C39B-D898-444C-E87D81C9016B}"/>
                </a:ext>
              </a:extLst>
            </p:cNvPr>
            <p:cNvSpPr/>
            <p:nvPr/>
          </p:nvSpPr>
          <p:spPr>
            <a:xfrm>
              <a:off x="585216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B8D91F6B-C3A2-BD42-3D77-707158EE92FD}"/>
                </a:ext>
              </a:extLst>
            </p:cNvPr>
            <p:cNvSpPr/>
            <p:nvPr/>
          </p:nvSpPr>
          <p:spPr>
            <a:xfrm>
              <a:off x="597408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AB07B534-6941-B035-2D24-0730AC1353CB}"/>
                </a:ext>
              </a:extLst>
            </p:cNvPr>
            <p:cNvSpPr/>
            <p:nvPr/>
          </p:nvSpPr>
          <p:spPr>
            <a:xfrm>
              <a:off x="6096000" y="196291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74468977-B883-C7D3-E7B8-9F6A4B98834F}"/>
                </a:ext>
              </a:extLst>
            </p:cNvPr>
            <p:cNvSpPr/>
            <p:nvPr/>
          </p:nvSpPr>
          <p:spPr>
            <a:xfrm>
              <a:off x="6217920" y="196291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9EEEA6A6-E319-83C5-D85F-66AADEF028B1}"/>
                </a:ext>
              </a:extLst>
            </p:cNvPr>
            <p:cNvSpPr/>
            <p:nvPr/>
          </p:nvSpPr>
          <p:spPr>
            <a:xfrm>
              <a:off x="633984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FF6DF286-0FAB-B311-FAEC-043B02100397}"/>
                </a:ext>
              </a:extLst>
            </p:cNvPr>
            <p:cNvSpPr/>
            <p:nvPr/>
          </p:nvSpPr>
          <p:spPr>
            <a:xfrm>
              <a:off x="646176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CA895497-4413-2942-7662-192C2E91F3D1}"/>
                </a:ext>
              </a:extLst>
            </p:cNvPr>
            <p:cNvSpPr/>
            <p:nvPr/>
          </p:nvSpPr>
          <p:spPr>
            <a:xfrm>
              <a:off x="658368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5768C5A8-F64E-241F-4E61-81446FB2C259}"/>
                </a:ext>
              </a:extLst>
            </p:cNvPr>
            <p:cNvSpPr/>
            <p:nvPr/>
          </p:nvSpPr>
          <p:spPr>
            <a:xfrm>
              <a:off x="573024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92E1117A-98DC-E508-51EE-5539EAE9B018}"/>
                </a:ext>
              </a:extLst>
            </p:cNvPr>
            <p:cNvSpPr/>
            <p:nvPr/>
          </p:nvSpPr>
          <p:spPr>
            <a:xfrm>
              <a:off x="585216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16844F47-C521-44E8-3FA2-36397E2ED359}"/>
                </a:ext>
              </a:extLst>
            </p:cNvPr>
            <p:cNvSpPr/>
            <p:nvPr/>
          </p:nvSpPr>
          <p:spPr>
            <a:xfrm>
              <a:off x="5974080" y="208483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600E9AD3-540C-EF52-F78D-DEC23A9C3474}"/>
                </a:ext>
              </a:extLst>
            </p:cNvPr>
            <p:cNvSpPr/>
            <p:nvPr/>
          </p:nvSpPr>
          <p:spPr>
            <a:xfrm>
              <a:off x="609600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3CE7C824-CBDE-0D80-EB68-3B116ED3F425}"/>
                </a:ext>
              </a:extLst>
            </p:cNvPr>
            <p:cNvSpPr/>
            <p:nvPr/>
          </p:nvSpPr>
          <p:spPr>
            <a:xfrm>
              <a:off x="6217920" y="208483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AF694454-D13A-63D4-E949-907E340C7A38}"/>
                </a:ext>
              </a:extLst>
            </p:cNvPr>
            <p:cNvSpPr/>
            <p:nvPr/>
          </p:nvSpPr>
          <p:spPr>
            <a:xfrm>
              <a:off x="633984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588EBA35-3A12-8FD6-9BDF-0EF54F174AC2}"/>
                </a:ext>
              </a:extLst>
            </p:cNvPr>
            <p:cNvSpPr/>
            <p:nvPr/>
          </p:nvSpPr>
          <p:spPr>
            <a:xfrm>
              <a:off x="646176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FE1F8860-3F4F-F53E-7DF4-74F122FB758E}"/>
                </a:ext>
              </a:extLst>
            </p:cNvPr>
            <p:cNvSpPr/>
            <p:nvPr/>
          </p:nvSpPr>
          <p:spPr>
            <a:xfrm>
              <a:off x="658368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6F85C012-75A2-05B5-9BD8-91381E29AE40}"/>
                </a:ext>
              </a:extLst>
            </p:cNvPr>
            <p:cNvSpPr/>
            <p:nvPr/>
          </p:nvSpPr>
          <p:spPr>
            <a:xfrm>
              <a:off x="573024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F4E95661-C96B-A728-5AE1-0C90D3404820}"/>
                </a:ext>
              </a:extLst>
            </p:cNvPr>
            <p:cNvSpPr/>
            <p:nvPr/>
          </p:nvSpPr>
          <p:spPr>
            <a:xfrm>
              <a:off x="585216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A01AFE8D-2F1D-07B1-87CD-CF9BB9723F4C}"/>
                </a:ext>
              </a:extLst>
            </p:cNvPr>
            <p:cNvSpPr/>
            <p:nvPr/>
          </p:nvSpPr>
          <p:spPr>
            <a:xfrm>
              <a:off x="597408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87B009B5-7E73-5F3B-0D3A-E71AAA32BBB8}"/>
                </a:ext>
              </a:extLst>
            </p:cNvPr>
            <p:cNvSpPr/>
            <p:nvPr/>
          </p:nvSpPr>
          <p:spPr>
            <a:xfrm>
              <a:off x="609600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7D069AAD-2744-0EB5-198E-5AE64E85BCF2}"/>
                </a:ext>
              </a:extLst>
            </p:cNvPr>
            <p:cNvSpPr/>
            <p:nvPr/>
          </p:nvSpPr>
          <p:spPr>
            <a:xfrm>
              <a:off x="6217920" y="220675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EBBCBAD2-CA10-BC8C-ADE0-2B8DED8F7CD9}"/>
                </a:ext>
              </a:extLst>
            </p:cNvPr>
            <p:cNvSpPr/>
            <p:nvPr/>
          </p:nvSpPr>
          <p:spPr>
            <a:xfrm>
              <a:off x="633984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EA6983F2-6D97-80FF-49C8-CD34A5A3CEB5}"/>
                </a:ext>
              </a:extLst>
            </p:cNvPr>
            <p:cNvSpPr/>
            <p:nvPr/>
          </p:nvSpPr>
          <p:spPr>
            <a:xfrm>
              <a:off x="646176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3389DF2E-8D9B-B6A6-81BB-11073941CE79}"/>
                </a:ext>
              </a:extLst>
            </p:cNvPr>
            <p:cNvSpPr/>
            <p:nvPr/>
          </p:nvSpPr>
          <p:spPr>
            <a:xfrm>
              <a:off x="658368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1A2F4E7E-A53E-77D0-833F-5A24E82303AF}"/>
                </a:ext>
              </a:extLst>
            </p:cNvPr>
            <p:cNvSpPr/>
            <p:nvPr/>
          </p:nvSpPr>
          <p:spPr>
            <a:xfrm>
              <a:off x="573024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FAA22C2F-2994-BE7D-62AC-235389B4CF57}"/>
                </a:ext>
              </a:extLst>
            </p:cNvPr>
            <p:cNvSpPr/>
            <p:nvPr/>
          </p:nvSpPr>
          <p:spPr>
            <a:xfrm>
              <a:off x="585216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E131A3A4-6616-8CC5-087E-CF5C21FDF138}"/>
                </a:ext>
              </a:extLst>
            </p:cNvPr>
            <p:cNvSpPr/>
            <p:nvPr/>
          </p:nvSpPr>
          <p:spPr>
            <a:xfrm>
              <a:off x="597408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8BFD8128-E6B5-19B3-391E-EA227E70FFA9}"/>
                </a:ext>
              </a:extLst>
            </p:cNvPr>
            <p:cNvSpPr/>
            <p:nvPr/>
          </p:nvSpPr>
          <p:spPr>
            <a:xfrm>
              <a:off x="609600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AF39F896-450E-4A5E-35FA-EFC1438051EF}"/>
                </a:ext>
              </a:extLst>
            </p:cNvPr>
            <p:cNvSpPr/>
            <p:nvPr/>
          </p:nvSpPr>
          <p:spPr>
            <a:xfrm>
              <a:off x="6217920" y="232867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C8181000-11E4-3DE2-2F0F-34E89F6708ED}"/>
                </a:ext>
              </a:extLst>
            </p:cNvPr>
            <p:cNvSpPr/>
            <p:nvPr/>
          </p:nvSpPr>
          <p:spPr>
            <a:xfrm>
              <a:off x="633984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B3E991D3-DA31-09B9-9937-2094C263F6A7}"/>
                </a:ext>
              </a:extLst>
            </p:cNvPr>
            <p:cNvSpPr/>
            <p:nvPr/>
          </p:nvSpPr>
          <p:spPr>
            <a:xfrm>
              <a:off x="646176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FDFA0F88-B7E8-E1AE-D0E7-29C1F271A140}"/>
                </a:ext>
              </a:extLst>
            </p:cNvPr>
            <p:cNvSpPr/>
            <p:nvPr/>
          </p:nvSpPr>
          <p:spPr>
            <a:xfrm>
              <a:off x="658368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642EFE24-C249-3983-5964-AF9FA3B75569}"/>
                </a:ext>
              </a:extLst>
            </p:cNvPr>
            <p:cNvSpPr/>
            <p:nvPr/>
          </p:nvSpPr>
          <p:spPr>
            <a:xfrm>
              <a:off x="573024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0AA52727-9F24-DD92-7090-751A558D8C80}"/>
                </a:ext>
              </a:extLst>
            </p:cNvPr>
            <p:cNvSpPr/>
            <p:nvPr/>
          </p:nvSpPr>
          <p:spPr>
            <a:xfrm>
              <a:off x="585216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AE62857F-CBD7-B2D6-14ED-E31946476669}"/>
                </a:ext>
              </a:extLst>
            </p:cNvPr>
            <p:cNvSpPr/>
            <p:nvPr/>
          </p:nvSpPr>
          <p:spPr>
            <a:xfrm>
              <a:off x="597408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782B57DD-26EE-7B6D-C028-49AC873B1EB5}"/>
                </a:ext>
              </a:extLst>
            </p:cNvPr>
            <p:cNvSpPr/>
            <p:nvPr/>
          </p:nvSpPr>
          <p:spPr>
            <a:xfrm>
              <a:off x="609600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066D970B-F4EA-455A-1325-BC3E8A61A849}"/>
                </a:ext>
              </a:extLst>
            </p:cNvPr>
            <p:cNvSpPr/>
            <p:nvPr/>
          </p:nvSpPr>
          <p:spPr>
            <a:xfrm>
              <a:off x="621792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FB98BF57-48EA-0EA9-6F9F-9DF29D18C9FE}"/>
                </a:ext>
              </a:extLst>
            </p:cNvPr>
            <p:cNvSpPr/>
            <p:nvPr/>
          </p:nvSpPr>
          <p:spPr>
            <a:xfrm>
              <a:off x="633984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1C90CF6B-0A64-060D-8CAD-85C87BB97B91}"/>
                </a:ext>
              </a:extLst>
            </p:cNvPr>
            <p:cNvSpPr/>
            <p:nvPr/>
          </p:nvSpPr>
          <p:spPr>
            <a:xfrm>
              <a:off x="646176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258814EB-3CC8-ADDB-2E2A-1C9EA9ABCD36}"/>
                </a:ext>
              </a:extLst>
            </p:cNvPr>
            <p:cNvSpPr/>
            <p:nvPr/>
          </p:nvSpPr>
          <p:spPr>
            <a:xfrm>
              <a:off x="658368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B5B3694E-3744-29E9-D529-A2EEB6149759}"/>
                </a:ext>
              </a:extLst>
            </p:cNvPr>
            <p:cNvSpPr/>
            <p:nvPr/>
          </p:nvSpPr>
          <p:spPr>
            <a:xfrm>
              <a:off x="573024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D2511C9C-C81A-1CCB-5D23-3764541113FD}"/>
                </a:ext>
              </a:extLst>
            </p:cNvPr>
            <p:cNvSpPr/>
            <p:nvPr/>
          </p:nvSpPr>
          <p:spPr>
            <a:xfrm>
              <a:off x="585216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C4FB19AB-41C1-2123-16BA-7E2E26DFD3FF}"/>
                </a:ext>
              </a:extLst>
            </p:cNvPr>
            <p:cNvSpPr/>
            <p:nvPr/>
          </p:nvSpPr>
          <p:spPr>
            <a:xfrm>
              <a:off x="597408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925C0122-F6D6-3D80-1B29-64EAD1DCF6FB}"/>
                </a:ext>
              </a:extLst>
            </p:cNvPr>
            <p:cNvSpPr/>
            <p:nvPr/>
          </p:nvSpPr>
          <p:spPr>
            <a:xfrm>
              <a:off x="609600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67CEC9B9-3AAF-CC44-85E4-4050546FD772}"/>
                </a:ext>
              </a:extLst>
            </p:cNvPr>
            <p:cNvSpPr/>
            <p:nvPr/>
          </p:nvSpPr>
          <p:spPr>
            <a:xfrm>
              <a:off x="621792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67BC948D-3C37-748E-08BA-FE5500D3D41E}"/>
                </a:ext>
              </a:extLst>
            </p:cNvPr>
            <p:cNvSpPr/>
            <p:nvPr/>
          </p:nvSpPr>
          <p:spPr>
            <a:xfrm>
              <a:off x="633984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5508DF93-A5AA-1075-0CDD-63556D7F6101}"/>
                </a:ext>
              </a:extLst>
            </p:cNvPr>
            <p:cNvSpPr/>
            <p:nvPr/>
          </p:nvSpPr>
          <p:spPr>
            <a:xfrm>
              <a:off x="646176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8E320F5F-4C0A-5BE3-4A71-8FDFF82BD21E}"/>
                </a:ext>
              </a:extLst>
            </p:cNvPr>
            <p:cNvSpPr/>
            <p:nvPr/>
          </p:nvSpPr>
          <p:spPr>
            <a:xfrm>
              <a:off x="658368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52" name="Rechteck 251">
            <a:extLst>
              <a:ext uri="{FF2B5EF4-FFF2-40B4-BE49-F238E27FC236}">
                <a16:creationId xmlns:a16="http://schemas.microsoft.com/office/drawing/2014/main" id="{7FA59590-46AB-8ABC-3856-4D22E91EE247}"/>
              </a:ext>
            </a:extLst>
          </p:cNvPr>
          <p:cNvSpPr/>
          <p:nvPr/>
        </p:nvSpPr>
        <p:spPr>
          <a:xfrm>
            <a:off x="5354778" y="136805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3" name="Rechteck 252">
            <a:extLst>
              <a:ext uri="{FF2B5EF4-FFF2-40B4-BE49-F238E27FC236}">
                <a16:creationId xmlns:a16="http://schemas.microsoft.com/office/drawing/2014/main" id="{A9C8A743-1E66-75D4-EE87-922D37C9A01C}"/>
              </a:ext>
            </a:extLst>
          </p:cNvPr>
          <p:cNvSpPr/>
          <p:nvPr/>
        </p:nvSpPr>
        <p:spPr>
          <a:xfrm>
            <a:off x="5354778" y="239907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4" name="Rechteck 253">
            <a:extLst>
              <a:ext uri="{FF2B5EF4-FFF2-40B4-BE49-F238E27FC236}">
                <a16:creationId xmlns:a16="http://schemas.microsoft.com/office/drawing/2014/main" id="{3CA01768-E635-BF80-5A5E-4AC8BC1E5AC8}"/>
              </a:ext>
            </a:extLst>
          </p:cNvPr>
          <p:cNvSpPr/>
          <p:nvPr/>
        </p:nvSpPr>
        <p:spPr>
          <a:xfrm>
            <a:off x="5357299" y="343392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0" name="Rechteck 259">
            <a:extLst>
              <a:ext uri="{FF2B5EF4-FFF2-40B4-BE49-F238E27FC236}">
                <a16:creationId xmlns:a16="http://schemas.microsoft.com/office/drawing/2014/main" id="{DB1EF505-479B-E480-6CFA-A3C703348A8E}"/>
              </a:ext>
            </a:extLst>
          </p:cNvPr>
          <p:cNvSpPr/>
          <p:nvPr/>
        </p:nvSpPr>
        <p:spPr>
          <a:xfrm>
            <a:off x="5354778" y="148997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1" name="Rechteck 260">
            <a:extLst>
              <a:ext uri="{FF2B5EF4-FFF2-40B4-BE49-F238E27FC236}">
                <a16:creationId xmlns:a16="http://schemas.microsoft.com/office/drawing/2014/main" id="{1B6981EB-A7DC-B8BB-40D8-6058B927FAB9}"/>
              </a:ext>
            </a:extLst>
          </p:cNvPr>
          <p:cNvSpPr/>
          <p:nvPr/>
        </p:nvSpPr>
        <p:spPr>
          <a:xfrm>
            <a:off x="5354778" y="252099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2" name="Rechteck 261">
            <a:extLst>
              <a:ext uri="{FF2B5EF4-FFF2-40B4-BE49-F238E27FC236}">
                <a16:creationId xmlns:a16="http://schemas.microsoft.com/office/drawing/2014/main" id="{D9EA5CF4-5638-4887-B9D5-999327A73561}"/>
              </a:ext>
            </a:extLst>
          </p:cNvPr>
          <p:cNvSpPr/>
          <p:nvPr/>
        </p:nvSpPr>
        <p:spPr>
          <a:xfrm>
            <a:off x="5357299" y="355584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8" name="Rechteck 267">
            <a:extLst>
              <a:ext uri="{FF2B5EF4-FFF2-40B4-BE49-F238E27FC236}">
                <a16:creationId xmlns:a16="http://schemas.microsoft.com/office/drawing/2014/main" id="{FA4ECA00-2656-DF11-4B5E-9517A3BD664E}"/>
              </a:ext>
            </a:extLst>
          </p:cNvPr>
          <p:cNvSpPr/>
          <p:nvPr/>
        </p:nvSpPr>
        <p:spPr>
          <a:xfrm>
            <a:off x="5354778" y="161189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Rechteck 268">
            <a:extLst>
              <a:ext uri="{FF2B5EF4-FFF2-40B4-BE49-F238E27FC236}">
                <a16:creationId xmlns:a16="http://schemas.microsoft.com/office/drawing/2014/main" id="{F4BF9C45-6461-D936-58BF-81CC09162EF5}"/>
              </a:ext>
            </a:extLst>
          </p:cNvPr>
          <p:cNvSpPr/>
          <p:nvPr/>
        </p:nvSpPr>
        <p:spPr>
          <a:xfrm>
            <a:off x="5354778" y="264291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0" name="Rechteck 269">
            <a:extLst>
              <a:ext uri="{FF2B5EF4-FFF2-40B4-BE49-F238E27FC236}">
                <a16:creationId xmlns:a16="http://schemas.microsoft.com/office/drawing/2014/main" id="{3EF3AEA9-3FDF-CD12-72EA-1FDB5479126C}"/>
              </a:ext>
            </a:extLst>
          </p:cNvPr>
          <p:cNvSpPr/>
          <p:nvPr/>
        </p:nvSpPr>
        <p:spPr>
          <a:xfrm>
            <a:off x="5357299" y="367776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6" name="Rechteck 275">
            <a:extLst>
              <a:ext uri="{FF2B5EF4-FFF2-40B4-BE49-F238E27FC236}">
                <a16:creationId xmlns:a16="http://schemas.microsoft.com/office/drawing/2014/main" id="{EC4CA8CD-2FF5-28E8-F932-B47D07222371}"/>
              </a:ext>
            </a:extLst>
          </p:cNvPr>
          <p:cNvSpPr/>
          <p:nvPr/>
        </p:nvSpPr>
        <p:spPr>
          <a:xfrm>
            <a:off x="5354778" y="173381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7" name="Rechteck 276">
            <a:extLst>
              <a:ext uri="{FF2B5EF4-FFF2-40B4-BE49-F238E27FC236}">
                <a16:creationId xmlns:a16="http://schemas.microsoft.com/office/drawing/2014/main" id="{298C7483-0DAF-57A9-1DA4-2007E7106CB0}"/>
              </a:ext>
            </a:extLst>
          </p:cNvPr>
          <p:cNvSpPr/>
          <p:nvPr/>
        </p:nvSpPr>
        <p:spPr>
          <a:xfrm>
            <a:off x="5354778" y="276483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8" name="Rechteck 277">
            <a:extLst>
              <a:ext uri="{FF2B5EF4-FFF2-40B4-BE49-F238E27FC236}">
                <a16:creationId xmlns:a16="http://schemas.microsoft.com/office/drawing/2014/main" id="{C449C760-FCDE-23BE-A15D-19AD4716C965}"/>
              </a:ext>
            </a:extLst>
          </p:cNvPr>
          <p:cNvSpPr/>
          <p:nvPr/>
        </p:nvSpPr>
        <p:spPr>
          <a:xfrm>
            <a:off x="5357299" y="3799685"/>
            <a:ext cx="121920" cy="121920"/>
          </a:xfrm>
          <a:prstGeom prst="rect">
            <a:avLst/>
          </a:prstGeom>
          <a:solidFill>
            <a:srgbClr val="FFFF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4" name="Rechteck 283">
            <a:extLst>
              <a:ext uri="{FF2B5EF4-FFF2-40B4-BE49-F238E27FC236}">
                <a16:creationId xmlns:a16="http://schemas.microsoft.com/office/drawing/2014/main" id="{D8F50D89-2EFC-700A-B6F1-F99FFBF0C439}"/>
              </a:ext>
            </a:extLst>
          </p:cNvPr>
          <p:cNvSpPr/>
          <p:nvPr/>
        </p:nvSpPr>
        <p:spPr>
          <a:xfrm>
            <a:off x="5354778" y="185573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5" name="Rechteck 284">
            <a:extLst>
              <a:ext uri="{FF2B5EF4-FFF2-40B4-BE49-F238E27FC236}">
                <a16:creationId xmlns:a16="http://schemas.microsoft.com/office/drawing/2014/main" id="{736EDA04-40A9-0DB9-B275-08081706FA5E}"/>
              </a:ext>
            </a:extLst>
          </p:cNvPr>
          <p:cNvSpPr/>
          <p:nvPr/>
        </p:nvSpPr>
        <p:spPr>
          <a:xfrm>
            <a:off x="5354778" y="288675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01712565-5E40-F221-3F97-2B7BF35899E9}"/>
              </a:ext>
            </a:extLst>
          </p:cNvPr>
          <p:cNvSpPr/>
          <p:nvPr/>
        </p:nvSpPr>
        <p:spPr>
          <a:xfrm>
            <a:off x="5357299" y="392160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Rechteck 291">
            <a:extLst>
              <a:ext uri="{FF2B5EF4-FFF2-40B4-BE49-F238E27FC236}">
                <a16:creationId xmlns:a16="http://schemas.microsoft.com/office/drawing/2014/main" id="{E2DEC029-695B-C385-B1C1-E397E62F78E8}"/>
              </a:ext>
            </a:extLst>
          </p:cNvPr>
          <p:cNvSpPr/>
          <p:nvPr/>
        </p:nvSpPr>
        <p:spPr>
          <a:xfrm>
            <a:off x="5354778" y="197765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3" name="Rechteck 292">
            <a:extLst>
              <a:ext uri="{FF2B5EF4-FFF2-40B4-BE49-F238E27FC236}">
                <a16:creationId xmlns:a16="http://schemas.microsoft.com/office/drawing/2014/main" id="{1FBEF700-BA5D-5FBE-D624-2F28E3605662}"/>
              </a:ext>
            </a:extLst>
          </p:cNvPr>
          <p:cNvSpPr/>
          <p:nvPr/>
        </p:nvSpPr>
        <p:spPr>
          <a:xfrm>
            <a:off x="5354778" y="300867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4" name="Rechteck 293">
            <a:extLst>
              <a:ext uri="{FF2B5EF4-FFF2-40B4-BE49-F238E27FC236}">
                <a16:creationId xmlns:a16="http://schemas.microsoft.com/office/drawing/2014/main" id="{B90B0C65-4838-D492-ED72-31E12074FC36}"/>
              </a:ext>
            </a:extLst>
          </p:cNvPr>
          <p:cNvSpPr/>
          <p:nvPr/>
        </p:nvSpPr>
        <p:spPr>
          <a:xfrm>
            <a:off x="5357299" y="404352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0" name="Rechteck 299">
            <a:extLst>
              <a:ext uri="{FF2B5EF4-FFF2-40B4-BE49-F238E27FC236}">
                <a16:creationId xmlns:a16="http://schemas.microsoft.com/office/drawing/2014/main" id="{414920BE-3FA1-BD0E-7E55-1211A9410E19}"/>
              </a:ext>
            </a:extLst>
          </p:cNvPr>
          <p:cNvSpPr/>
          <p:nvPr/>
        </p:nvSpPr>
        <p:spPr>
          <a:xfrm>
            <a:off x="5354778" y="2098816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Rechteck 300">
            <a:extLst>
              <a:ext uri="{FF2B5EF4-FFF2-40B4-BE49-F238E27FC236}">
                <a16:creationId xmlns:a16="http://schemas.microsoft.com/office/drawing/2014/main" id="{B5A43F62-3825-58B8-9FC6-FAE85DEAE914}"/>
              </a:ext>
            </a:extLst>
          </p:cNvPr>
          <p:cNvSpPr/>
          <p:nvPr/>
        </p:nvSpPr>
        <p:spPr>
          <a:xfrm>
            <a:off x="5354778" y="3129830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2" name="Rechteck 301">
            <a:extLst>
              <a:ext uri="{FF2B5EF4-FFF2-40B4-BE49-F238E27FC236}">
                <a16:creationId xmlns:a16="http://schemas.microsoft.com/office/drawing/2014/main" id="{238E5D55-774F-8A17-B6D7-CD21C1845E06}"/>
              </a:ext>
            </a:extLst>
          </p:cNvPr>
          <p:cNvSpPr/>
          <p:nvPr/>
        </p:nvSpPr>
        <p:spPr>
          <a:xfrm>
            <a:off x="5357299" y="4164683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8" name="Rechteck 307">
            <a:extLst>
              <a:ext uri="{FF2B5EF4-FFF2-40B4-BE49-F238E27FC236}">
                <a16:creationId xmlns:a16="http://schemas.microsoft.com/office/drawing/2014/main" id="{CF2BD6FC-D1EF-0B1F-1C3F-0B639F5287D6}"/>
              </a:ext>
            </a:extLst>
          </p:cNvPr>
          <p:cNvSpPr/>
          <p:nvPr/>
        </p:nvSpPr>
        <p:spPr>
          <a:xfrm>
            <a:off x="5354778" y="2220736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9" name="Rechteck 308">
            <a:extLst>
              <a:ext uri="{FF2B5EF4-FFF2-40B4-BE49-F238E27FC236}">
                <a16:creationId xmlns:a16="http://schemas.microsoft.com/office/drawing/2014/main" id="{A5868500-5FC3-DBD1-0463-91B6E1148010}"/>
              </a:ext>
            </a:extLst>
          </p:cNvPr>
          <p:cNvSpPr/>
          <p:nvPr/>
        </p:nvSpPr>
        <p:spPr>
          <a:xfrm>
            <a:off x="5354778" y="3251750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" name="Rechteck 309">
            <a:extLst>
              <a:ext uri="{FF2B5EF4-FFF2-40B4-BE49-F238E27FC236}">
                <a16:creationId xmlns:a16="http://schemas.microsoft.com/office/drawing/2014/main" id="{D8ADE191-F692-555E-3333-D9282A6FF467}"/>
              </a:ext>
            </a:extLst>
          </p:cNvPr>
          <p:cNvSpPr/>
          <p:nvPr/>
        </p:nvSpPr>
        <p:spPr>
          <a:xfrm>
            <a:off x="5357299" y="4286603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Rechteck 315">
            <a:extLst>
              <a:ext uri="{FF2B5EF4-FFF2-40B4-BE49-F238E27FC236}">
                <a16:creationId xmlns:a16="http://schemas.microsoft.com/office/drawing/2014/main" id="{BBB17940-0832-D7B0-70F5-1CB3EEA74588}"/>
              </a:ext>
            </a:extLst>
          </p:cNvPr>
          <p:cNvSpPr/>
          <p:nvPr/>
        </p:nvSpPr>
        <p:spPr>
          <a:xfrm>
            <a:off x="4878618" y="128016"/>
            <a:ext cx="165100" cy="10911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1" name="Rechteck 320">
            <a:extLst>
              <a:ext uri="{FF2B5EF4-FFF2-40B4-BE49-F238E27FC236}">
                <a16:creationId xmlns:a16="http://schemas.microsoft.com/office/drawing/2014/main" id="{23979283-7CE3-5DD9-E196-D0A768D54FB0}"/>
              </a:ext>
            </a:extLst>
          </p:cNvPr>
          <p:cNvSpPr/>
          <p:nvPr/>
        </p:nvSpPr>
        <p:spPr>
          <a:xfrm>
            <a:off x="5031282" y="127642"/>
            <a:ext cx="134357" cy="109118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3" name="Rechteck 322">
            <a:extLst>
              <a:ext uri="{FF2B5EF4-FFF2-40B4-BE49-F238E27FC236}">
                <a16:creationId xmlns:a16="http://schemas.microsoft.com/office/drawing/2014/main" id="{9F867C28-FD58-57C9-85A2-C054686C1E16}"/>
              </a:ext>
            </a:extLst>
          </p:cNvPr>
          <p:cNvSpPr/>
          <p:nvPr/>
        </p:nvSpPr>
        <p:spPr>
          <a:xfrm>
            <a:off x="5153201" y="126757"/>
            <a:ext cx="134357" cy="1091184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25" name="Gerade Verbindung mit Pfeil 324">
            <a:extLst>
              <a:ext uri="{FF2B5EF4-FFF2-40B4-BE49-F238E27FC236}">
                <a16:creationId xmlns:a16="http://schemas.microsoft.com/office/drawing/2014/main" id="{C0D30B5C-8252-6069-A5F9-18490E31829A}"/>
              </a:ext>
            </a:extLst>
          </p:cNvPr>
          <p:cNvCxnSpPr>
            <a:cxnSpLocks/>
            <a:stCxn id="316" idx="2"/>
            <a:endCxn id="284" idx="1"/>
          </p:cNvCxnSpPr>
          <p:nvPr/>
        </p:nvCxnSpPr>
        <p:spPr>
          <a:xfrm>
            <a:off x="4961168" y="1219200"/>
            <a:ext cx="393610" cy="697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Gerade Verbindung mit Pfeil 326">
            <a:extLst>
              <a:ext uri="{FF2B5EF4-FFF2-40B4-BE49-F238E27FC236}">
                <a16:creationId xmlns:a16="http://schemas.microsoft.com/office/drawing/2014/main" id="{20574DE0-B230-1C04-98EF-FD004F087207}"/>
              </a:ext>
            </a:extLst>
          </p:cNvPr>
          <p:cNvCxnSpPr>
            <a:cxnSpLocks/>
            <a:stCxn id="321" idx="2"/>
            <a:endCxn id="277" idx="0"/>
          </p:cNvCxnSpPr>
          <p:nvPr/>
        </p:nvCxnSpPr>
        <p:spPr>
          <a:xfrm>
            <a:off x="5098461" y="1218826"/>
            <a:ext cx="317277" cy="1546006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Gerade Verbindung mit Pfeil 330">
            <a:extLst>
              <a:ext uri="{FF2B5EF4-FFF2-40B4-BE49-F238E27FC236}">
                <a16:creationId xmlns:a16="http://schemas.microsoft.com/office/drawing/2014/main" id="{C8D9A33F-E344-DD06-827C-148DA303CB9D}"/>
              </a:ext>
            </a:extLst>
          </p:cNvPr>
          <p:cNvCxnSpPr>
            <a:cxnSpLocks/>
            <a:stCxn id="323" idx="2"/>
            <a:endCxn id="278" idx="0"/>
          </p:cNvCxnSpPr>
          <p:nvPr/>
        </p:nvCxnSpPr>
        <p:spPr>
          <a:xfrm>
            <a:off x="5220380" y="1217941"/>
            <a:ext cx="197879" cy="2581744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Textfeld 333">
            <a:extLst>
              <a:ext uri="{FF2B5EF4-FFF2-40B4-BE49-F238E27FC236}">
                <a16:creationId xmlns:a16="http://schemas.microsoft.com/office/drawing/2014/main" id="{D6F7840F-BAE3-8F8F-E038-044B35B33CB8}"/>
              </a:ext>
            </a:extLst>
          </p:cNvPr>
          <p:cNvSpPr txBox="1"/>
          <p:nvPr/>
        </p:nvSpPr>
        <p:spPr>
          <a:xfrm>
            <a:off x="5402606" y="4389083"/>
            <a:ext cx="331276" cy="6626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900" dirty="0"/>
              <a:t>.</a:t>
            </a:r>
          </a:p>
          <a:p>
            <a:r>
              <a:rPr lang="en-GB" sz="900" dirty="0"/>
              <a:t>.</a:t>
            </a:r>
          </a:p>
          <a:p>
            <a:r>
              <a:rPr lang="en-GB" sz="900" dirty="0"/>
              <a:t>.</a:t>
            </a:r>
          </a:p>
        </p:txBody>
      </p:sp>
      <p:sp>
        <p:nvSpPr>
          <p:cNvPr id="402" name="Pfeil: nach rechts gekrümmt 401">
            <a:extLst>
              <a:ext uri="{FF2B5EF4-FFF2-40B4-BE49-F238E27FC236}">
                <a16:creationId xmlns:a16="http://schemas.microsoft.com/office/drawing/2014/main" id="{1C56EB61-0C50-F163-31CF-721D791CD190}"/>
              </a:ext>
            </a:extLst>
          </p:cNvPr>
          <p:cNvSpPr/>
          <p:nvPr/>
        </p:nvSpPr>
        <p:spPr>
          <a:xfrm rot="21034133">
            <a:off x="4665003" y="1329744"/>
            <a:ext cx="459920" cy="2101329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3" name="Textfeld 402">
            <a:extLst>
              <a:ext uri="{FF2B5EF4-FFF2-40B4-BE49-F238E27FC236}">
                <a16:creationId xmlns:a16="http://schemas.microsoft.com/office/drawing/2014/main" id="{18343869-5CA3-77BD-3597-54B58359AA62}"/>
              </a:ext>
            </a:extLst>
          </p:cNvPr>
          <p:cNvSpPr txBox="1"/>
          <p:nvPr/>
        </p:nvSpPr>
        <p:spPr>
          <a:xfrm rot="16200000">
            <a:off x="4536402" y="1945100"/>
            <a:ext cx="735678" cy="4034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Flatten</a:t>
            </a:r>
          </a:p>
        </p:txBody>
      </p:sp>
      <p:sp>
        <p:nvSpPr>
          <p:cNvPr id="233" name="Rechteck 232">
            <a:extLst>
              <a:ext uri="{FF2B5EF4-FFF2-40B4-BE49-F238E27FC236}">
                <a16:creationId xmlns:a16="http://schemas.microsoft.com/office/drawing/2014/main" id="{6B2E589F-150C-BA61-4D4D-2EEE4782B9E6}"/>
              </a:ext>
            </a:extLst>
          </p:cNvPr>
          <p:cNvSpPr/>
          <p:nvPr/>
        </p:nvSpPr>
        <p:spPr>
          <a:xfrm>
            <a:off x="1275127" y="1797015"/>
            <a:ext cx="1434517" cy="2561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3" name="Textfeld 242">
            <a:extLst>
              <a:ext uri="{FF2B5EF4-FFF2-40B4-BE49-F238E27FC236}">
                <a16:creationId xmlns:a16="http://schemas.microsoft.com/office/drawing/2014/main" id="{61FD48C9-3C74-FBCB-692E-9F9A78A6AB18}"/>
              </a:ext>
            </a:extLst>
          </p:cNvPr>
          <p:cNvSpPr txBox="1"/>
          <p:nvPr/>
        </p:nvSpPr>
        <p:spPr>
          <a:xfrm>
            <a:off x="4984034" y="4792917"/>
            <a:ext cx="1297351" cy="3111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 err="1"/>
              <a:t>input_dim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27384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" grpId="0" animBg="1"/>
      <p:bldP spid="253" grpId="0" animBg="1"/>
      <p:bldP spid="254" grpId="0" animBg="1"/>
      <p:bldP spid="260" grpId="0" animBg="1"/>
      <p:bldP spid="261" grpId="0" animBg="1"/>
      <p:bldP spid="262" grpId="0" animBg="1"/>
      <p:bldP spid="268" grpId="0" animBg="1"/>
      <p:bldP spid="269" grpId="0" animBg="1"/>
      <p:bldP spid="270" grpId="0" animBg="1"/>
      <p:bldP spid="276" grpId="0" animBg="1"/>
      <p:bldP spid="277" grpId="0" animBg="1"/>
      <p:bldP spid="278" grpId="0" animBg="1"/>
      <p:bldP spid="284" grpId="0" animBg="1"/>
      <p:bldP spid="285" grpId="0" animBg="1"/>
      <p:bldP spid="286" grpId="0" animBg="1"/>
      <p:bldP spid="292" grpId="0" animBg="1"/>
      <p:bldP spid="293" grpId="0" animBg="1"/>
      <p:bldP spid="294" grpId="0" animBg="1"/>
      <p:bldP spid="300" grpId="0" animBg="1"/>
      <p:bldP spid="301" grpId="0" animBg="1"/>
      <p:bldP spid="302" grpId="0" animBg="1"/>
      <p:bldP spid="308" grpId="0" animBg="1"/>
      <p:bldP spid="309" grpId="0" animBg="1"/>
      <p:bldP spid="310" grpId="0" animBg="1"/>
      <p:bldP spid="316" grpId="0" animBg="1"/>
      <p:bldP spid="321" grpId="0" animBg="1"/>
      <p:bldP spid="323" grpId="0" animBg="1"/>
      <p:bldP spid="334" grpId="0"/>
      <p:bldP spid="402" grpId="0" animBg="1"/>
      <p:bldP spid="403" grpId="0"/>
      <p:bldP spid="233" grpId="0" animBg="1"/>
      <p:bldP spid="233" grpId="1" animBg="1"/>
      <p:bldP spid="2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CF752-F467-53C1-FCD5-079FAB785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C19BA56-8914-BB72-75D6-7942EE89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668" y="4878000"/>
            <a:ext cx="900000" cy="180000"/>
          </a:xfrm>
        </p:spPr>
        <p:txBody>
          <a:bodyPr/>
          <a:lstStyle/>
          <a:p>
            <a:r>
              <a:rPr lang="de-DE"/>
              <a:t>10.02.2017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E6E8F45-8BD0-5AB4-B817-DA9AC2DC71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53670" y="639670"/>
            <a:ext cx="4418330" cy="4054250"/>
          </a:xfrm>
          <a:prstGeom prst="rect">
            <a:avLst/>
          </a:prstGeom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13AEB0D-AA26-5D64-CBA4-000F11287E37}"/>
              </a:ext>
            </a:extLst>
          </p:cNvPr>
          <p:cNvGrpSpPr/>
          <p:nvPr/>
        </p:nvGrpSpPr>
        <p:grpSpPr>
          <a:xfrm>
            <a:off x="4921798" y="177934"/>
            <a:ext cx="975360" cy="974598"/>
            <a:chOff x="5730240" y="1719072"/>
            <a:chExt cx="975360" cy="974598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52316695-0829-07AF-D216-58689D43F8D7}"/>
                </a:ext>
              </a:extLst>
            </p:cNvPr>
            <p:cNvSpPr/>
            <p:nvPr/>
          </p:nvSpPr>
          <p:spPr>
            <a:xfrm>
              <a:off x="573024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996246E5-DD80-A022-37FD-A094052D3B2E}"/>
                </a:ext>
              </a:extLst>
            </p:cNvPr>
            <p:cNvSpPr/>
            <p:nvPr/>
          </p:nvSpPr>
          <p:spPr>
            <a:xfrm>
              <a:off x="585216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F34338FE-3E21-C04F-07EF-17406D49FBE9}"/>
                </a:ext>
              </a:extLst>
            </p:cNvPr>
            <p:cNvSpPr/>
            <p:nvPr/>
          </p:nvSpPr>
          <p:spPr>
            <a:xfrm>
              <a:off x="597408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07211DF-CC42-C422-9A8E-105968163A39}"/>
                </a:ext>
              </a:extLst>
            </p:cNvPr>
            <p:cNvSpPr/>
            <p:nvPr/>
          </p:nvSpPr>
          <p:spPr>
            <a:xfrm>
              <a:off x="609600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2C87A47-42D5-704B-5FA1-AA2CE5FE9345}"/>
                </a:ext>
              </a:extLst>
            </p:cNvPr>
            <p:cNvSpPr/>
            <p:nvPr/>
          </p:nvSpPr>
          <p:spPr>
            <a:xfrm>
              <a:off x="621792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0673DA9-7B7E-6980-CCDA-2973AA690640}"/>
                </a:ext>
              </a:extLst>
            </p:cNvPr>
            <p:cNvSpPr/>
            <p:nvPr/>
          </p:nvSpPr>
          <p:spPr>
            <a:xfrm>
              <a:off x="633984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786D1DE-8083-91FD-12E4-8B7CE8CF02B8}"/>
                </a:ext>
              </a:extLst>
            </p:cNvPr>
            <p:cNvSpPr/>
            <p:nvPr/>
          </p:nvSpPr>
          <p:spPr>
            <a:xfrm>
              <a:off x="646176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96B5B25-8466-B93E-6DE9-FF910EF59A59}"/>
                </a:ext>
              </a:extLst>
            </p:cNvPr>
            <p:cNvSpPr/>
            <p:nvPr/>
          </p:nvSpPr>
          <p:spPr>
            <a:xfrm>
              <a:off x="658368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B226598A-EAC5-5532-202F-99E057777B8E}"/>
                </a:ext>
              </a:extLst>
            </p:cNvPr>
            <p:cNvSpPr/>
            <p:nvPr/>
          </p:nvSpPr>
          <p:spPr>
            <a:xfrm>
              <a:off x="573024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2887DAB0-53E6-2B2F-EE49-F311152C045B}"/>
                </a:ext>
              </a:extLst>
            </p:cNvPr>
            <p:cNvSpPr/>
            <p:nvPr/>
          </p:nvSpPr>
          <p:spPr>
            <a:xfrm>
              <a:off x="585216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21FD9DCB-0CAF-4193-5F77-E13B8F388968}"/>
                </a:ext>
              </a:extLst>
            </p:cNvPr>
            <p:cNvSpPr/>
            <p:nvPr/>
          </p:nvSpPr>
          <p:spPr>
            <a:xfrm>
              <a:off x="597408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3A2522C-01E6-DFDC-7B9F-2EF751D9FCD6}"/>
                </a:ext>
              </a:extLst>
            </p:cNvPr>
            <p:cNvSpPr/>
            <p:nvPr/>
          </p:nvSpPr>
          <p:spPr>
            <a:xfrm>
              <a:off x="609600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686D3204-73E8-1819-03BC-3C07BDDBA672}"/>
                </a:ext>
              </a:extLst>
            </p:cNvPr>
            <p:cNvSpPr/>
            <p:nvPr/>
          </p:nvSpPr>
          <p:spPr>
            <a:xfrm>
              <a:off x="6217920" y="184099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10D73B7B-5543-0C70-C02E-076861481939}"/>
                </a:ext>
              </a:extLst>
            </p:cNvPr>
            <p:cNvSpPr/>
            <p:nvPr/>
          </p:nvSpPr>
          <p:spPr>
            <a:xfrm>
              <a:off x="633984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96FED880-2FF2-9900-FD71-A205C0696D15}"/>
                </a:ext>
              </a:extLst>
            </p:cNvPr>
            <p:cNvSpPr/>
            <p:nvPr/>
          </p:nvSpPr>
          <p:spPr>
            <a:xfrm>
              <a:off x="646176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0F8BE9EA-8EC8-4923-5FD4-B6D923EBEF72}"/>
                </a:ext>
              </a:extLst>
            </p:cNvPr>
            <p:cNvSpPr/>
            <p:nvPr/>
          </p:nvSpPr>
          <p:spPr>
            <a:xfrm>
              <a:off x="658368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9F2BAD7-8180-ACEC-C0E1-FAF0B242CC70}"/>
                </a:ext>
              </a:extLst>
            </p:cNvPr>
            <p:cNvSpPr/>
            <p:nvPr/>
          </p:nvSpPr>
          <p:spPr>
            <a:xfrm>
              <a:off x="573024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AB4E9CB1-6A3B-FEBA-FEA4-A5419B44984F}"/>
                </a:ext>
              </a:extLst>
            </p:cNvPr>
            <p:cNvSpPr/>
            <p:nvPr/>
          </p:nvSpPr>
          <p:spPr>
            <a:xfrm>
              <a:off x="585216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A8519C05-E6F0-E864-8FC2-833E2DB02626}"/>
                </a:ext>
              </a:extLst>
            </p:cNvPr>
            <p:cNvSpPr/>
            <p:nvPr/>
          </p:nvSpPr>
          <p:spPr>
            <a:xfrm>
              <a:off x="597408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F851803E-CD5C-1AD6-F6A8-7036E377473F}"/>
                </a:ext>
              </a:extLst>
            </p:cNvPr>
            <p:cNvSpPr/>
            <p:nvPr/>
          </p:nvSpPr>
          <p:spPr>
            <a:xfrm>
              <a:off x="6096000" y="196291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021C1F0B-35F7-3758-E7A4-831907852177}"/>
                </a:ext>
              </a:extLst>
            </p:cNvPr>
            <p:cNvSpPr/>
            <p:nvPr/>
          </p:nvSpPr>
          <p:spPr>
            <a:xfrm>
              <a:off x="6217920" y="196291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145015CA-5178-325A-585A-6F61FF2BACDB}"/>
                </a:ext>
              </a:extLst>
            </p:cNvPr>
            <p:cNvSpPr/>
            <p:nvPr/>
          </p:nvSpPr>
          <p:spPr>
            <a:xfrm>
              <a:off x="633984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BDDFB767-D627-4049-779C-7162BDE22BB0}"/>
                </a:ext>
              </a:extLst>
            </p:cNvPr>
            <p:cNvSpPr/>
            <p:nvPr/>
          </p:nvSpPr>
          <p:spPr>
            <a:xfrm>
              <a:off x="646176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C5F51A2A-CFDB-F017-26F2-9D4BB1D4A004}"/>
                </a:ext>
              </a:extLst>
            </p:cNvPr>
            <p:cNvSpPr/>
            <p:nvPr/>
          </p:nvSpPr>
          <p:spPr>
            <a:xfrm>
              <a:off x="658368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F992B0AC-E08F-E9DC-E3F1-BDABECA01DE9}"/>
                </a:ext>
              </a:extLst>
            </p:cNvPr>
            <p:cNvSpPr/>
            <p:nvPr/>
          </p:nvSpPr>
          <p:spPr>
            <a:xfrm>
              <a:off x="573024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C95F21BE-550B-1534-A82B-DCF86F264BE5}"/>
                </a:ext>
              </a:extLst>
            </p:cNvPr>
            <p:cNvSpPr/>
            <p:nvPr/>
          </p:nvSpPr>
          <p:spPr>
            <a:xfrm>
              <a:off x="585216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B685062F-456F-9CE9-901B-543B739A1803}"/>
                </a:ext>
              </a:extLst>
            </p:cNvPr>
            <p:cNvSpPr/>
            <p:nvPr/>
          </p:nvSpPr>
          <p:spPr>
            <a:xfrm>
              <a:off x="5974080" y="208483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4F2166C1-B071-2C9D-E0D3-9B49F9E2F617}"/>
                </a:ext>
              </a:extLst>
            </p:cNvPr>
            <p:cNvSpPr/>
            <p:nvPr/>
          </p:nvSpPr>
          <p:spPr>
            <a:xfrm>
              <a:off x="609600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59548633-871F-AC4E-7BCD-459241D25A57}"/>
                </a:ext>
              </a:extLst>
            </p:cNvPr>
            <p:cNvSpPr/>
            <p:nvPr/>
          </p:nvSpPr>
          <p:spPr>
            <a:xfrm>
              <a:off x="6217920" y="208483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998AEB9B-2C93-24FB-F91D-8867BD08A81E}"/>
                </a:ext>
              </a:extLst>
            </p:cNvPr>
            <p:cNvSpPr/>
            <p:nvPr/>
          </p:nvSpPr>
          <p:spPr>
            <a:xfrm>
              <a:off x="633984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895809E6-C373-ADCE-0A54-D2629369AD37}"/>
                </a:ext>
              </a:extLst>
            </p:cNvPr>
            <p:cNvSpPr/>
            <p:nvPr/>
          </p:nvSpPr>
          <p:spPr>
            <a:xfrm>
              <a:off x="646176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B8BB2BF1-663D-1BE4-5DDC-86A71899FC73}"/>
                </a:ext>
              </a:extLst>
            </p:cNvPr>
            <p:cNvSpPr/>
            <p:nvPr/>
          </p:nvSpPr>
          <p:spPr>
            <a:xfrm>
              <a:off x="658368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1EB8984B-F2BE-2443-BEFC-58D8A0E1306D}"/>
                </a:ext>
              </a:extLst>
            </p:cNvPr>
            <p:cNvSpPr/>
            <p:nvPr/>
          </p:nvSpPr>
          <p:spPr>
            <a:xfrm>
              <a:off x="573024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388BFEF8-943C-6CC6-3F74-27331C2368F7}"/>
                </a:ext>
              </a:extLst>
            </p:cNvPr>
            <p:cNvSpPr/>
            <p:nvPr/>
          </p:nvSpPr>
          <p:spPr>
            <a:xfrm>
              <a:off x="585216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D2B14229-3CD2-E3A2-A52B-337A772B096E}"/>
                </a:ext>
              </a:extLst>
            </p:cNvPr>
            <p:cNvSpPr/>
            <p:nvPr/>
          </p:nvSpPr>
          <p:spPr>
            <a:xfrm>
              <a:off x="597408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E74D21DB-81CC-A7BB-A016-0E48C5BA1F97}"/>
                </a:ext>
              </a:extLst>
            </p:cNvPr>
            <p:cNvSpPr/>
            <p:nvPr/>
          </p:nvSpPr>
          <p:spPr>
            <a:xfrm>
              <a:off x="609600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AE9FE9F7-B16C-98F7-8E47-5C9D21C464F7}"/>
                </a:ext>
              </a:extLst>
            </p:cNvPr>
            <p:cNvSpPr/>
            <p:nvPr/>
          </p:nvSpPr>
          <p:spPr>
            <a:xfrm>
              <a:off x="6217920" y="220675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A3EBB312-96EA-D952-18D3-4CFF359496EA}"/>
                </a:ext>
              </a:extLst>
            </p:cNvPr>
            <p:cNvSpPr/>
            <p:nvPr/>
          </p:nvSpPr>
          <p:spPr>
            <a:xfrm>
              <a:off x="633984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B0941541-7098-05FA-6A6C-8FFD04B1CCF3}"/>
                </a:ext>
              </a:extLst>
            </p:cNvPr>
            <p:cNvSpPr/>
            <p:nvPr/>
          </p:nvSpPr>
          <p:spPr>
            <a:xfrm>
              <a:off x="646176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1956FB2F-A75B-62BF-29E0-45111B90E529}"/>
                </a:ext>
              </a:extLst>
            </p:cNvPr>
            <p:cNvSpPr/>
            <p:nvPr/>
          </p:nvSpPr>
          <p:spPr>
            <a:xfrm>
              <a:off x="658368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39A4987A-A294-8C2E-B3F9-096EABFC67F1}"/>
                </a:ext>
              </a:extLst>
            </p:cNvPr>
            <p:cNvSpPr/>
            <p:nvPr/>
          </p:nvSpPr>
          <p:spPr>
            <a:xfrm>
              <a:off x="573024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249F345C-8414-1E18-45C6-70376F7A5BBC}"/>
                </a:ext>
              </a:extLst>
            </p:cNvPr>
            <p:cNvSpPr/>
            <p:nvPr/>
          </p:nvSpPr>
          <p:spPr>
            <a:xfrm>
              <a:off x="585216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D4244E69-EAC1-630F-912A-22C6D498A25A}"/>
                </a:ext>
              </a:extLst>
            </p:cNvPr>
            <p:cNvSpPr/>
            <p:nvPr/>
          </p:nvSpPr>
          <p:spPr>
            <a:xfrm>
              <a:off x="597408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B86905B9-D82D-DA2E-9F44-F0078F89F51E}"/>
                </a:ext>
              </a:extLst>
            </p:cNvPr>
            <p:cNvSpPr/>
            <p:nvPr/>
          </p:nvSpPr>
          <p:spPr>
            <a:xfrm>
              <a:off x="609600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08B2D64D-F6B6-ED83-F13F-FFEA42F3FE90}"/>
                </a:ext>
              </a:extLst>
            </p:cNvPr>
            <p:cNvSpPr/>
            <p:nvPr/>
          </p:nvSpPr>
          <p:spPr>
            <a:xfrm>
              <a:off x="6217920" y="232867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7A6DD97D-085C-7E01-BEC3-D275F7C9AE36}"/>
                </a:ext>
              </a:extLst>
            </p:cNvPr>
            <p:cNvSpPr/>
            <p:nvPr/>
          </p:nvSpPr>
          <p:spPr>
            <a:xfrm>
              <a:off x="633984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70E69172-987E-EAFC-E30A-5E36B95DC23F}"/>
                </a:ext>
              </a:extLst>
            </p:cNvPr>
            <p:cNvSpPr/>
            <p:nvPr/>
          </p:nvSpPr>
          <p:spPr>
            <a:xfrm>
              <a:off x="646176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03BDB696-152C-6C5A-2C15-A700DF6B13A5}"/>
                </a:ext>
              </a:extLst>
            </p:cNvPr>
            <p:cNvSpPr/>
            <p:nvPr/>
          </p:nvSpPr>
          <p:spPr>
            <a:xfrm>
              <a:off x="658368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C7BC32F2-641E-93C5-465B-D47E2C0D4A42}"/>
                </a:ext>
              </a:extLst>
            </p:cNvPr>
            <p:cNvSpPr/>
            <p:nvPr/>
          </p:nvSpPr>
          <p:spPr>
            <a:xfrm>
              <a:off x="573024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05C7C651-9F0C-EF11-E818-79D7FC014E69}"/>
                </a:ext>
              </a:extLst>
            </p:cNvPr>
            <p:cNvSpPr/>
            <p:nvPr/>
          </p:nvSpPr>
          <p:spPr>
            <a:xfrm>
              <a:off x="585216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163526A8-0C36-E37B-3E53-40B277D68419}"/>
                </a:ext>
              </a:extLst>
            </p:cNvPr>
            <p:cNvSpPr/>
            <p:nvPr/>
          </p:nvSpPr>
          <p:spPr>
            <a:xfrm>
              <a:off x="597408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A3ED5E6F-C526-D835-02CF-6295D90B7857}"/>
                </a:ext>
              </a:extLst>
            </p:cNvPr>
            <p:cNvSpPr/>
            <p:nvPr/>
          </p:nvSpPr>
          <p:spPr>
            <a:xfrm>
              <a:off x="609600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23DA2E74-2CB9-8A90-210A-FF8CC742A9DD}"/>
                </a:ext>
              </a:extLst>
            </p:cNvPr>
            <p:cNvSpPr/>
            <p:nvPr/>
          </p:nvSpPr>
          <p:spPr>
            <a:xfrm>
              <a:off x="621792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81E83159-BA82-2F25-6E59-D164127C9D0C}"/>
                </a:ext>
              </a:extLst>
            </p:cNvPr>
            <p:cNvSpPr/>
            <p:nvPr/>
          </p:nvSpPr>
          <p:spPr>
            <a:xfrm>
              <a:off x="633984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DE90361F-EF0B-6989-CB06-0A510C805A91}"/>
                </a:ext>
              </a:extLst>
            </p:cNvPr>
            <p:cNvSpPr/>
            <p:nvPr/>
          </p:nvSpPr>
          <p:spPr>
            <a:xfrm>
              <a:off x="646176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7F84704E-E904-E474-F4DB-11A3B682EFBA}"/>
                </a:ext>
              </a:extLst>
            </p:cNvPr>
            <p:cNvSpPr/>
            <p:nvPr/>
          </p:nvSpPr>
          <p:spPr>
            <a:xfrm>
              <a:off x="658368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FFAA2C60-EFF5-785B-EADA-3E93AB7185A0}"/>
                </a:ext>
              </a:extLst>
            </p:cNvPr>
            <p:cNvSpPr/>
            <p:nvPr/>
          </p:nvSpPr>
          <p:spPr>
            <a:xfrm>
              <a:off x="573024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300B0947-9249-1506-4E48-0DEA7957C00B}"/>
                </a:ext>
              </a:extLst>
            </p:cNvPr>
            <p:cNvSpPr/>
            <p:nvPr/>
          </p:nvSpPr>
          <p:spPr>
            <a:xfrm>
              <a:off x="585216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75515B85-38B1-19D8-358E-D6E5DABB1B6C}"/>
                </a:ext>
              </a:extLst>
            </p:cNvPr>
            <p:cNvSpPr/>
            <p:nvPr/>
          </p:nvSpPr>
          <p:spPr>
            <a:xfrm>
              <a:off x="597408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FF98D0FB-80AC-42FD-D10E-89719734085E}"/>
                </a:ext>
              </a:extLst>
            </p:cNvPr>
            <p:cNvSpPr/>
            <p:nvPr/>
          </p:nvSpPr>
          <p:spPr>
            <a:xfrm>
              <a:off x="609600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9AAA5DB6-A8FE-FB0D-8C25-73D443D51B1E}"/>
                </a:ext>
              </a:extLst>
            </p:cNvPr>
            <p:cNvSpPr/>
            <p:nvPr/>
          </p:nvSpPr>
          <p:spPr>
            <a:xfrm>
              <a:off x="621792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F4EA162E-0484-E7F6-D5DF-2D761E7346AA}"/>
                </a:ext>
              </a:extLst>
            </p:cNvPr>
            <p:cNvSpPr/>
            <p:nvPr/>
          </p:nvSpPr>
          <p:spPr>
            <a:xfrm>
              <a:off x="633984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DE6053EC-9425-C9FA-5CF5-B83BB7BBFDDC}"/>
                </a:ext>
              </a:extLst>
            </p:cNvPr>
            <p:cNvSpPr/>
            <p:nvPr/>
          </p:nvSpPr>
          <p:spPr>
            <a:xfrm>
              <a:off x="646176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AC46B51B-2146-732D-2416-75F8C5A012F4}"/>
                </a:ext>
              </a:extLst>
            </p:cNvPr>
            <p:cNvSpPr/>
            <p:nvPr/>
          </p:nvSpPr>
          <p:spPr>
            <a:xfrm>
              <a:off x="658368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52" name="Rechteck 251">
            <a:extLst>
              <a:ext uri="{FF2B5EF4-FFF2-40B4-BE49-F238E27FC236}">
                <a16:creationId xmlns:a16="http://schemas.microsoft.com/office/drawing/2014/main" id="{2520A048-E21C-A4A5-6B9C-7881A8585CF0}"/>
              </a:ext>
            </a:extLst>
          </p:cNvPr>
          <p:cNvSpPr/>
          <p:nvPr/>
        </p:nvSpPr>
        <p:spPr>
          <a:xfrm>
            <a:off x="5354778" y="136805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3" name="Rechteck 252">
            <a:extLst>
              <a:ext uri="{FF2B5EF4-FFF2-40B4-BE49-F238E27FC236}">
                <a16:creationId xmlns:a16="http://schemas.microsoft.com/office/drawing/2014/main" id="{94CC312E-C17A-D268-3122-77D7BD36A315}"/>
              </a:ext>
            </a:extLst>
          </p:cNvPr>
          <p:cNvSpPr/>
          <p:nvPr/>
        </p:nvSpPr>
        <p:spPr>
          <a:xfrm>
            <a:off x="5354778" y="239907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4" name="Rechteck 253">
            <a:extLst>
              <a:ext uri="{FF2B5EF4-FFF2-40B4-BE49-F238E27FC236}">
                <a16:creationId xmlns:a16="http://schemas.microsoft.com/office/drawing/2014/main" id="{37E80B51-8AE8-2418-584B-32C9F4B2B902}"/>
              </a:ext>
            </a:extLst>
          </p:cNvPr>
          <p:cNvSpPr/>
          <p:nvPr/>
        </p:nvSpPr>
        <p:spPr>
          <a:xfrm>
            <a:off x="5357299" y="343392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0" name="Rechteck 259">
            <a:extLst>
              <a:ext uri="{FF2B5EF4-FFF2-40B4-BE49-F238E27FC236}">
                <a16:creationId xmlns:a16="http://schemas.microsoft.com/office/drawing/2014/main" id="{B0472548-885D-B9EB-8E0E-BB5AC571B2A5}"/>
              </a:ext>
            </a:extLst>
          </p:cNvPr>
          <p:cNvSpPr/>
          <p:nvPr/>
        </p:nvSpPr>
        <p:spPr>
          <a:xfrm>
            <a:off x="5354778" y="148997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1" name="Rechteck 260">
            <a:extLst>
              <a:ext uri="{FF2B5EF4-FFF2-40B4-BE49-F238E27FC236}">
                <a16:creationId xmlns:a16="http://schemas.microsoft.com/office/drawing/2014/main" id="{608A004D-3490-2593-5491-F8191193EE9A}"/>
              </a:ext>
            </a:extLst>
          </p:cNvPr>
          <p:cNvSpPr/>
          <p:nvPr/>
        </p:nvSpPr>
        <p:spPr>
          <a:xfrm>
            <a:off x="5354778" y="252099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2" name="Rechteck 261">
            <a:extLst>
              <a:ext uri="{FF2B5EF4-FFF2-40B4-BE49-F238E27FC236}">
                <a16:creationId xmlns:a16="http://schemas.microsoft.com/office/drawing/2014/main" id="{8EA6AFC4-10C8-92CA-AF40-6FA3A49F3F80}"/>
              </a:ext>
            </a:extLst>
          </p:cNvPr>
          <p:cNvSpPr/>
          <p:nvPr/>
        </p:nvSpPr>
        <p:spPr>
          <a:xfrm>
            <a:off x="5357299" y="355584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8" name="Rechteck 267">
            <a:extLst>
              <a:ext uri="{FF2B5EF4-FFF2-40B4-BE49-F238E27FC236}">
                <a16:creationId xmlns:a16="http://schemas.microsoft.com/office/drawing/2014/main" id="{AD0BCFDA-ECC5-F8F0-41DE-49F4CFE3CD5E}"/>
              </a:ext>
            </a:extLst>
          </p:cNvPr>
          <p:cNvSpPr/>
          <p:nvPr/>
        </p:nvSpPr>
        <p:spPr>
          <a:xfrm>
            <a:off x="5354778" y="161189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Rechteck 268">
            <a:extLst>
              <a:ext uri="{FF2B5EF4-FFF2-40B4-BE49-F238E27FC236}">
                <a16:creationId xmlns:a16="http://schemas.microsoft.com/office/drawing/2014/main" id="{6B49A19C-149B-873D-F0C8-1593344AE272}"/>
              </a:ext>
            </a:extLst>
          </p:cNvPr>
          <p:cNvSpPr/>
          <p:nvPr/>
        </p:nvSpPr>
        <p:spPr>
          <a:xfrm>
            <a:off x="5354778" y="264291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0" name="Rechteck 269">
            <a:extLst>
              <a:ext uri="{FF2B5EF4-FFF2-40B4-BE49-F238E27FC236}">
                <a16:creationId xmlns:a16="http://schemas.microsoft.com/office/drawing/2014/main" id="{B98CF88D-9518-684A-4C93-8CDC544438FD}"/>
              </a:ext>
            </a:extLst>
          </p:cNvPr>
          <p:cNvSpPr/>
          <p:nvPr/>
        </p:nvSpPr>
        <p:spPr>
          <a:xfrm>
            <a:off x="5357299" y="367776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6" name="Rechteck 275">
            <a:extLst>
              <a:ext uri="{FF2B5EF4-FFF2-40B4-BE49-F238E27FC236}">
                <a16:creationId xmlns:a16="http://schemas.microsoft.com/office/drawing/2014/main" id="{B8D49024-1161-487B-ACAF-4953637DBE0A}"/>
              </a:ext>
            </a:extLst>
          </p:cNvPr>
          <p:cNvSpPr/>
          <p:nvPr/>
        </p:nvSpPr>
        <p:spPr>
          <a:xfrm>
            <a:off x="5354778" y="173381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7" name="Rechteck 276">
            <a:extLst>
              <a:ext uri="{FF2B5EF4-FFF2-40B4-BE49-F238E27FC236}">
                <a16:creationId xmlns:a16="http://schemas.microsoft.com/office/drawing/2014/main" id="{8D072B5B-9876-46A9-7529-73E3182A9851}"/>
              </a:ext>
            </a:extLst>
          </p:cNvPr>
          <p:cNvSpPr/>
          <p:nvPr/>
        </p:nvSpPr>
        <p:spPr>
          <a:xfrm>
            <a:off x="5354778" y="276483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8" name="Rechteck 277">
            <a:extLst>
              <a:ext uri="{FF2B5EF4-FFF2-40B4-BE49-F238E27FC236}">
                <a16:creationId xmlns:a16="http://schemas.microsoft.com/office/drawing/2014/main" id="{03A23E11-15D5-E0A2-2E70-2DBD9BF3F50D}"/>
              </a:ext>
            </a:extLst>
          </p:cNvPr>
          <p:cNvSpPr/>
          <p:nvPr/>
        </p:nvSpPr>
        <p:spPr>
          <a:xfrm>
            <a:off x="5357299" y="3799685"/>
            <a:ext cx="121920" cy="121920"/>
          </a:xfrm>
          <a:prstGeom prst="rect">
            <a:avLst/>
          </a:prstGeom>
          <a:solidFill>
            <a:srgbClr val="FFFF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4" name="Rechteck 283">
            <a:extLst>
              <a:ext uri="{FF2B5EF4-FFF2-40B4-BE49-F238E27FC236}">
                <a16:creationId xmlns:a16="http://schemas.microsoft.com/office/drawing/2014/main" id="{1136CB08-5862-6F67-E0FC-A0784762ED2D}"/>
              </a:ext>
            </a:extLst>
          </p:cNvPr>
          <p:cNvSpPr/>
          <p:nvPr/>
        </p:nvSpPr>
        <p:spPr>
          <a:xfrm>
            <a:off x="5354778" y="185573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5" name="Rechteck 284">
            <a:extLst>
              <a:ext uri="{FF2B5EF4-FFF2-40B4-BE49-F238E27FC236}">
                <a16:creationId xmlns:a16="http://schemas.microsoft.com/office/drawing/2014/main" id="{DAC4B292-2DB6-7DC6-A0D4-AE5F17B69C66}"/>
              </a:ext>
            </a:extLst>
          </p:cNvPr>
          <p:cNvSpPr/>
          <p:nvPr/>
        </p:nvSpPr>
        <p:spPr>
          <a:xfrm>
            <a:off x="5354778" y="288675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BD89AF93-6317-B241-7107-1B187F60B43B}"/>
              </a:ext>
            </a:extLst>
          </p:cNvPr>
          <p:cNvSpPr/>
          <p:nvPr/>
        </p:nvSpPr>
        <p:spPr>
          <a:xfrm>
            <a:off x="5357299" y="392160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Rechteck 291">
            <a:extLst>
              <a:ext uri="{FF2B5EF4-FFF2-40B4-BE49-F238E27FC236}">
                <a16:creationId xmlns:a16="http://schemas.microsoft.com/office/drawing/2014/main" id="{F1ED4036-08F3-982A-312F-B368405D87C3}"/>
              </a:ext>
            </a:extLst>
          </p:cNvPr>
          <p:cNvSpPr/>
          <p:nvPr/>
        </p:nvSpPr>
        <p:spPr>
          <a:xfrm>
            <a:off x="5354778" y="197765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3" name="Rechteck 292">
            <a:extLst>
              <a:ext uri="{FF2B5EF4-FFF2-40B4-BE49-F238E27FC236}">
                <a16:creationId xmlns:a16="http://schemas.microsoft.com/office/drawing/2014/main" id="{61742B9C-3928-F9D3-BDD5-62F363C8EE64}"/>
              </a:ext>
            </a:extLst>
          </p:cNvPr>
          <p:cNvSpPr/>
          <p:nvPr/>
        </p:nvSpPr>
        <p:spPr>
          <a:xfrm>
            <a:off x="5354778" y="300867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4" name="Rechteck 293">
            <a:extLst>
              <a:ext uri="{FF2B5EF4-FFF2-40B4-BE49-F238E27FC236}">
                <a16:creationId xmlns:a16="http://schemas.microsoft.com/office/drawing/2014/main" id="{AA055E45-0470-03B0-06A7-6CE1852D3206}"/>
              </a:ext>
            </a:extLst>
          </p:cNvPr>
          <p:cNvSpPr/>
          <p:nvPr/>
        </p:nvSpPr>
        <p:spPr>
          <a:xfrm>
            <a:off x="5357299" y="404352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0" name="Rechteck 299">
            <a:extLst>
              <a:ext uri="{FF2B5EF4-FFF2-40B4-BE49-F238E27FC236}">
                <a16:creationId xmlns:a16="http://schemas.microsoft.com/office/drawing/2014/main" id="{511B2A36-9484-B76B-C2B8-59DB3103BACC}"/>
              </a:ext>
            </a:extLst>
          </p:cNvPr>
          <p:cNvSpPr/>
          <p:nvPr/>
        </p:nvSpPr>
        <p:spPr>
          <a:xfrm>
            <a:off x="5354778" y="2098816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Rechteck 300">
            <a:extLst>
              <a:ext uri="{FF2B5EF4-FFF2-40B4-BE49-F238E27FC236}">
                <a16:creationId xmlns:a16="http://schemas.microsoft.com/office/drawing/2014/main" id="{ED284BC5-25C8-45FD-69E5-C70E2B85D749}"/>
              </a:ext>
            </a:extLst>
          </p:cNvPr>
          <p:cNvSpPr/>
          <p:nvPr/>
        </p:nvSpPr>
        <p:spPr>
          <a:xfrm>
            <a:off x="5354778" y="3129830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2" name="Rechteck 301">
            <a:extLst>
              <a:ext uri="{FF2B5EF4-FFF2-40B4-BE49-F238E27FC236}">
                <a16:creationId xmlns:a16="http://schemas.microsoft.com/office/drawing/2014/main" id="{EB7ABB48-D4D9-5AE7-A8E5-0E17A8788566}"/>
              </a:ext>
            </a:extLst>
          </p:cNvPr>
          <p:cNvSpPr/>
          <p:nvPr/>
        </p:nvSpPr>
        <p:spPr>
          <a:xfrm>
            <a:off x="5357299" y="4164683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8" name="Rechteck 307">
            <a:extLst>
              <a:ext uri="{FF2B5EF4-FFF2-40B4-BE49-F238E27FC236}">
                <a16:creationId xmlns:a16="http://schemas.microsoft.com/office/drawing/2014/main" id="{C00845C3-11AF-A8EF-A7FF-15F8C0468A0A}"/>
              </a:ext>
            </a:extLst>
          </p:cNvPr>
          <p:cNvSpPr/>
          <p:nvPr/>
        </p:nvSpPr>
        <p:spPr>
          <a:xfrm>
            <a:off x="5354778" y="2220736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9" name="Rechteck 308">
            <a:extLst>
              <a:ext uri="{FF2B5EF4-FFF2-40B4-BE49-F238E27FC236}">
                <a16:creationId xmlns:a16="http://schemas.microsoft.com/office/drawing/2014/main" id="{44DB9F5B-1977-A435-D359-42BC23A581E1}"/>
              </a:ext>
            </a:extLst>
          </p:cNvPr>
          <p:cNvSpPr/>
          <p:nvPr/>
        </p:nvSpPr>
        <p:spPr>
          <a:xfrm>
            <a:off x="5354778" y="3251750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" name="Rechteck 309">
            <a:extLst>
              <a:ext uri="{FF2B5EF4-FFF2-40B4-BE49-F238E27FC236}">
                <a16:creationId xmlns:a16="http://schemas.microsoft.com/office/drawing/2014/main" id="{B1C7F2C6-4697-0BD0-B649-35B8BE0593FB}"/>
              </a:ext>
            </a:extLst>
          </p:cNvPr>
          <p:cNvSpPr/>
          <p:nvPr/>
        </p:nvSpPr>
        <p:spPr>
          <a:xfrm>
            <a:off x="5357299" y="4286603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Rechteck 315">
            <a:extLst>
              <a:ext uri="{FF2B5EF4-FFF2-40B4-BE49-F238E27FC236}">
                <a16:creationId xmlns:a16="http://schemas.microsoft.com/office/drawing/2014/main" id="{C2DD60C2-2C30-B332-AF1A-D9D70825D540}"/>
              </a:ext>
            </a:extLst>
          </p:cNvPr>
          <p:cNvSpPr/>
          <p:nvPr/>
        </p:nvSpPr>
        <p:spPr>
          <a:xfrm>
            <a:off x="4878618" y="128016"/>
            <a:ext cx="165100" cy="10911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1" name="Rechteck 320">
            <a:extLst>
              <a:ext uri="{FF2B5EF4-FFF2-40B4-BE49-F238E27FC236}">
                <a16:creationId xmlns:a16="http://schemas.microsoft.com/office/drawing/2014/main" id="{10A9A259-B889-FCA5-6589-4C36509BE881}"/>
              </a:ext>
            </a:extLst>
          </p:cNvPr>
          <p:cNvSpPr/>
          <p:nvPr/>
        </p:nvSpPr>
        <p:spPr>
          <a:xfrm>
            <a:off x="5031282" y="127642"/>
            <a:ext cx="134357" cy="109118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3" name="Rechteck 322">
            <a:extLst>
              <a:ext uri="{FF2B5EF4-FFF2-40B4-BE49-F238E27FC236}">
                <a16:creationId xmlns:a16="http://schemas.microsoft.com/office/drawing/2014/main" id="{E0006608-BAC9-4980-80CB-F2FB113B34DA}"/>
              </a:ext>
            </a:extLst>
          </p:cNvPr>
          <p:cNvSpPr/>
          <p:nvPr/>
        </p:nvSpPr>
        <p:spPr>
          <a:xfrm>
            <a:off x="5153201" y="126757"/>
            <a:ext cx="134357" cy="1091184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25" name="Gerade Verbindung mit Pfeil 324">
            <a:extLst>
              <a:ext uri="{FF2B5EF4-FFF2-40B4-BE49-F238E27FC236}">
                <a16:creationId xmlns:a16="http://schemas.microsoft.com/office/drawing/2014/main" id="{96F3F0B3-45E0-9E61-0741-46E9EF12E90F}"/>
              </a:ext>
            </a:extLst>
          </p:cNvPr>
          <p:cNvCxnSpPr>
            <a:cxnSpLocks/>
            <a:stCxn id="316" idx="2"/>
            <a:endCxn id="284" idx="1"/>
          </p:cNvCxnSpPr>
          <p:nvPr/>
        </p:nvCxnSpPr>
        <p:spPr>
          <a:xfrm>
            <a:off x="4961168" y="1219200"/>
            <a:ext cx="393610" cy="697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Gerade Verbindung mit Pfeil 326">
            <a:extLst>
              <a:ext uri="{FF2B5EF4-FFF2-40B4-BE49-F238E27FC236}">
                <a16:creationId xmlns:a16="http://schemas.microsoft.com/office/drawing/2014/main" id="{6DECAF6E-1D60-EB66-AF8E-09C365272726}"/>
              </a:ext>
            </a:extLst>
          </p:cNvPr>
          <p:cNvCxnSpPr>
            <a:cxnSpLocks/>
            <a:stCxn id="321" idx="2"/>
            <a:endCxn id="277" idx="0"/>
          </p:cNvCxnSpPr>
          <p:nvPr/>
        </p:nvCxnSpPr>
        <p:spPr>
          <a:xfrm>
            <a:off x="5098461" y="1218826"/>
            <a:ext cx="317277" cy="1546006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Gerade Verbindung mit Pfeil 330">
            <a:extLst>
              <a:ext uri="{FF2B5EF4-FFF2-40B4-BE49-F238E27FC236}">
                <a16:creationId xmlns:a16="http://schemas.microsoft.com/office/drawing/2014/main" id="{466D8433-7596-343B-766E-0C44E81D96B4}"/>
              </a:ext>
            </a:extLst>
          </p:cNvPr>
          <p:cNvCxnSpPr>
            <a:cxnSpLocks/>
            <a:stCxn id="323" idx="2"/>
            <a:endCxn id="278" idx="0"/>
          </p:cNvCxnSpPr>
          <p:nvPr/>
        </p:nvCxnSpPr>
        <p:spPr>
          <a:xfrm>
            <a:off x="5220380" y="1217941"/>
            <a:ext cx="197879" cy="2581744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Textfeld 333">
            <a:extLst>
              <a:ext uri="{FF2B5EF4-FFF2-40B4-BE49-F238E27FC236}">
                <a16:creationId xmlns:a16="http://schemas.microsoft.com/office/drawing/2014/main" id="{14A6EBD8-F2BF-83F7-CC04-42DF7A83393E}"/>
              </a:ext>
            </a:extLst>
          </p:cNvPr>
          <p:cNvSpPr txBox="1"/>
          <p:nvPr/>
        </p:nvSpPr>
        <p:spPr>
          <a:xfrm>
            <a:off x="5402606" y="4389083"/>
            <a:ext cx="331276" cy="6626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900" dirty="0"/>
              <a:t>.</a:t>
            </a:r>
          </a:p>
          <a:p>
            <a:r>
              <a:rPr lang="en-GB" sz="900" dirty="0"/>
              <a:t>.</a:t>
            </a:r>
          </a:p>
          <a:p>
            <a:r>
              <a:rPr lang="en-GB" sz="900" dirty="0"/>
              <a:t>.</a:t>
            </a:r>
          </a:p>
        </p:txBody>
      </p:sp>
      <p:sp>
        <p:nvSpPr>
          <p:cNvPr id="362" name="Ellipse 361">
            <a:extLst>
              <a:ext uri="{FF2B5EF4-FFF2-40B4-BE49-F238E27FC236}">
                <a16:creationId xmlns:a16="http://schemas.microsoft.com/office/drawing/2014/main" id="{9E0120AD-FF3E-A6B8-5ADC-A566BDB82607}"/>
              </a:ext>
            </a:extLst>
          </p:cNvPr>
          <p:cNvSpPr/>
          <p:nvPr/>
        </p:nvSpPr>
        <p:spPr>
          <a:xfrm>
            <a:off x="6408679" y="1611898"/>
            <a:ext cx="334194" cy="33419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3" name="Ellipse 362">
            <a:extLst>
              <a:ext uri="{FF2B5EF4-FFF2-40B4-BE49-F238E27FC236}">
                <a16:creationId xmlns:a16="http://schemas.microsoft.com/office/drawing/2014/main" id="{2240038A-326D-0F09-F013-3638DC28F995}"/>
              </a:ext>
            </a:extLst>
          </p:cNvPr>
          <p:cNvSpPr/>
          <p:nvPr/>
        </p:nvSpPr>
        <p:spPr>
          <a:xfrm>
            <a:off x="6408679" y="2247053"/>
            <a:ext cx="334194" cy="33419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4" name="Ellipse 363">
            <a:extLst>
              <a:ext uri="{FF2B5EF4-FFF2-40B4-BE49-F238E27FC236}">
                <a16:creationId xmlns:a16="http://schemas.microsoft.com/office/drawing/2014/main" id="{C579EF60-19D5-EBE9-E2E2-D67F0D632855}"/>
              </a:ext>
            </a:extLst>
          </p:cNvPr>
          <p:cNvSpPr/>
          <p:nvPr/>
        </p:nvSpPr>
        <p:spPr>
          <a:xfrm>
            <a:off x="6408679" y="2825792"/>
            <a:ext cx="334194" cy="33419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5" name="Ellipse 364">
            <a:extLst>
              <a:ext uri="{FF2B5EF4-FFF2-40B4-BE49-F238E27FC236}">
                <a16:creationId xmlns:a16="http://schemas.microsoft.com/office/drawing/2014/main" id="{2A1400E9-3B6E-839D-8155-8DDDE3D6F603}"/>
              </a:ext>
            </a:extLst>
          </p:cNvPr>
          <p:cNvSpPr/>
          <p:nvPr/>
        </p:nvSpPr>
        <p:spPr>
          <a:xfrm>
            <a:off x="6406209" y="4213210"/>
            <a:ext cx="334194" cy="33419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6" name="Textfeld 365">
            <a:extLst>
              <a:ext uri="{FF2B5EF4-FFF2-40B4-BE49-F238E27FC236}">
                <a16:creationId xmlns:a16="http://schemas.microsoft.com/office/drawing/2014/main" id="{5019815A-E3FD-F3BC-0765-98ECEDC02167}"/>
              </a:ext>
            </a:extLst>
          </p:cNvPr>
          <p:cNvSpPr txBox="1"/>
          <p:nvPr/>
        </p:nvSpPr>
        <p:spPr>
          <a:xfrm>
            <a:off x="6543790" y="3281525"/>
            <a:ext cx="331276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600" dirty="0"/>
              <a:t>.</a:t>
            </a:r>
          </a:p>
          <a:p>
            <a:r>
              <a:rPr lang="en-GB" sz="1600" dirty="0"/>
              <a:t>.</a:t>
            </a:r>
          </a:p>
          <a:p>
            <a:r>
              <a:rPr lang="en-GB" sz="1600" dirty="0"/>
              <a:t>.</a:t>
            </a:r>
          </a:p>
        </p:txBody>
      </p:sp>
      <p:sp>
        <p:nvSpPr>
          <p:cNvPr id="367" name="Rechteck 366">
            <a:extLst>
              <a:ext uri="{FF2B5EF4-FFF2-40B4-BE49-F238E27FC236}">
                <a16:creationId xmlns:a16="http://schemas.microsoft.com/office/drawing/2014/main" id="{411B9531-4E0F-4CBB-1FD8-AE28647EA3C2}"/>
              </a:ext>
            </a:extLst>
          </p:cNvPr>
          <p:cNvSpPr/>
          <p:nvPr/>
        </p:nvSpPr>
        <p:spPr>
          <a:xfrm>
            <a:off x="6227064" y="1429018"/>
            <a:ext cx="705173" cy="326490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Textfeld 368">
            <a:extLst>
              <a:ext uri="{FF2B5EF4-FFF2-40B4-BE49-F238E27FC236}">
                <a16:creationId xmlns:a16="http://schemas.microsoft.com/office/drawing/2014/main" id="{0F12AE41-AA9A-5E59-26E3-7639C21714BA}"/>
              </a:ext>
            </a:extLst>
          </p:cNvPr>
          <p:cNvSpPr txBox="1"/>
          <p:nvPr/>
        </p:nvSpPr>
        <p:spPr>
          <a:xfrm>
            <a:off x="6561932" y="4815459"/>
            <a:ext cx="1297351" cy="3111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 err="1"/>
              <a:t>hidden_dim</a:t>
            </a:r>
            <a:endParaRPr lang="en-GB" sz="1600" dirty="0"/>
          </a:p>
        </p:txBody>
      </p:sp>
      <p:cxnSp>
        <p:nvCxnSpPr>
          <p:cNvPr id="371" name="Gerade Verbindung mit Pfeil 370">
            <a:extLst>
              <a:ext uri="{FF2B5EF4-FFF2-40B4-BE49-F238E27FC236}">
                <a16:creationId xmlns:a16="http://schemas.microsoft.com/office/drawing/2014/main" id="{40D7349F-6047-E923-5825-33543706BB48}"/>
              </a:ext>
            </a:extLst>
          </p:cNvPr>
          <p:cNvCxnSpPr/>
          <p:nvPr/>
        </p:nvCxnSpPr>
        <p:spPr>
          <a:xfrm>
            <a:off x="5544120" y="1429018"/>
            <a:ext cx="985455" cy="304800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Gerade Verbindung mit Pfeil 375">
            <a:extLst>
              <a:ext uri="{FF2B5EF4-FFF2-40B4-BE49-F238E27FC236}">
                <a16:creationId xmlns:a16="http://schemas.microsoft.com/office/drawing/2014/main" id="{AFA9A0AC-FA54-D998-3E6C-3F3A97A060AA}"/>
              </a:ext>
            </a:extLst>
          </p:cNvPr>
          <p:cNvCxnSpPr>
            <a:cxnSpLocks/>
          </p:cNvCxnSpPr>
          <p:nvPr/>
        </p:nvCxnSpPr>
        <p:spPr>
          <a:xfrm flipV="1">
            <a:off x="5534751" y="1877568"/>
            <a:ext cx="994824" cy="433335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Gerade Verbindung mit Pfeil 378">
            <a:extLst>
              <a:ext uri="{FF2B5EF4-FFF2-40B4-BE49-F238E27FC236}">
                <a16:creationId xmlns:a16="http://schemas.microsoft.com/office/drawing/2014/main" id="{D1FAB75C-440E-2283-72BE-2BF5D50C3059}"/>
              </a:ext>
            </a:extLst>
          </p:cNvPr>
          <p:cNvCxnSpPr>
            <a:cxnSpLocks/>
          </p:cNvCxnSpPr>
          <p:nvPr/>
        </p:nvCxnSpPr>
        <p:spPr>
          <a:xfrm flipV="1">
            <a:off x="5510802" y="1963040"/>
            <a:ext cx="1018773" cy="496831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Gerade Verbindung mit Pfeil 384">
            <a:extLst>
              <a:ext uri="{FF2B5EF4-FFF2-40B4-BE49-F238E27FC236}">
                <a16:creationId xmlns:a16="http://schemas.microsoft.com/office/drawing/2014/main" id="{978516DD-212E-D672-E447-91A3668F8DB1}"/>
              </a:ext>
            </a:extLst>
          </p:cNvPr>
          <p:cNvCxnSpPr>
            <a:cxnSpLocks/>
          </p:cNvCxnSpPr>
          <p:nvPr/>
        </p:nvCxnSpPr>
        <p:spPr>
          <a:xfrm flipV="1">
            <a:off x="5515649" y="2047946"/>
            <a:ext cx="987967" cy="1459259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feld 390">
            <a:extLst>
              <a:ext uri="{FF2B5EF4-FFF2-40B4-BE49-F238E27FC236}">
                <a16:creationId xmlns:a16="http://schemas.microsoft.com/office/drawing/2014/main" id="{B99FC981-B11D-260C-6EF8-99AD78C6EABE}"/>
              </a:ext>
            </a:extLst>
          </p:cNvPr>
          <p:cNvSpPr txBox="1"/>
          <p:nvPr/>
        </p:nvSpPr>
        <p:spPr>
          <a:xfrm>
            <a:off x="5552657" y="1580732"/>
            <a:ext cx="331276" cy="58428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</p:txBody>
      </p:sp>
      <p:sp>
        <p:nvSpPr>
          <p:cNvPr id="392" name="Textfeld 391">
            <a:extLst>
              <a:ext uri="{FF2B5EF4-FFF2-40B4-BE49-F238E27FC236}">
                <a16:creationId xmlns:a16="http://schemas.microsoft.com/office/drawing/2014/main" id="{181A1EB6-655C-F136-E624-B6060FA92756}"/>
              </a:ext>
            </a:extLst>
          </p:cNvPr>
          <p:cNvSpPr txBox="1"/>
          <p:nvPr/>
        </p:nvSpPr>
        <p:spPr>
          <a:xfrm>
            <a:off x="5506525" y="2624794"/>
            <a:ext cx="331276" cy="58428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</p:txBody>
      </p:sp>
      <p:sp>
        <p:nvSpPr>
          <p:cNvPr id="393" name="Textfeld 392">
            <a:extLst>
              <a:ext uri="{FF2B5EF4-FFF2-40B4-BE49-F238E27FC236}">
                <a16:creationId xmlns:a16="http://schemas.microsoft.com/office/drawing/2014/main" id="{2F03C0BA-E61C-4097-64C9-E770AE401098}"/>
              </a:ext>
            </a:extLst>
          </p:cNvPr>
          <p:cNvSpPr txBox="1"/>
          <p:nvPr/>
        </p:nvSpPr>
        <p:spPr>
          <a:xfrm>
            <a:off x="5534621" y="3622728"/>
            <a:ext cx="331276" cy="58428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</p:txBody>
      </p:sp>
      <p:cxnSp>
        <p:nvCxnSpPr>
          <p:cNvPr id="394" name="Gerade Verbindung mit Pfeil 393">
            <a:extLst>
              <a:ext uri="{FF2B5EF4-FFF2-40B4-BE49-F238E27FC236}">
                <a16:creationId xmlns:a16="http://schemas.microsoft.com/office/drawing/2014/main" id="{B1D6952B-B04B-C985-2980-25F1BA62EEF1}"/>
              </a:ext>
            </a:extLst>
          </p:cNvPr>
          <p:cNvCxnSpPr>
            <a:cxnSpLocks/>
          </p:cNvCxnSpPr>
          <p:nvPr/>
        </p:nvCxnSpPr>
        <p:spPr>
          <a:xfrm flipV="1">
            <a:off x="5531398" y="2038618"/>
            <a:ext cx="913147" cy="1278362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Gerade Verbindung mit Pfeil 396">
            <a:extLst>
              <a:ext uri="{FF2B5EF4-FFF2-40B4-BE49-F238E27FC236}">
                <a16:creationId xmlns:a16="http://schemas.microsoft.com/office/drawing/2014/main" id="{02F40E4C-5E1B-E867-93B0-E9D5AD6D9876}"/>
              </a:ext>
            </a:extLst>
          </p:cNvPr>
          <p:cNvCxnSpPr>
            <a:cxnSpLocks/>
          </p:cNvCxnSpPr>
          <p:nvPr/>
        </p:nvCxnSpPr>
        <p:spPr>
          <a:xfrm flipV="1">
            <a:off x="5538106" y="2047946"/>
            <a:ext cx="1005684" cy="2282852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Pfeil: nach rechts gekrümmt 401">
            <a:extLst>
              <a:ext uri="{FF2B5EF4-FFF2-40B4-BE49-F238E27FC236}">
                <a16:creationId xmlns:a16="http://schemas.microsoft.com/office/drawing/2014/main" id="{052FDFB9-3784-3476-282D-FB87A67247D3}"/>
              </a:ext>
            </a:extLst>
          </p:cNvPr>
          <p:cNvSpPr/>
          <p:nvPr/>
        </p:nvSpPr>
        <p:spPr>
          <a:xfrm rot="21034133">
            <a:off x="4665003" y="1329744"/>
            <a:ext cx="459920" cy="2101329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3" name="Textfeld 402">
            <a:extLst>
              <a:ext uri="{FF2B5EF4-FFF2-40B4-BE49-F238E27FC236}">
                <a16:creationId xmlns:a16="http://schemas.microsoft.com/office/drawing/2014/main" id="{D2975C70-4E23-45C8-7BDB-9249A5B2CFC5}"/>
              </a:ext>
            </a:extLst>
          </p:cNvPr>
          <p:cNvSpPr txBox="1"/>
          <p:nvPr/>
        </p:nvSpPr>
        <p:spPr>
          <a:xfrm rot="16200000">
            <a:off x="4536402" y="1945100"/>
            <a:ext cx="735678" cy="4034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Flatten</a:t>
            </a:r>
          </a:p>
        </p:txBody>
      </p:sp>
      <p:sp>
        <p:nvSpPr>
          <p:cNvPr id="404" name="Textfeld 403">
            <a:extLst>
              <a:ext uri="{FF2B5EF4-FFF2-40B4-BE49-F238E27FC236}">
                <a16:creationId xmlns:a16="http://schemas.microsoft.com/office/drawing/2014/main" id="{58FFFCC7-E011-00A1-2363-3874ECD8A9BE}"/>
              </a:ext>
            </a:extLst>
          </p:cNvPr>
          <p:cNvSpPr txBox="1"/>
          <p:nvPr/>
        </p:nvSpPr>
        <p:spPr>
          <a:xfrm rot="16200000">
            <a:off x="5640681" y="3831245"/>
            <a:ext cx="735940" cy="4668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Linear </a:t>
            </a:r>
          </a:p>
        </p:txBody>
      </p:sp>
      <p:grpSp>
        <p:nvGrpSpPr>
          <p:cNvPr id="409" name="Gruppieren 408">
            <a:extLst>
              <a:ext uri="{FF2B5EF4-FFF2-40B4-BE49-F238E27FC236}">
                <a16:creationId xmlns:a16="http://schemas.microsoft.com/office/drawing/2014/main" id="{774FF51D-125D-FB42-E3BF-D3DCA1F62ACA}"/>
              </a:ext>
            </a:extLst>
          </p:cNvPr>
          <p:cNvGrpSpPr/>
          <p:nvPr/>
        </p:nvGrpSpPr>
        <p:grpSpPr>
          <a:xfrm>
            <a:off x="6281385" y="231105"/>
            <a:ext cx="953023" cy="881744"/>
            <a:chOff x="6491526" y="362405"/>
            <a:chExt cx="953023" cy="881744"/>
          </a:xfrm>
        </p:grpSpPr>
        <p:sp>
          <p:nvSpPr>
            <p:cNvPr id="405" name="Ellipse 404">
              <a:extLst>
                <a:ext uri="{FF2B5EF4-FFF2-40B4-BE49-F238E27FC236}">
                  <a16:creationId xmlns:a16="http://schemas.microsoft.com/office/drawing/2014/main" id="{60AD634C-9972-1241-1ED9-070BE9ACFAC9}"/>
                </a:ext>
              </a:extLst>
            </p:cNvPr>
            <p:cNvSpPr/>
            <p:nvPr/>
          </p:nvSpPr>
          <p:spPr>
            <a:xfrm>
              <a:off x="6528447" y="755295"/>
              <a:ext cx="334194" cy="33419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-</a:t>
              </a:r>
            </a:p>
          </p:txBody>
        </p:sp>
        <p:sp>
          <p:nvSpPr>
            <p:cNvPr id="406" name="Ellipse 405">
              <a:extLst>
                <a:ext uri="{FF2B5EF4-FFF2-40B4-BE49-F238E27FC236}">
                  <a16:creationId xmlns:a16="http://schemas.microsoft.com/office/drawing/2014/main" id="{D86FEB7E-0BFA-9E6D-1168-E02810C3C08A}"/>
                </a:ext>
              </a:extLst>
            </p:cNvPr>
            <p:cNvSpPr/>
            <p:nvPr/>
          </p:nvSpPr>
          <p:spPr>
            <a:xfrm>
              <a:off x="7037765" y="755295"/>
              <a:ext cx="334194" cy="334194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+</a:t>
              </a:r>
            </a:p>
          </p:txBody>
        </p:sp>
        <p:sp>
          <p:nvSpPr>
            <p:cNvPr id="407" name="Textfeld 406">
              <a:extLst>
                <a:ext uri="{FF2B5EF4-FFF2-40B4-BE49-F238E27FC236}">
                  <a16:creationId xmlns:a16="http://schemas.microsoft.com/office/drawing/2014/main" id="{B6539534-976B-C420-1CF3-DB8DAE3A17B6}"/>
                </a:ext>
              </a:extLst>
            </p:cNvPr>
            <p:cNvSpPr txBox="1"/>
            <p:nvPr/>
          </p:nvSpPr>
          <p:spPr>
            <a:xfrm>
              <a:off x="6668762" y="443830"/>
              <a:ext cx="703197" cy="2858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2100"/>
                </a:lnSpc>
              </a:pPr>
              <a:r>
                <a:rPr lang="en-GB" sz="1600" dirty="0"/>
                <a:t>values</a:t>
              </a:r>
            </a:p>
          </p:txBody>
        </p:sp>
        <p:sp>
          <p:nvSpPr>
            <p:cNvPr id="408" name="Rechteck 407">
              <a:extLst>
                <a:ext uri="{FF2B5EF4-FFF2-40B4-BE49-F238E27FC236}">
                  <a16:creationId xmlns:a16="http://schemas.microsoft.com/office/drawing/2014/main" id="{61B55FA6-7A69-16CC-2D11-842502EA72FD}"/>
                </a:ext>
              </a:extLst>
            </p:cNvPr>
            <p:cNvSpPr/>
            <p:nvPr/>
          </p:nvSpPr>
          <p:spPr>
            <a:xfrm>
              <a:off x="6491526" y="362405"/>
              <a:ext cx="953023" cy="8817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34" name="Rechteck 233">
            <a:extLst>
              <a:ext uri="{FF2B5EF4-FFF2-40B4-BE49-F238E27FC236}">
                <a16:creationId xmlns:a16="http://schemas.microsoft.com/office/drawing/2014/main" id="{1419D253-59DE-04C3-C1DD-0919BC1B43FD}"/>
              </a:ext>
            </a:extLst>
          </p:cNvPr>
          <p:cNvSpPr/>
          <p:nvPr/>
        </p:nvSpPr>
        <p:spPr>
          <a:xfrm>
            <a:off x="1275127" y="2027057"/>
            <a:ext cx="3090313" cy="2561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3" name="Textfeld 242">
            <a:extLst>
              <a:ext uri="{FF2B5EF4-FFF2-40B4-BE49-F238E27FC236}">
                <a16:creationId xmlns:a16="http://schemas.microsoft.com/office/drawing/2014/main" id="{D76ED677-1838-2536-B3A6-4E6D38D37EA1}"/>
              </a:ext>
            </a:extLst>
          </p:cNvPr>
          <p:cNvSpPr txBox="1"/>
          <p:nvPr/>
        </p:nvSpPr>
        <p:spPr>
          <a:xfrm>
            <a:off x="4984034" y="4792917"/>
            <a:ext cx="1297351" cy="3111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 err="1"/>
              <a:t>input_dim</a:t>
            </a:r>
            <a:endParaRPr lang="en-GB" sz="16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9E170DA-F1D0-6216-66B3-BF5D2DF21B28}"/>
              </a:ext>
            </a:extLst>
          </p:cNvPr>
          <p:cNvSpPr txBox="1"/>
          <p:nvPr/>
        </p:nvSpPr>
        <p:spPr>
          <a:xfrm>
            <a:off x="254339" y="4752708"/>
            <a:ext cx="1540906" cy="311121"/>
          </a:xfrm>
          <a:prstGeom prst="rect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200" dirty="0"/>
              <a:t> Linear: f(x) = </a:t>
            </a:r>
            <a:r>
              <a:rPr lang="en-GB" sz="1200" dirty="0" err="1"/>
              <a:t>xW</a:t>
            </a:r>
            <a:r>
              <a:rPr lang="en-GB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067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" grpId="0" animBg="1"/>
      <p:bldP spid="253" grpId="0" animBg="1"/>
      <p:bldP spid="254" grpId="0" animBg="1"/>
      <p:bldP spid="260" grpId="0" animBg="1"/>
      <p:bldP spid="261" grpId="0" animBg="1"/>
      <p:bldP spid="262" grpId="0" animBg="1"/>
      <p:bldP spid="268" grpId="0" animBg="1"/>
      <p:bldP spid="269" grpId="0" animBg="1"/>
      <p:bldP spid="270" grpId="0" animBg="1"/>
      <p:bldP spid="276" grpId="0" animBg="1"/>
      <p:bldP spid="277" grpId="0" animBg="1"/>
      <p:bldP spid="278" grpId="0" animBg="1"/>
      <p:bldP spid="284" grpId="0" animBg="1"/>
      <p:bldP spid="285" grpId="0" animBg="1"/>
      <p:bldP spid="286" grpId="0" animBg="1"/>
      <p:bldP spid="292" grpId="0" animBg="1"/>
      <p:bldP spid="293" grpId="0" animBg="1"/>
      <p:bldP spid="294" grpId="0" animBg="1"/>
      <p:bldP spid="300" grpId="0" animBg="1"/>
      <p:bldP spid="301" grpId="0" animBg="1"/>
      <p:bldP spid="302" grpId="0" animBg="1"/>
      <p:bldP spid="308" grpId="0" animBg="1"/>
      <p:bldP spid="309" grpId="0" animBg="1"/>
      <p:bldP spid="310" grpId="0" animBg="1"/>
      <p:bldP spid="316" grpId="0" animBg="1"/>
      <p:bldP spid="321" grpId="0" animBg="1"/>
      <p:bldP spid="323" grpId="0" animBg="1"/>
      <p:bldP spid="334" grpId="0"/>
      <p:bldP spid="362" grpId="0" animBg="1"/>
      <p:bldP spid="363" grpId="0" animBg="1"/>
      <p:bldP spid="364" grpId="0" animBg="1"/>
      <p:bldP spid="365" grpId="0" animBg="1"/>
      <p:bldP spid="366" grpId="0"/>
      <p:bldP spid="367" grpId="0" animBg="1"/>
      <p:bldP spid="369" grpId="0"/>
      <p:bldP spid="391" grpId="0"/>
      <p:bldP spid="392" grpId="0"/>
      <p:bldP spid="393" grpId="0"/>
      <p:bldP spid="402" grpId="0" animBg="1"/>
      <p:bldP spid="403" grpId="0"/>
      <p:bldP spid="404" grpId="0"/>
      <p:bldP spid="234" grpId="0" animBg="1"/>
      <p:bldP spid="234" grpId="1" animBg="1"/>
      <p:bldP spid="243" grpId="0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E6438-C3BF-8679-8535-1BCEBE5D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6F9B714-EADD-DB54-83A8-4A129F3551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668" y="4878000"/>
            <a:ext cx="900000" cy="180000"/>
          </a:xfrm>
        </p:spPr>
        <p:txBody>
          <a:bodyPr/>
          <a:lstStyle/>
          <a:p>
            <a:r>
              <a:rPr lang="de-DE"/>
              <a:t>10.02.2017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4ECCECF-51FD-E2F8-ED6A-C36C2041DD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53670" y="639670"/>
            <a:ext cx="4418330" cy="4054250"/>
          </a:xfrm>
          <a:prstGeom prst="rect">
            <a:avLst/>
          </a:prstGeom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5C6EF6F-567C-08D5-D023-0897B81A3328}"/>
              </a:ext>
            </a:extLst>
          </p:cNvPr>
          <p:cNvGrpSpPr/>
          <p:nvPr/>
        </p:nvGrpSpPr>
        <p:grpSpPr>
          <a:xfrm>
            <a:off x="4921798" y="177934"/>
            <a:ext cx="975360" cy="974598"/>
            <a:chOff x="5730240" y="1719072"/>
            <a:chExt cx="975360" cy="974598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810C07E3-EB02-E530-D1B7-23C724FAF902}"/>
                </a:ext>
              </a:extLst>
            </p:cNvPr>
            <p:cNvSpPr/>
            <p:nvPr/>
          </p:nvSpPr>
          <p:spPr>
            <a:xfrm>
              <a:off x="573024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2EAF89F-4991-56D2-CA51-7DF16F6C0243}"/>
                </a:ext>
              </a:extLst>
            </p:cNvPr>
            <p:cNvSpPr/>
            <p:nvPr/>
          </p:nvSpPr>
          <p:spPr>
            <a:xfrm>
              <a:off x="585216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B0DB9517-E221-46C2-9848-236F2DE9BC87}"/>
                </a:ext>
              </a:extLst>
            </p:cNvPr>
            <p:cNvSpPr/>
            <p:nvPr/>
          </p:nvSpPr>
          <p:spPr>
            <a:xfrm>
              <a:off x="597408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13EEA32F-513D-56E5-CCE0-195A94D343EE}"/>
                </a:ext>
              </a:extLst>
            </p:cNvPr>
            <p:cNvSpPr/>
            <p:nvPr/>
          </p:nvSpPr>
          <p:spPr>
            <a:xfrm>
              <a:off x="609600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953E7230-1EF7-106E-9402-7BC76B118177}"/>
                </a:ext>
              </a:extLst>
            </p:cNvPr>
            <p:cNvSpPr/>
            <p:nvPr/>
          </p:nvSpPr>
          <p:spPr>
            <a:xfrm>
              <a:off x="621792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B8B7D19D-929E-95F1-0327-3F711E0A2474}"/>
                </a:ext>
              </a:extLst>
            </p:cNvPr>
            <p:cNvSpPr/>
            <p:nvPr/>
          </p:nvSpPr>
          <p:spPr>
            <a:xfrm>
              <a:off x="633984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DB06B32-0D18-378E-7309-C304E2589183}"/>
                </a:ext>
              </a:extLst>
            </p:cNvPr>
            <p:cNvSpPr/>
            <p:nvPr/>
          </p:nvSpPr>
          <p:spPr>
            <a:xfrm>
              <a:off x="646176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D22A93C5-8DE7-3138-9B0A-E71C4531331D}"/>
                </a:ext>
              </a:extLst>
            </p:cNvPr>
            <p:cNvSpPr/>
            <p:nvPr/>
          </p:nvSpPr>
          <p:spPr>
            <a:xfrm>
              <a:off x="658368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E3249DC5-020B-5842-0163-3D15391093D0}"/>
                </a:ext>
              </a:extLst>
            </p:cNvPr>
            <p:cNvSpPr/>
            <p:nvPr/>
          </p:nvSpPr>
          <p:spPr>
            <a:xfrm>
              <a:off x="573024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953308A-0B1F-CBF1-88C7-A2F42AB38F0C}"/>
                </a:ext>
              </a:extLst>
            </p:cNvPr>
            <p:cNvSpPr/>
            <p:nvPr/>
          </p:nvSpPr>
          <p:spPr>
            <a:xfrm>
              <a:off x="585216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73EED5A-CA90-5D31-CD36-58FF52949D64}"/>
                </a:ext>
              </a:extLst>
            </p:cNvPr>
            <p:cNvSpPr/>
            <p:nvPr/>
          </p:nvSpPr>
          <p:spPr>
            <a:xfrm>
              <a:off x="597408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97A601A9-1C77-0E32-8057-648ED2D594A7}"/>
                </a:ext>
              </a:extLst>
            </p:cNvPr>
            <p:cNvSpPr/>
            <p:nvPr/>
          </p:nvSpPr>
          <p:spPr>
            <a:xfrm>
              <a:off x="609600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8B5236CA-26C8-3D19-E3FC-F1EB7C1956B2}"/>
                </a:ext>
              </a:extLst>
            </p:cNvPr>
            <p:cNvSpPr/>
            <p:nvPr/>
          </p:nvSpPr>
          <p:spPr>
            <a:xfrm>
              <a:off x="6217920" y="184099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F3769EF-7BB0-21F9-31DB-3284F895F1CB}"/>
                </a:ext>
              </a:extLst>
            </p:cNvPr>
            <p:cNvSpPr/>
            <p:nvPr/>
          </p:nvSpPr>
          <p:spPr>
            <a:xfrm>
              <a:off x="633984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6637DD16-FEB6-5FC1-EBAF-510215B9125E}"/>
                </a:ext>
              </a:extLst>
            </p:cNvPr>
            <p:cNvSpPr/>
            <p:nvPr/>
          </p:nvSpPr>
          <p:spPr>
            <a:xfrm>
              <a:off x="646176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7943396E-7E81-4DF5-8799-814FABF9CF60}"/>
                </a:ext>
              </a:extLst>
            </p:cNvPr>
            <p:cNvSpPr/>
            <p:nvPr/>
          </p:nvSpPr>
          <p:spPr>
            <a:xfrm>
              <a:off x="658368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EA39F68A-AF2A-3ECE-FF93-C8DB84623994}"/>
                </a:ext>
              </a:extLst>
            </p:cNvPr>
            <p:cNvSpPr/>
            <p:nvPr/>
          </p:nvSpPr>
          <p:spPr>
            <a:xfrm>
              <a:off x="573024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E80C6E34-ACD0-059E-7626-4E486B4E9AA0}"/>
                </a:ext>
              </a:extLst>
            </p:cNvPr>
            <p:cNvSpPr/>
            <p:nvPr/>
          </p:nvSpPr>
          <p:spPr>
            <a:xfrm>
              <a:off x="585216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46F95D2B-9056-9F9C-A57D-15F14CDF2BFB}"/>
                </a:ext>
              </a:extLst>
            </p:cNvPr>
            <p:cNvSpPr/>
            <p:nvPr/>
          </p:nvSpPr>
          <p:spPr>
            <a:xfrm>
              <a:off x="597408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D00329D4-92D2-AD8A-A75D-A4ECD96CFE1E}"/>
                </a:ext>
              </a:extLst>
            </p:cNvPr>
            <p:cNvSpPr/>
            <p:nvPr/>
          </p:nvSpPr>
          <p:spPr>
            <a:xfrm>
              <a:off x="6096000" y="196291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24A608DE-6783-8CD2-A079-AD35129F019A}"/>
                </a:ext>
              </a:extLst>
            </p:cNvPr>
            <p:cNvSpPr/>
            <p:nvPr/>
          </p:nvSpPr>
          <p:spPr>
            <a:xfrm>
              <a:off x="6217920" y="196291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9C7C21DB-6C9F-70B5-928B-E4294F69C5F7}"/>
                </a:ext>
              </a:extLst>
            </p:cNvPr>
            <p:cNvSpPr/>
            <p:nvPr/>
          </p:nvSpPr>
          <p:spPr>
            <a:xfrm>
              <a:off x="633984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F6F862B2-3F52-E1E0-819E-E3F4EAD02053}"/>
                </a:ext>
              </a:extLst>
            </p:cNvPr>
            <p:cNvSpPr/>
            <p:nvPr/>
          </p:nvSpPr>
          <p:spPr>
            <a:xfrm>
              <a:off x="646176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471A8BD4-AD50-2044-D6F9-4D6D898077E4}"/>
                </a:ext>
              </a:extLst>
            </p:cNvPr>
            <p:cNvSpPr/>
            <p:nvPr/>
          </p:nvSpPr>
          <p:spPr>
            <a:xfrm>
              <a:off x="658368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C484B7C5-FF09-D2D5-A552-E2BD94B26C2F}"/>
                </a:ext>
              </a:extLst>
            </p:cNvPr>
            <p:cNvSpPr/>
            <p:nvPr/>
          </p:nvSpPr>
          <p:spPr>
            <a:xfrm>
              <a:off x="573024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0CA97927-43BC-A923-235F-E00E4DC2EF33}"/>
                </a:ext>
              </a:extLst>
            </p:cNvPr>
            <p:cNvSpPr/>
            <p:nvPr/>
          </p:nvSpPr>
          <p:spPr>
            <a:xfrm>
              <a:off x="585216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8DC716CD-DE54-7E13-351E-372C34A9147A}"/>
                </a:ext>
              </a:extLst>
            </p:cNvPr>
            <p:cNvSpPr/>
            <p:nvPr/>
          </p:nvSpPr>
          <p:spPr>
            <a:xfrm>
              <a:off x="5974080" y="208483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DAB5577B-4FB9-A400-2E50-3B63E9C705A2}"/>
                </a:ext>
              </a:extLst>
            </p:cNvPr>
            <p:cNvSpPr/>
            <p:nvPr/>
          </p:nvSpPr>
          <p:spPr>
            <a:xfrm>
              <a:off x="609600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99784D73-08BE-D309-DCA9-1F00A53CB2E4}"/>
                </a:ext>
              </a:extLst>
            </p:cNvPr>
            <p:cNvSpPr/>
            <p:nvPr/>
          </p:nvSpPr>
          <p:spPr>
            <a:xfrm>
              <a:off x="6217920" y="208483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279D6ACA-9A76-CCBB-B686-AF980B6F96E5}"/>
                </a:ext>
              </a:extLst>
            </p:cNvPr>
            <p:cNvSpPr/>
            <p:nvPr/>
          </p:nvSpPr>
          <p:spPr>
            <a:xfrm>
              <a:off x="633984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B4F647DD-21A2-69F8-D6C9-28CCE382AD33}"/>
                </a:ext>
              </a:extLst>
            </p:cNvPr>
            <p:cNvSpPr/>
            <p:nvPr/>
          </p:nvSpPr>
          <p:spPr>
            <a:xfrm>
              <a:off x="646176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8F192EE8-C61E-FC8E-81F9-3F50576BFB53}"/>
                </a:ext>
              </a:extLst>
            </p:cNvPr>
            <p:cNvSpPr/>
            <p:nvPr/>
          </p:nvSpPr>
          <p:spPr>
            <a:xfrm>
              <a:off x="658368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21D4D693-C500-2DC8-8BF2-1F6616BD57F5}"/>
                </a:ext>
              </a:extLst>
            </p:cNvPr>
            <p:cNvSpPr/>
            <p:nvPr/>
          </p:nvSpPr>
          <p:spPr>
            <a:xfrm>
              <a:off x="573024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B4CAD4C2-B495-98C3-8014-6259FB23C37B}"/>
                </a:ext>
              </a:extLst>
            </p:cNvPr>
            <p:cNvSpPr/>
            <p:nvPr/>
          </p:nvSpPr>
          <p:spPr>
            <a:xfrm>
              <a:off x="585216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058BC297-A59A-C0D3-4624-719C76F6DE64}"/>
                </a:ext>
              </a:extLst>
            </p:cNvPr>
            <p:cNvSpPr/>
            <p:nvPr/>
          </p:nvSpPr>
          <p:spPr>
            <a:xfrm>
              <a:off x="597408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29DE59A8-8DFE-8A2D-4D24-B929A266339F}"/>
                </a:ext>
              </a:extLst>
            </p:cNvPr>
            <p:cNvSpPr/>
            <p:nvPr/>
          </p:nvSpPr>
          <p:spPr>
            <a:xfrm>
              <a:off x="609600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A1CD1F12-0092-1F1C-E0B4-A2D92871A4B1}"/>
                </a:ext>
              </a:extLst>
            </p:cNvPr>
            <p:cNvSpPr/>
            <p:nvPr/>
          </p:nvSpPr>
          <p:spPr>
            <a:xfrm>
              <a:off x="6217920" y="220675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D648029B-A793-3BA6-78FA-7FE222D5FF1D}"/>
                </a:ext>
              </a:extLst>
            </p:cNvPr>
            <p:cNvSpPr/>
            <p:nvPr/>
          </p:nvSpPr>
          <p:spPr>
            <a:xfrm>
              <a:off x="633984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7BA5A5E2-887A-C379-8C07-5173AEE5565D}"/>
                </a:ext>
              </a:extLst>
            </p:cNvPr>
            <p:cNvSpPr/>
            <p:nvPr/>
          </p:nvSpPr>
          <p:spPr>
            <a:xfrm>
              <a:off x="646176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5ECC9E6B-3343-EDAB-AFFD-1D6AD1F0C7BD}"/>
                </a:ext>
              </a:extLst>
            </p:cNvPr>
            <p:cNvSpPr/>
            <p:nvPr/>
          </p:nvSpPr>
          <p:spPr>
            <a:xfrm>
              <a:off x="658368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103B0699-5F74-D4AB-CDA5-5FB64344131A}"/>
                </a:ext>
              </a:extLst>
            </p:cNvPr>
            <p:cNvSpPr/>
            <p:nvPr/>
          </p:nvSpPr>
          <p:spPr>
            <a:xfrm>
              <a:off x="573024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362104C0-681C-7E6F-8971-9C33E1CCB032}"/>
                </a:ext>
              </a:extLst>
            </p:cNvPr>
            <p:cNvSpPr/>
            <p:nvPr/>
          </p:nvSpPr>
          <p:spPr>
            <a:xfrm>
              <a:off x="585216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E7E19A62-4A02-5EFD-5ECD-A73EEB521537}"/>
                </a:ext>
              </a:extLst>
            </p:cNvPr>
            <p:cNvSpPr/>
            <p:nvPr/>
          </p:nvSpPr>
          <p:spPr>
            <a:xfrm>
              <a:off x="597408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C9BC8616-853C-273C-5472-4C731E2BF1B6}"/>
                </a:ext>
              </a:extLst>
            </p:cNvPr>
            <p:cNvSpPr/>
            <p:nvPr/>
          </p:nvSpPr>
          <p:spPr>
            <a:xfrm>
              <a:off x="609600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CC31A08A-AA75-D3B1-2F3C-D71CA113ED13}"/>
                </a:ext>
              </a:extLst>
            </p:cNvPr>
            <p:cNvSpPr/>
            <p:nvPr/>
          </p:nvSpPr>
          <p:spPr>
            <a:xfrm>
              <a:off x="6217920" y="232867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E1D1EA95-7B16-603F-5B8E-460927DB7F01}"/>
                </a:ext>
              </a:extLst>
            </p:cNvPr>
            <p:cNvSpPr/>
            <p:nvPr/>
          </p:nvSpPr>
          <p:spPr>
            <a:xfrm>
              <a:off x="633984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5AA3539B-69BC-1744-582A-713FE4D17447}"/>
                </a:ext>
              </a:extLst>
            </p:cNvPr>
            <p:cNvSpPr/>
            <p:nvPr/>
          </p:nvSpPr>
          <p:spPr>
            <a:xfrm>
              <a:off x="646176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199F66B9-617F-3280-FB23-E3CC37D767A6}"/>
                </a:ext>
              </a:extLst>
            </p:cNvPr>
            <p:cNvSpPr/>
            <p:nvPr/>
          </p:nvSpPr>
          <p:spPr>
            <a:xfrm>
              <a:off x="658368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5A28B88B-F650-F540-3BD7-10C299844208}"/>
                </a:ext>
              </a:extLst>
            </p:cNvPr>
            <p:cNvSpPr/>
            <p:nvPr/>
          </p:nvSpPr>
          <p:spPr>
            <a:xfrm>
              <a:off x="573024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87B1684E-3B11-86A0-CEBF-7BA19EB5220B}"/>
                </a:ext>
              </a:extLst>
            </p:cNvPr>
            <p:cNvSpPr/>
            <p:nvPr/>
          </p:nvSpPr>
          <p:spPr>
            <a:xfrm>
              <a:off x="585216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B8544C0D-273B-41BA-9050-01E357A9958A}"/>
                </a:ext>
              </a:extLst>
            </p:cNvPr>
            <p:cNvSpPr/>
            <p:nvPr/>
          </p:nvSpPr>
          <p:spPr>
            <a:xfrm>
              <a:off x="597408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8E4DDEED-623A-24C6-C8C9-2E627BA61A04}"/>
                </a:ext>
              </a:extLst>
            </p:cNvPr>
            <p:cNvSpPr/>
            <p:nvPr/>
          </p:nvSpPr>
          <p:spPr>
            <a:xfrm>
              <a:off x="609600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FB401E92-C949-1F29-BA3A-FF0A2B5E2678}"/>
                </a:ext>
              </a:extLst>
            </p:cNvPr>
            <p:cNvSpPr/>
            <p:nvPr/>
          </p:nvSpPr>
          <p:spPr>
            <a:xfrm>
              <a:off x="621792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9CBF1ABB-BCD2-B1C6-9811-FCE1364E5C94}"/>
                </a:ext>
              </a:extLst>
            </p:cNvPr>
            <p:cNvSpPr/>
            <p:nvPr/>
          </p:nvSpPr>
          <p:spPr>
            <a:xfrm>
              <a:off x="633984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14BFE2C8-237F-755F-750C-E5A2BE992E8E}"/>
                </a:ext>
              </a:extLst>
            </p:cNvPr>
            <p:cNvSpPr/>
            <p:nvPr/>
          </p:nvSpPr>
          <p:spPr>
            <a:xfrm>
              <a:off x="646176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4C737635-C0CC-19D4-C030-32209D9A37CA}"/>
                </a:ext>
              </a:extLst>
            </p:cNvPr>
            <p:cNvSpPr/>
            <p:nvPr/>
          </p:nvSpPr>
          <p:spPr>
            <a:xfrm>
              <a:off x="658368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9E2CB1AA-6D0D-11DE-17D7-08307B388D92}"/>
                </a:ext>
              </a:extLst>
            </p:cNvPr>
            <p:cNvSpPr/>
            <p:nvPr/>
          </p:nvSpPr>
          <p:spPr>
            <a:xfrm>
              <a:off x="573024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D9589107-A4F4-BC2B-8808-EDC7F6477C28}"/>
                </a:ext>
              </a:extLst>
            </p:cNvPr>
            <p:cNvSpPr/>
            <p:nvPr/>
          </p:nvSpPr>
          <p:spPr>
            <a:xfrm>
              <a:off x="585216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27E5F10D-0152-7EF8-A38E-297160319C57}"/>
                </a:ext>
              </a:extLst>
            </p:cNvPr>
            <p:cNvSpPr/>
            <p:nvPr/>
          </p:nvSpPr>
          <p:spPr>
            <a:xfrm>
              <a:off x="597408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3623DB08-9494-737A-A1BD-F60DC72959F2}"/>
                </a:ext>
              </a:extLst>
            </p:cNvPr>
            <p:cNvSpPr/>
            <p:nvPr/>
          </p:nvSpPr>
          <p:spPr>
            <a:xfrm>
              <a:off x="609600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F7E2B191-F1C2-7063-F655-192426337574}"/>
                </a:ext>
              </a:extLst>
            </p:cNvPr>
            <p:cNvSpPr/>
            <p:nvPr/>
          </p:nvSpPr>
          <p:spPr>
            <a:xfrm>
              <a:off x="621792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26FBB257-4DEA-C196-3735-BB0C327B33BF}"/>
                </a:ext>
              </a:extLst>
            </p:cNvPr>
            <p:cNvSpPr/>
            <p:nvPr/>
          </p:nvSpPr>
          <p:spPr>
            <a:xfrm>
              <a:off x="633984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E99D2F9C-0A26-668E-C6BF-01B639C0E181}"/>
                </a:ext>
              </a:extLst>
            </p:cNvPr>
            <p:cNvSpPr/>
            <p:nvPr/>
          </p:nvSpPr>
          <p:spPr>
            <a:xfrm>
              <a:off x="646176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9068EF66-06E9-56F3-A19B-6D284A1E2FEE}"/>
                </a:ext>
              </a:extLst>
            </p:cNvPr>
            <p:cNvSpPr/>
            <p:nvPr/>
          </p:nvSpPr>
          <p:spPr>
            <a:xfrm>
              <a:off x="658368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52" name="Rechteck 251">
            <a:extLst>
              <a:ext uri="{FF2B5EF4-FFF2-40B4-BE49-F238E27FC236}">
                <a16:creationId xmlns:a16="http://schemas.microsoft.com/office/drawing/2014/main" id="{B1FAC803-6E5B-8F97-4250-78F556E9B301}"/>
              </a:ext>
            </a:extLst>
          </p:cNvPr>
          <p:cNvSpPr/>
          <p:nvPr/>
        </p:nvSpPr>
        <p:spPr>
          <a:xfrm>
            <a:off x="5354778" y="136805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3" name="Rechteck 252">
            <a:extLst>
              <a:ext uri="{FF2B5EF4-FFF2-40B4-BE49-F238E27FC236}">
                <a16:creationId xmlns:a16="http://schemas.microsoft.com/office/drawing/2014/main" id="{FEC2EB05-33D3-1CA7-33FF-74AC503DE44F}"/>
              </a:ext>
            </a:extLst>
          </p:cNvPr>
          <p:cNvSpPr/>
          <p:nvPr/>
        </p:nvSpPr>
        <p:spPr>
          <a:xfrm>
            <a:off x="5354778" y="239907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4" name="Rechteck 253">
            <a:extLst>
              <a:ext uri="{FF2B5EF4-FFF2-40B4-BE49-F238E27FC236}">
                <a16:creationId xmlns:a16="http://schemas.microsoft.com/office/drawing/2014/main" id="{3A00AE32-1E86-F704-97DA-0300C06DB7D5}"/>
              </a:ext>
            </a:extLst>
          </p:cNvPr>
          <p:cNvSpPr/>
          <p:nvPr/>
        </p:nvSpPr>
        <p:spPr>
          <a:xfrm>
            <a:off x="5357299" y="343392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0" name="Rechteck 259">
            <a:extLst>
              <a:ext uri="{FF2B5EF4-FFF2-40B4-BE49-F238E27FC236}">
                <a16:creationId xmlns:a16="http://schemas.microsoft.com/office/drawing/2014/main" id="{2DD6325B-8678-7817-FAFA-1632BFF60FA4}"/>
              </a:ext>
            </a:extLst>
          </p:cNvPr>
          <p:cNvSpPr/>
          <p:nvPr/>
        </p:nvSpPr>
        <p:spPr>
          <a:xfrm>
            <a:off x="5354778" y="148997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1" name="Rechteck 260">
            <a:extLst>
              <a:ext uri="{FF2B5EF4-FFF2-40B4-BE49-F238E27FC236}">
                <a16:creationId xmlns:a16="http://schemas.microsoft.com/office/drawing/2014/main" id="{E8F6D96E-AB44-CF53-2626-282BEA65B8BC}"/>
              </a:ext>
            </a:extLst>
          </p:cNvPr>
          <p:cNvSpPr/>
          <p:nvPr/>
        </p:nvSpPr>
        <p:spPr>
          <a:xfrm>
            <a:off x="5354778" y="252099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2" name="Rechteck 261">
            <a:extLst>
              <a:ext uri="{FF2B5EF4-FFF2-40B4-BE49-F238E27FC236}">
                <a16:creationId xmlns:a16="http://schemas.microsoft.com/office/drawing/2014/main" id="{E81B42D5-F84F-E9DF-EE08-CFD76AB22749}"/>
              </a:ext>
            </a:extLst>
          </p:cNvPr>
          <p:cNvSpPr/>
          <p:nvPr/>
        </p:nvSpPr>
        <p:spPr>
          <a:xfrm>
            <a:off x="5357299" y="355584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8" name="Rechteck 267">
            <a:extLst>
              <a:ext uri="{FF2B5EF4-FFF2-40B4-BE49-F238E27FC236}">
                <a16:creationId xmlns:a16="http://schemas.microsoft.com/office/drawing/2014/main" id="{98087562-F3F6-60BE-AAD0-F3439BC24C05}"/>
              </a:ext>
            </a:extLst>
          </p:cNvPr>
          <p:cNvSpPr/>
          <p:nvPr/>
        </p:nvSpPr>
        <p:spPr>
          <a:xfrm>
            <a:off x="5354778" y="161189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Rechteck 268">
            <a:extLst>
              <a:ext uri="{FF2B5EF4-FFF2-40B4-BE49-F238E27FC236}">
                <a16:creationId xmlns:a16="http://schemas.microsoft.com/office/drawing/2014/main" id="{1C77770D-D20A-C468-6867-0FA9BE4FA20E}"/>
              </a:ext>
            </a:extLst>
          </p:cNvPr>
          <p:cNvSpPr/>
          <p:nvPr/>
        </p:nvSpPr>
        <p:spPr>
          <a:xfrm>
            <a:off x="5354778" y="264291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0" name="Rechteck 269">
            <a:extLst>
              <a:ext uri="{FF2B5EF4-FFF2-40B4-BE49-F238E27FC236}">
                <a16:creationId xmlns:a16="http://schemas.microsoft.com/office/drawing/2014/main" id="{36C22F3E-3CC7-C81D-DCF4-4C0C5D5EF116}"/>
              </a:ext>
            </a:extLst>
          </p:cNvPr>
          <p:cNvSpPr/>
          <p:nvPr/>
        </p:nvSpPr>
        <p:spPr>
          <a:xfrm>
            <a:off x="5357299" y="367776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6" name="Rechteck 275">
            <a:extLst>
              <a:ext uri="{FF2B5EF4-FFF2-40B4-BE49-F238E27FC236}">
                <a16:creationId xmlns:a16="http://schemas.microsoft.com/office/drawing/2014/main" id="{58B023B2-EDFF-C58A-362D-9F36ED7045AF}"/>
              </a:ext>
            </a:extLst>
          </p:cNvPr>
          <p:cNvSpPr/>
          <p:nvPr/>
        </p:nvSpPr>
        <p:spPr>
          <a:xfrm>
            <a:off x="5354778" y="173381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7" name="Rechteck 276">
            <a:extLst>
              <a:ext uri="{FF2B5EF4-FFF2-40B4-BE49-F238E27FC236}">
                <a16:creationId xmlns:a16="http://schemas.microsoft.com/office/drawing/2014/main" id="{16925732-8AFF-4163-BDBA-F5CD965DFDE7}"/>
              </a:ext>
            </a:extLst>
          </p:cNvPr>
          <p:cNvSpPr/>
          <p:nvPr/>
        </p:nvSpPr>
        <p:spPr>
          <a:xfrm>
            <a:off x="5354778" y="276483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8" name="Rechteck 277">
            <a:extLst>
              <a:ext uri="{FF2B5EF4-FFF2-40B4-BE49-F238E27FC236}">
                <a16:creationId xmlns:a16="http://schemas.microsoft.com/office/drawing/2014/main" id="{9E95814C-B310-E6A4-ECE9-7B96A9883F26}"/>
              </a:ext>
            </a:extLst>
          </p:cNvPr>
          <p:cNvSpPr/>
          <p:nvPr/>
        </p:nvSpPr>
        <p:spPr>
          <a:xfrm>
            <a:off x="5357299" y="3799685"/>
            <a:ext cx="121920" cy="121920"/>
          </a:xfrm>
          <a:prstGeom prst="rect">
            <a:avLst/>
          </a:prstGeom>
          <a:solidFill>
            <a:srgbClr val="FFFF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4" name="Rechteck 283">
            <a:extLst>
              <a:ext uri="{FF2B5EF4-FFF2-40B4-BE49-F238E27FC236}">
                <a16:creationId xmlns:a16="http://schemas.microsoft.com/office/drawing/2014/main" id="{9DDDE9A1-9594-E603-031F-DFFDD2D24CEA}"/>
              </a:ext>
            </a:extLst>
          </p:cNvPr>
          <p:cNvSpPr/>
          <p:nvPr/>
        </p:nvSpPr>
        <p:spPr>
          <a:xfrm>
            <a:off x="5354778" y="185573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5" name="Rechteck 284">
            <a:extLst>
              <a:ext uri="{FF2B5EF4-FFF2-40B4-BE49-F238E27FC236}">
                <a16:creationId xmlns:a16="http://schemas.microsoft.com/office/drawing/2014/main" id="{7F575019-7058-6FF2-0E7A-7BF1D73542D5}"/>
              </a:ext>
            </a:extLst>
          </p:cNvPr>
          <p:cNvSpPr/>
          <p:nvPr/>
        </p:nvSpPr>
        <p:spPr>
          <a:xfrm>
            <a:off x="5354778" y="288675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B5F7E443-E43F-D566-1A90-B26F9413FFD7}"/>
              </a:ext>
            </a:extLst>
          </p:cNvPr>
          <p:cNvSpPr/>
          <p:nvPr/>
        </p:nvSpPr>
        <p:spPr>
          <a:xfrm>
            <a:off x="5357299" y="392160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Rechteck 291">
            <a:extLst>
              <a:ext uri="{FF2B5EF4-FFF2-40B4-BE49-F238E27FC236}">
                <a16:creationId xmlns:a16="http://schemas.microsoft.com/office/drawing/2014/main" id="{4F33D5A2-9161-D91A-78C7-63E270DCB95E}"/>
              </a:ext>
            </a:extLst>
          </p:cNvPr>
          <p:cNvSpPr/>
          <p:nvPr/>
        </p:nvSpPr>
        <p:spPr>
          <a:xfrm>
            <a:off x="5354778" y="197765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3" name="Rechteck 292">
            <a:extLst>
              <a:ext uri="{FF2B5EF4-FFF2-40B4-BE49-F238E27FC236}">
                <a16:creationId xmlns:a16="http://schemas.microsoft.com/office/drawing/2014/main" id="{D2D6E44F-34FD-260A-ADA0-A2CB7B0582C5}"/>
              </a:ext>
            </a:extLst>
          </p:cNvPr>
          <p:cNvSpPr/>
          <p:nvPr/>
        </p:nvSpPr>
        <p:spPr>
          <a:xfrm>
            <a:off x="5354778" y="300867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4" name="Rechteck 293">
            <a:extLst>
              <a:ext uri="{FF2B5EF4-FFF2-40B4-BE49-F238E27FC236}">
                <a16:creationId xmlns:a16="http://schemas.microsoft.com/office/drawing/2014/main" id="{6E16CEFA-EC9F-51AC-447C-5047BB1E06E8}"/>
              </a:ext>
            </a:extLst>
          </p:cNvPr>
          <p:cNvSpPr/>
          <p:nvPr/>
        </p:nvSpPr>
        <p:spPr>
          <a:xfrm>
            <a:off x="5357299" y="404352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0" name="Rechteck 299">
            <a:extLst>
              <a:ext uri="{FF2B5EF4-FFF2-40B4-BE49-F238E27FC236}">
                <a16:creationId xmlns:a16="http://schemas.microsoft.com/office/drawing/2014/main" id="{7D1AAA3A-B2A3-CAEC-7D1E-29F1ECB1A5CD}"/>
              </a:ext>
            </a:extLst>
          </p:cNvPr>
          <p:cNvSpPr/>
          <p:nvPr/>
        </p:nvSpPr>
        <p:spPr>
          <a:xfrm>
            <a:off x="5354778" y="2098816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Rechteck 300">
            <a:extLst>
              <a:ext uri="{FF2B5EF4-FFF2-40B4-BE49-F238E27FC236}">
                <a16:creationId xmlns:a16="http://schemas.microsoft.com/office/drawing/2014/main" id="{2E04AB84-FED2-7AAF-9F7F-A694227F9996}"/>
              </a:ext>
            </a:extLst>
          </p:cNvPr>
          <p:cNvSpPr/>
          <p:nvPr/>
        </p:nvSpPr>
        <p:spPr>
          <a:xfrm>
            <a:off x="5354778" y="3129830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2" name="Rechteck 301">
            <a:extLst>
              <a:ext uri="{FF2B5EF4-FFF2-40B4-BE49-F238E27FC236}">
                <a16:creationId xmlns:a16="http://schemas.microsoft.com/office/drawing/2014/main" id="{1D2BAB7C-F31E-2476-B6D9-D71283CD3EA2}"/>
              </a:ext>
            </a:extLst>
          </p:cNvPr>
          <p:cNvSpPr/>
          <p:nvPr/>
        </p:nvSpPr>
        <p:spPr>
          <a:xfrm>
            <a:off x="5357299" y="4164683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8" name="Rechteck 307">
            <a:extLst>
              <a:ext uri="{FF2B5EF4-FFF2-40B4-BE49-F238E27FC236}">
                <a16:creationId xmlns:a16="http://schemas.microsoft.com/office/drawing/2014/main" id="{009D0072-2619-879D-81B5-8B6DEB6FB2BD}"/>
              </a:ext>
            </a:extLst>
          </p:cNvPr>
          <p:cNvSpPr/>
          <p:nvPr/>
        </p:nvSpPr>
        <p:spPr>
          <a:xfrm>
            <a:off x="5354778" y="2220736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9" name="Rechteck 308">
            <a:extLst>
              <a:ext uri="{FF2B5EF4-FFF2-40B4-BE49-F238E27FC236}">
                <a16:creationId xmlns:a16="http://schemas.microsoft.com/office/drawing/2014/main" id="{497BDF83-BA4E-463A-47A3-759CD5FF3F10}"/>
              </a:ext>
            </a:extLst>
          </p:cNvPr>
          <p:cNvSpPr/>
          <p:nvPr/>
        </p:nvSpPr>
        <p:spPr>
          <a:xfrm>
            <a:off x="5354778" y="3251750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" name="Rechteck 309">
            <a:extLst>
              <a:ext uri="{FF2B5EF4-FFF2-40B4-BE49-F238E27FC236}">
                <a16:creationId xmlns:a16="http://schemas.microsoft.com/office/drawing/2014/main" id="{EBAA9D9C-7904-C60B-336D-622B3D6A27C7}"/>
              </a:ext>
            </a:extLst>
          </p:cNvPr>
          <p:cNvSpPr/>
          <p:nvPr/>
        </p:nvSpPr>
        <p:spPr>
          <a:xfrm>
            <a:off x="5357299" y="4286603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Rechteck 315">
            <a:extLst>
              <a:ext uri="{FF2B5EF4-FFF2-40B4-BE49-F238E27FC236}">
                <a16:creationId xmlns:a16="http://schemas.microsoft.com/office/drawing/2014/main" id="{808728F2-0A98-A831-9664-3947B3FEF031}"/>
              </a:ext>
            </a:extLst>
          </p:cNvPr>
          <p:cNvSpPr/>
          <p:nvPr/>
        </p:nvSpPr>
        <p:spPr>
          <a:xfrm>
            <a:off x="4878618" y="128016"/>
            <a:ext cx="165100" cy="10911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1" name="Rechteck 320">
            <a:extLst>
              <a:ext uri="{FF2B5EF4-FFF2-40B4-BE49-F238E27FC236}">
                <a16:creationId xmlns:a16="http://schemas.microsoft.com/office/drawing/2014/main" id="{294CFD21-1C60-58BC-8197-45E9A3E3EDBD}"/>
              </a:ext>
            </a:extLst>
          </p:cNvPr>
          <p:cNvSpPr/>
          <p:nvPr/>
        </p:nvSpPr>
        <p:spPr>
          <a:xfrm>
            <a:off x="5031282" y="127642"/>
            <a:ext cx="134357" cy="109118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3" name="Rechteck 322">
            <a:extLst>
              <a:ext uri="{FF2B5EF4-FFF2-40B4-BE49-F238E27FC236}">
                <a16:creationId xmlns:a16="http://schemas.microsoft.com/office/drawing/2014/main" id="{50C6F506-7B5E-7A8F-30ED-145643435D2D}"/>
              </a:ext>
            </a:extLst>
          </p:cNvPr>
          <p:cNvSpPr/>
          <p:nvPr/>
        </p:nvSpPr>
        <p:spPr>
          <a:xfrm>
            <a:off x="5153201" y="126757"/>
            <a:ext cx="134357" cy="1091184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25" name="Gerade Verbindung mit Pfeil 324">
            <a:extLst>
              <a:ext uri="{FF2B5EF4-FFF2-40B4-BE49-F238E27FC236}">
                <a16:creationId xmlns:a16="http://schemas.microsoft.com/office/drawing/2014/main" id="{02D86102-D739-DF6E-38C4-E7BC3079199B}"/>
              </a:ext>
            </a:extLst>
          </p:cNvPr>
          <p:cNvCxnSpPr>
            <a:cxnSpLocks/>
            <a:stCxn id="316" idx="2"/>
            <a:endCxn id="284" idx="1"/>
          </p:cNvCxnSpPr>
          <p:nvPr/>
        </p:nvCxnSpPr>
        <p:spPr>
          <a:xfrm>
            <a:off x="4961168" y="1219200"/>
            <a:ext cx="393610" cy="697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Gerade Verbindung mit Pfeil 326">
            <a:extLst>
              <a:ext uri="{FF2B5EF4-FFF2-40B4-BE49-F238E27FC236}">
                <a16:creationId xmlns:a16="http://schemas.microsoft.com/office/drawing/2014/main" id="{F757FF11-E6FF-4A42-61F8-1A42E8E0307B}"/>
              </a:ext>
            </a:extLst>
          </p:cNvPr>
          <p:cNvCxnSpPr>
            <a:cxnSpLocks/>
            <a:stCxn id="321" idx="2"/>
            <a:endCxn id="277" idx="0"/>
          </p:cNvCxnSpPr>
          <p:nvPr/>
        </p:nvCxnSpPr>
        <p:spPr>
          <a:xfrm>
            <a:off x="5098461" y="1218826"/>
            <a:ext cx="317277" cy="1546006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Gerade Verbindung mit Pfeil 330">
            <a:extLst>
              <a:ext uri="{FF2B5EF4-FFF2-40B4-BE49-F238E27FC236}">
                <a16:creationId xmlns:a16="http://schemas.microsoft.com/office/drawing/2014/main" id="{DF4535ED-539C-98A5-D749-6D30C44127BB}"/>
              </a:ext>
            </a:extLst>
          </p:cNvPr>
          <p:cNvCxnSpPr>
            <a:cxnSpLocks/>
            <a:stCxn id="323" idx="2"/>
            <a:endCxn id="278" idx="0"/>
          </p:cNvCxnSpPr>
          <p:nvPr/>
        </p:nvCxnSpPr>
        <p:spPr>
          <a:xfrm>
            <a:off x="5220380" y="1217941"/>
            <a:ext cx="197879" cy="2581744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Textfeld 333">
            <a:extLst>
              <a:ext uri="{FF2B5EF4-FFF2-40B4-BE49-F238E27FC236}">
                <a16:creationId xmlns:a16="http://schemas.microsoft.com/office/drawing/2014/main" id="{C77A344E-2567-9291-3899-4297D491AE3D}"/>
              </a:ext>
            </a:extLst>
          </p:cNvPr>
          <p:cNvSpPr txBox="1"/>
          <p:nvPr/>
        </p:nvSpPr>
        <p:spPr>
          <a:xfrm>
            <a:off x="5402606" y="4389083"/>
            <a:ext cx="331276" cy="6626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900" dirty="0"/>
              <a:t>.</a:t>
            </a:r>
          </a:p>
          <a:p>
            <a:r>
              <a:rPr lang="en-GB" sz="900" dirty="0"/>
              <a:t>.</a:t>
            </a:r>
          </a:p>
          <a:p>
            <a:r>
              <a:rPr lang="en-GB" sz="900" dirty="0"/>
              <a:t>.</a:t>
            </a:r>
          </a:p>
        </p:txBody>
      </p:sp>
      <p:sp>
        <p:nvSpPr>
          <p:cNvPr id="362" name="Ellipse 361">
            <a:extLst>
              <a:ext uri="{FF2B5EF4-FFF2-40B4-BE49-F238E27FC236}">
                <a16:creationId xmlns:a16="http://schemas.microsoft.com/office/drawing/2014/main" id="{DD864B33-0519-6000-908A-BECE50DDFC2F}"/>
              </a:ext>
            </a:extLst>
          </p:cNvPr>
          <p:cNvSpPr/>
          <p:nvPr/>
        </p:nvSpPr>
        <p:spPr>
          <a:xfrm>
            <a:off x="6408679" y="1611898"/>
            <a:ext cx="334194" cy="33419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3" name="Ellipse 362">
            <a:extLst>
              <a:ext uri="{FF2B5EF4-FFF2-40B4-BE49-F238E27FC236}">
                <a16:creationId xmlns:a16="http://schemas.microsoft.com/office/drawing/2014/main" id="{0691D339-32AB-2B47-1860-52F0307918F9}"/>
              </a:ext>
            </a:extLst>
          </p:cNvPr>
          <p:cNvSpPr/>
          <p:nvPr/>
        </p:nvSpPr>
        <p:spPr>
          <a:xfrm>
            <a:off x="6408679" y="2247053"/>
            <a:ext cx="334194" cy="33419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4" name="Ellipse 363">
            <a:extLst>
              <a:ext uri="{FF2B5EF4-FFF2-40B4-BE49-F238E27FC236}">
                <a16:creationId xmlns:a16="http://schemas.microsoft.com/office/drawing/2014/main" id="{35708EBF-F7F0-BE05-08F1-9FDD64ADEB42}"/>
              </a:ext>
            </a:extLst>
          </p:cNvPr>
          <p:cNvSpPr/>
          <p:nvPr/>
        </p:nvSpPr>
        <p:spPr>
          <a:xfrm>
            <a:off x="6408679" y="2825792"/>
            <a:ext cx="334194" cy="33419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5" name="Ellipse 364">
            <a:extLst>
              <a:ext uri="{FF2B5EF4-FFF2-40B4-BE49-F238E27FC236}">
                <a16:creationId xmlns:a16="http://schemas.microsoft.com/office/drawing/2014/main" id="{118F1450-CC23-7FAD-9A23-C06AE290007E}"/>
              </a:ext>
            </a:extLst>
          </p:cNvPr>
          <p:cNvSpPr/>
          <p:nvPr/>
        </p:nvSpPr>
        <p:spPr>
          <a:xfrm>
            <a:off x="6406209" y="4213210"/>
            <a:ext cx="334194" cy="33419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6" name="Textfeld 365">
            <a:extLst>
              <a:ext uri="{FF2B5EF4-FFF2-40B4-BE49-F238E27FC236}">
                <a16:creationId xmlns:a16="http://schemas.microsoft.com/office/drawing/2014/main" id="{714D1943-9EC2-8BC5-0CD5-8D15BDE77C38}"/>
              </a:ext>
            </a:extLst>
          </p:cNvPr>
          <p:cNvSpPr txBox="1"/>
          <p:nvPr/>
        </p:nvSpPr>
        <p:spPr>
          <a:xfrm>
            <a:off x="6543790" y="3281525"/>
            <a:ext cx="331276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600" dirty="0"/>
              <a:t>.</a:t>
            </a:r>
          </a:p>
          <a:p>
            <a:r>
              <a:rPr lang="en-GB" sz="1600" dirty="0"/>
              <a:t>.</a:t>
            </a:r>
          </a:p>
          <a:p>
            <a:r>
              <a:rPr lang="en-GB" sz="1600" dirty="0"/>
              <a:t>.</a:t>
            </a:r>
          </a:p>
        </p:txBody>
      </p:sp>
      <p:sp>
        <p:nvSpPr>
          <p:cNvPr id="367" name="Rechteck 366">
            <a:extLst>
              <a:ext uri="{FF2B5EF4-FFF2-40B4-BE49-F238E27FC236}">
                <a16:creationId xmlns:a16="http://schemas.microsoft.com/office/drawing/2014/main" id="{4D8456C6-593C-D629-4A84-A501C294DF92}"/>
              </a:ext>
            </a:extLst>
          </p:cNvPr>
          <p:cNvSpPr/>
          <p:nvPr/>
        </p:nvSpPr>
        <p:spPr>
          <a:xfrm>
            <a:off x="6227064" y="1429018"/>
            <a:ext cx="705173" cy="326490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Textfeld 368">
            <a:extLst>
              <a:ext uri="{FF2B5EF4-FFF2-40B4-BE49-F238E27FC236}">
                <a16:creationId xmlns:a16="http://schemas.microsoft.com/office/drawing/2014/main" id="{FFEA2D1D-A36E-5B12-E97F-E42738357F63}"/>
              </a:ext>
            </a:extLst>
          </p:cNvPr>
          <p:cNvSpPr txBox="1"/>
          <p:nvPr/>
        </p:nvSpPr>
        <p:spPr>
          <a:xfrm>
            <a:off x="6561932" y="4815459"/>
            <a:ext cx="1297351" cy="3111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 err="1"/>
              <a:t>hidden_dim</a:t>
            </a:r>
            <a:endParaRPr lang="en-GB" sz="1600" dirty="0"/>
          </a:p>
        </p:txBody>
      </p:sp>
      <p:cxnSp>
        <p:nvCxnSpPr>
          <p:cNvPr id="371" name="Gerade Verbindung mit Pfeil 370">
            <a:extLst>
              <a:ext uri="{FF2B5EF4-FFF2-40B4-BE49-F238E27FC236}">
                <a16:creationId xmlns:a16="http://schemas.microsoft.com/office/drawing/2014/main" id="{F44B2485-A6AB-6246-83DF-08C80C45539A}"/>
              </a:ext>
            </a:extLst>
          </p:cNvPr>
          <p:cNvCxnSpPr/>
          <p:nvPr/>
        </p:nvCxnSpPr>
        <p:spPr>
          <a:xfrm>
            <a:off x="5544120" y="1429018"/>
            <a:ext cx="985455" cy="304800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Gerade Verbindung mit Pfeil 375">
            <a:extLst>
              <a:ext uri="{FF2B5EF4-FFF2-40B4-BE49-F238E27FC236}">
                <a16:creationId xmlns:a16="http://schemas.microsoft.com/office/drawing/2014/main" id="{26A4FE91-9ADD-2C4C-BB8F-31581A904E76}"/>
              </a:ext>
            </a:extLst>
          </p:cNvPr>
          <p:cNvCxnSpPr>
            <a:cxnSpLocks/>
          </p:cNvCxnSpPr>
          <p:nvPr/>
        </p:nvCxnSpPr>
        <p:spPr>
          <a:xfrm flipV="1">
            <a:off x="5534751" y="1877568"/>
            <a:ext cx="994824" cy="433335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Gerade Verbindung mit Pfeil 378">
            <a:extLst>
              <a:ext uri="{FF2B5EF4-FFF2-40B4-BE49-F238E27FC236}">
                <a16:creationId xmlns:a16="http://schemas.microsoft.com/office/drawing/2014/main" id="{EB569FC0-65BD-C075-BD7E-6A35BD29BF16}"/>
              </a:ext>
            </a:extLst>
          </p:cNvPr>
          <p:cNvCxnSpPr>
            <a:cxnSpLocks/>
          </p:cNvCxnSpPr>
          <p:nvPr/>
        </p:nvCxnSpPr>
        <p:spPr>
          <a:xfrm flipV="1">
            <a:off x="5510802" y="1963040"/>
            <a:ext cx="1018773" cy="496831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Gerade Verbindung mit Pfeil 384">
            <a:extLst>
              <a:ext uri="{FF2B5EF4-FFF2-40B4-BE49-F238E27FC236}">
                <a16:creationId xmlns:a16="http://schemas.microsoft.com/office/drawing/2014/main" id="{597E4FF5-540C-A046-406B-130BF973099B}"/>
              </a:ext>
            </a:extLst>
          </p:cNvPr>
          <p:cNvCxnSpPr>
            <a:cxnSpLocks/>
          </p:cNvCxnSpPr>
          <p:nvPr/>
        </p:nvCxnSpPr>
        <p:spPr>
          <a:xfrm flipV="1">
            <a:off x="5515649" y="2047946"/>
            <a:ext cx="987967" cy="1459259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feld 390">
            <a:extLst>
              <a:ext uri="{FF2B5EF4-FFF2-40B4-BE49-F238E27FC236}">
                <a16:creationId xmlns:a16="http://schemas.microsoft.com/office/drawing/2014/main" id="{251B3F1C-774F-2F24-7653-C98536C60709}"/>
              </a:ext>
            </a:extLst>
          </p:cNvPr>
          <p:cNvSpPr txBox="1"/>
          <p:nvPr/>
        </p:nvSpPr>
        <p:spPr>
          <a:xfrm>
            <a:off x="5552657" y="1580732"/>
            <a:ext cx="331276" cy="58428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</p:txBody>
      </p:sp>
      <p:sp>
        <p:nvSpPr>
          <p:cNvPr id="392" name="Textfeld 391">
            <a:extLst>
              <a:ext uri="{FF2B5EF4-FFF2-40B4-BE49-F238E27FC236}">
                <a16:creationId xmlns:a16="http://schemas.microsoft.com/office/drawing/2014/main" id="{24D32597-375F-0973-B7F9-215F6BC4440D}"/>
              </a:ext>
            </a:extLst>
          </p:cNvPr>
          <p:cNvSpPr txBox="1"/>
          <p:nvPr/>
        </p:nvSpPr>
        <p:spPr>
          <a:xfrm>
            <a:off x="5506525" y="2624794"/>
            <a:ext cx="331276" cy="58428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</p:txBody>
      </p:sp>
      <p:sp>
        <p:nvSpPr>
          <p:cNvPr id="393" name="Textfeld 392">
            <a:extLst>
              <a:ext uri="{FF2B5EF4-FFF2-40B4-BE49-F238E27FC236}">
                <a16:creationId xmlns:a16="http://schemas.microsoft.com/office/drawing/2014/main" id="{800102E8-4607-9859-7843-31D8EA44EBA5}"/>
              </a:ext>
            </a:extLst>
          </p:cNvPr>
          <p:cNvSpPr txBox="1"/>
          <p:nvPr/>
        </p:nvSpPr>
        <p:spPr>
          <a:xfrm>
            <a:off x="5534621" y="3622728"/>
            <a:ext cx="331276" cy="58428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</p:txBody>
      </p:sp>
      <p:cxnSp>
        <p:nvCxnSpPr>
          <p:cNvPr id="394" name="Gerade Verbindung mit Pfeil 393">
            <a:extLst>
              <a:ext uri="{FF2B5EF4-FFF2-40B4-BE49-F238E27FC236}">
                <a16:creationId xmlns:a16="http://schemas.microsoft.com/office/drawing/2014/main" id="{5B4D442A-6A76-EF71-4CAC-56D54A2E5D2C}"/>
              </a:ext>
            </a:extLst>
          </p:cNvPr>
          <p:cNvCxnSpPr>
            <a:cxnSpLocks/>
          </p:cNvCxnSpPr>
          <p:nvPr/>
        </p:nvCxnSpPr>
        <p:spPr>
          <a:xfrm flipV="1">
            <a:off x="5531398" y="2038618"/>
            <a:ext cx="913147" cy="1278362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Gerade Verbindung mit Pfeil 396">
            <a:extLst>
              <a:ext uri="{FF2B5EF4-FFF2-40B4-BE49-F238E27FC236}">
                <a16:creationId xmlns:a16="http://schemas.microsoft.com/office/drawing/2014/main" id="{24B53D4B-F8D6-A3C2-9DD3-7C3BBD875184}"/>
              </a:ext>
            </a:extLst>
          </p:cNvPr>
          <p:cNvCxnSpPr>
            <a:cxnSpLocks/>
          </p:cNvCxnSpPr>
          <p:nvPr/>
        </p:nvCxnSpPr>
        <p:spPr>
          <a:xfrm flipV="1">
            <a:off x="5538106" y="2047946"/>
            <a:ext cx="1005684" cy="2282852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Gleichschenkliges Dreieck 399">
            <a:extLst>
              <a:ext uri="{FF2B5EF4-FFF2-40B4-BE49-F238E27FC236}">
                <a16:creationId xmlns:a16="http://schemas.microsoft.com/office/drawing/2014/main" id="{7E031989-BA40-298C-DC3E-7150BE467C0B}"/>
              </a:ext>
            </a:extLst>
          </p:cNvPr>
          <p:cNvSpPr/>
          <p:nvPr/>
        </p:nvSpPr>
        <p:spPr>
          <a:xfrm rot="5400000">
            <a:off x="6840211" y="2918995"/>
            <a:ext cx="856526" cy="182118"/>
          </a:xfrm>
          <a:prstGeom prst="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1" name="Textfeld 400">
            <a:extLst>
              <a:ext uri="{FF2B5EF4-FFF2-40B4-BE49-F238E27FC236}">
                <a16:creationId xmlns:a16="http://schemas.microsoft.com/office/drawing/2014/main" id="{3A487689-F0F7-0E91-66AD-C6EA5E6141F6}"/>
              </a:ext>
            </a:extLst>
          </p:cNvPr>
          <p:cNvSpPr txBox="1"/>
          <p:nvPr/>
        </p:nvSpPr>
        <p:spPr>
          <a:xfrm rot="16200000">
            <a:off x="6893502" y="2546983"/>
            <a:ext cx="735678" cy="6582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 err="1"/>
              <a:t>ReLU</a:t>
            </a:r>
            <a:endParaRPr lang="en-GB" sz="1600" dirty="0"/>
          </a:p>
        </p:txBody>
      </p:sp>
      <p:sp>
        <p:nvSpPr>
          <p:cNvPr id="402" name="Pfeil: nach rechts gekrümmt 401">
            <a:extLst>
              <a:ext uri="{FF2B5EF4-FFF2-40B4-BE49-F238E27FC236}">
                <a16:creationId xmlns:a16="http://schemas.microsoft.com/office/drawing/2014/main" id="{12891CBD-DE99-1AC1-8EDD-0392B3334F54}"/>
              </a:ext>
            </a:extLst>
          </p:cNvPr>
          <p:cNvSpPr/>
          <p:nvPr/>
        </p:nvSpPr>
        <p:spPr>
          <a:xfrm rot="21034133">
            <a:off x="4665003" y="1329744"/>
            <a:ext cx="459920" cy="2101329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3" name="Textfeld 402">
            <a:extLst>
              <a:ext uri="{FF2B5EF4-FFF2-40B4-BE49-F238E27FC236}">
                <a16:creationId xmlns:a16="http://schemas.microsoft.com/office/drawing/2014/main" id="{0BD67EDF-FD30-922A-8B9C-C4612AA46502}"/>
              </a:ext>
            </a:extLst>
          </p:cNvPr>
          <p:cNvSpPr txBox="1"/>
          <p:nvPr/>
        </p:nvSpPr>
        <p:spPr>
          <a:xfrm rot="16200000">
            <a:off x="4536402" y="1945100"/>
            <a:ext cx="735678" cy="4034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Flatten</a:t>
            </a:r>
          </a:p>
        </p:txBody>
      </p:sp>
      <p:sp>
        <p:nvSpPr>
          <p:cNvPr id="404" name="Textfeld 403">
            <a:extLst>
              <a:ext uri="{FF2B5EF4-FFF2-40B4-BE49-F238E27FC236}">
                <a16:creationId xmlns:a16="http://schemas.microsoft.com/office/drawing/2014/main" id="{52A9696D-8DAC-3EEF-9DED-1E092EA29224}"/>
              </a:ext>
            </a:extLst>
          </p:cNvPr>
          <p:cNvSpPr txBox="1"/>
          <p:nvPr/>
        </p:nvSpPr>
        <p:spPr>
          <a:xfrm rot="16200000">
            <a:off x="5640681" y="3831245"/>
            <a:ext cx="735940" cy="4668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Linear </a:t>
            </a:r>
          </a:p>
        </p:txBody>
      </p:sp>
      <p:grpSp>
        <p:nvGrpSpPr>
          <p:cNvPr id="409" name="Gruppieren 408">
            <a:extLst>
              <a:ext uri="{FF2B5EF4-FFF2-40B4-BE49-F238E27FC236}">
                <a16:creationId xmlns:a16="http://schemas.microsoft.com/office/drawing/2014/main" id="{562CC8E6-CBEB-21AA-417A-8CF40BB6D25F}"/>
              </a:ext>
            </a:extLst>
          </p:cNvPr>
          <p:cNvGrpSpPr/>
          <p:nvPr/>
        </p:nvGrpSpPr>
        <p:grpSpPr>
          <a:xfrm>
            <a:off x="6281385" y="231105"/>
            <a:ext cx="953023" cy="881744"/>
            <a:chOff x="6491526" y="362405"/>
            <a:chExt cx="953023" cy="881744"/>
          </a:xfrm>
        </p:grpSpPr>
        <p:sp>
          <p:nvSpPr>
            <p:cNvPr id="405" name="Ellipse 404">
              <a:extLst>
                <a:ext uri="{FF2B5EF4-FFF2-40B4-BE49-F238E27FC236}">
                  <a16:creationId xmlns:a16="http://schemas.microsoft.com/office/drawing/2014/main" id="{6CAEF1F6-0BA7-66B4-6F94-5CFB549A3E89}"/>
                </a:ext>
              </a:extLst>
            </p:cNvPr>
            <p:cNvSpPr/>
            <p:nvPr/>
          </p:nvSpPr>
          <p:spPr>
            <a:xfrm>
              <a:off x="6528447" y="755295"/>
              <a:ext cx="334194" cy="33419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-</a:t>
              </a:r>
            </a:p>
          </p:txBody>
        </p:sp>
        <p:sp>
          <p:nvSpPr>
            <p:cNvPr id="406" name="Ellipse 405">
              <a:extLst>
                <a:ext uri="{FF2B5EF4-FFF2-40B4-BE49-F238E27FC236}">
                  <a16:creationId xmlns:a16="http://schemas.microsoft.com/office/drawing/2014/main" id="{22E9DE69-8F4A-5044-5548-268CE8CAD796}"/>
                </a:ext>
              </a:extLst>
            </p:cNvPr>
            <p:cNvSpPr/>
            <p:nvPr/>
          </p:nvSpPr>
          <p:spPr>
            <a:xfrm>
              <a:off x="7037765" y="755295"/>
              <a:ext cx="334194" cy="334194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+</a:t>
              </a:r>
            </a:p>
          </p:txBody>
        </p:sp>
        <p:sp>
          <p:nvSpPr>
            <p:cNvPr id="407" name="Textfeld 406">
              <a:extLst>
                <a:ext uri="{FF2B5EF4-FFF2-40B4-BE49-F238E27FC236}">
                  <a16:creationId xmlns:a16="http://schemas.microsoft.com/office/drawing/2014/main" id="{3CCB810D-6C42-BCCC-5396-ECCF05859189}"/>
                </a:ext>
              </a:extLst>
            </p:cNvPr>
            <p:cNvSpPr txBox="1"/>
            <p:nvPr/>
          </p:nvSpPr>
          <p:spPr>
            <a:xfrm>
              <a:off x="6668762" y="443830"/>
              <a:ext cx="703197" cy="2858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2100"/>
                </a:lnSpc>
              </a:pPr>
              <a:r>
                <a:rPr lang="en-GB" sz="1600" dirty="0"/>
                <a:t>values</a:t>
              </a:r>
            </a:p>
          </p:txBody>
        </p:sp>
        <p:sp>
          <p:nvSpPr>
            <p:cNvPr id="408" name="Rechteck 407">
              <a:extLst>
                <a:ext uri="{FF2B5EF4-FFF2-40B4-BE49-F238E27FC236}">
                  <a16:creationId xmlns:a16="http://schemas.microsoft.com/office/drawing/2014/main" id="{1F23CBF9-6FC2-4638-AA0A-D4C66E44419C}"/>
                </a:ext>
              </a:extLst>
            </p:cNvPr>
            <p:cNvSpPr/>
            <p:nvPr/>
          </p:nvSpPr>
          <p:spPr>
            <a:xfrm>
              <a:off x="6491526" y="362405"/>
              <a:ext cx="953023" cy="8817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10" name="Ellipse 409">
            <a:extLst>
              <a:ext uri="{FF2B5EF4-FFF2-40B4-BE49-F238E27FC236}">
                <a16:creationId xmlns:a16="http://schemas.microsoft.com/office/drawing/2014/main" id="{EF419533-9714-FDFB-DAEF-A33B73E50264}"/>
              </a:ext>
            </a:extLst>
          </p:cNvPr>
          <p:cNvSpPr/>
          <p:nvPr/>
        </p:nvSpPr>
        <p:spPr>
          <a:xfrm>
            <a:off x="7593966" y="1611898"/>
            <a:ext cx="334194" cy="334194"/>
          </a:xfrm>
          <a:prstGeom prst="ellipse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1" name="Ellipse 410">
            <a:extLst>
              <a:ext uri="{FF2B5EF4-FFF2-40B4-BE49-F238E27FC236}">
                <a16:creationId xmlns:a16="http://schemas.microsoft.com/office/drawing/2014/main" id="{CD631FAA-FACF-0BD7-0687-284663D33693}"/>
              </a:ext>
            </a:extLst>
          </p:cNvPr>
          <p:cNvSpPr/>
          <p:nvPr/>
        </p:nvSpPr>
        <p:spPr>
          <a:xfrm>
            <a:off x="7593966" y="2247053"/>
            <a:ext cx="334194" cy="33419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2" name="Ellipse 411">
            <a:extLst>
              <a:ext uri="{FF2B5EF4-FFF2-40B4-BE49-F238E27FC236}">
                <a16:creationId xmlns:a16="http://schemas.microsoft.com/office/drawing/2014/main" id="{048F9F22-7EF8-F4FE-A046-04F017EA2C7C}"/>
              </a:ext>
            </a:extLst>
          </p:cNvPr>
          <p:cNvSpPr/>
          <p:nvPr/>
        </p:nvSpPr>
        <p:spPr>
          <a:xfrm>
            <a:off x="7593966" y="2825792"/>
            <a:ext cx="334194" cy="334194"/>
          </a:xfrm>
          <a:prstGeom prst="ellipse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3" name="Ellipse 412">
            <a:extLst>
              <a:ext uri="{FF2B5EF4-FFF2-40B4-BE49-F238E27FC236}">
                <a16:creationId xmlns:a16="http://schemas.microsoft.com/office/drawing/2014/main" id="{9B272D6D-6EF3-7294-B268-1B9D4601CDA0}"/>
              </a:ext>
            </a:extLst>
          </p:cNvPr>
          <p:cNvSpPr/>
          <p:nvPr/>
        </p:nvSpPr>
        <p:spPr>
          <a:xfrm>
            <a:off x="7591496" y="4213210"/>
            <a:ext cx="334194" cy="33419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4" name="Textfeld 413">
            <a:extLst>
              <a:ext uri="{FF2B5EF4-FFF2-40B4-BE49-F238E27FC236}">
                <a16:creationId xmlns:a16="http://schemas.microsoft.com/office/drawing/2014/main" id="{7B3FAA0E-C8EE-006D-4C0A-9A74C5B9A62A}"/>
              </a:ext>
            </a:extLst>
          </p:cNvPr>
          <p:cNvSpPr txBox="1"/>
          <p:nvPr/>
        </p:nvSpPr>
        <p:spPr>
          <a:xfrm>
            <a:off x="7729077" y="3281525"/>
            <a:ext cx="331276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600" dirty="0"/>
              <a:t>.</a:t>
            </a:r>
          </a:p>
          <a:p>
            <a:r>
              <a:rPr lang="en-GB" sz="1600" dirty="0"/>
              <a:t>.</a:t>
            </a:r>
          </a:p>
          <a:p>
            <a:r>
              <a:rPr lang="en-GB" sz="1600" dirty="0"/>
              <a:t>.</a:t>
            </a:r>
          </a:p>
        </p:txBody>
      </p:sp>
      <p:sp>
        <p:nvSpPr>
          <p:cNvPr id="415" name="Rechteck 414">
            <a:extLst>
              <a:ext uri="{FF2B5EF4-FFF2-40B4-BE49-F238E27FC236}">
                <a16:creationId xmlns:a16="http://schemas.microsoft.com/office/drawing/2014/main" id="{84E3A94E-BBE2-3273-A3D0-0587624AD844}"/>
              </a:ext>
            </a:extLst>
          </p:cNvPr>
          <p:cNvSpPr/>
          <p:nvPr/>
        </p:nvSpPr>
        <p:spPr>
          <a:xfrm>
            <a:off x="7412351" y="1429018"/>
            <a:ext cx="705173" cy="326490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Rechteck 234">
            <a:extLst>
              <a:ext uri="{FF2B5EF4-FFF2-40B4-BE49-F238E27FC236}">
                <a16:creationId xmlns:a16="http://schemas.microsoft.com/office/drawing/2014/main" id="{39691A2E-AB85-C0C5-52AC-2A037ABF4223}"/>
              </a:ext>
            </a:extLst>
          </p:cNvPr>
          <p:cNvSpPr/>
          <p:nvPr/>
        </p:nvSpPr>
        <p:spPr>
          <a:xfrm>
            <a:off x="1275127" y="2255463"/>
            <a:ext cx="1149291" cy="2561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3" name="Textfeld 242">
            <a:extLst>
              <a:ext uri="{FF2B5EF4-FFF2-40B4-BE49-F238E27FC236}">
                <a16:creationId xmlns:a16="http://schemas.microsoft.com/office/drawing/2014/main" id="{DECF7DAD-D1AB-BBAE-ACE8-C3CDD2B14C5B}"/>
              </a:ext>
            </a:extLst>
          </p:cNvPr>
          <p:cNvSpPr txBox="1"/>
          <p:nvPr/>
        </p:nvSpPr>
        <p:spPr>
          <a:xfrm>
            <a:off x="4984034" y="4792917"/>
            <a:ext cx="1297351" cy="3111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 err="1"/>
              <a:t>input_dim</a:t>
            </a:r>
            <a:endParaRPr lang="en-GB" sz="16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018558D-A1BF-3D78-11E2-AD98D6B9F832}"/>
              </a:ext>
            </a:extLst>
          </p:cNvPr>
          <p:cNvSpPr txBox="1"/>
          <p:nvPr/>
        </p:nvSpPr>
        <p:spPr>
          <a:xfrm>
            <a:off x="254339" y="4752708"/>
            <a:ext cx="1540906" cy="311121"/>
          </a:xfrm>
          <a:prstGeom prst="rect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200" dirty="0"/>
              <a:t> Linear: f(x) = </a:t>
            </a:r>
            <a:r>
              <a:rPr lang="en-GB" sz="1200" dirty="0" err="1"/>
              <a:t>xW</a:t>
            </a:r>
            <a:r>
              <a:rPr lang="en-GB" sz="1200" dirty="0"/>
              <a:t>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09AE908-9549-65ED-10B0-B2B244244AF8}"/>
              </a:ext>
            </a:extLst>
          </p:cNvPr>
          <p:cNvSpPr txBox="1"/>
          <p:nvPr/>
        </p:nvSpPr>
        <p:spPr>
          <a:xfrm>
            <a:off x="2127233" y="4744319"/>
            <a:ext cx="1991761" cy="311121"/>
          </a:xfrm>
          <a:prstGeom prst="rect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200" dirty="0"/>
              <a:t> </a:t>
            </a:r>
            <a:r>
              <a:rPr lang="en-GB" sz="1200" dirty="0" err="1"/>
              <a:t>ReLU</a:t>
            </a:r>
            <a:r>
              <a:rPr lang="en-GB" sz="1200" dirty="0"/>
              <a:t>: f(x) = max(0,x) </a:t>
            </a:r>
          </a:p>
        </p:txBody>
      </p:sp>
    </p:spTree>
    <p:extLst>
      <p:ext uri="{BB962C8B-B14F-4D97-AF65-F5344CB8AC3E}">
        <p14:creationId xmlns:p14="http://schemas.microsoft.com/office/powerpoint/2010/main" val="393043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" grpId="0" animBg="1"/>
      <p:bldP spid="253" grpId="0" animBg="1"/>
      <p:bldP spid="254" grpId="0" animBg="1"/>
      <p:bldP spid="260" grpId="0" animBg="1"/>
      <p:bldP spid="261" grpId="0" animBg="1"/>
      <p:bldP spid="262" grpId="0" animBg="1"/>
      <p:bldP spid="268" grpId="0" animBg="1"/>
      <p:bldP spid="269" grpId="0" animBg="1"/>
      <p:bldP spid="270" grpId="0" animBg="1"/>
      <p:bldP spid="276" grpId="0" animBg="1"/>
      <p:bldP spid="277" grpId="0" animBg="1"/>
      <p:bldP spid="278" grpId="0" animBg="1"/>
      <p:bldP spid="284" grpId="0" animBg="1"/>
      <p:bldP spid="285" grpId="0" animBg="1"/>
      <p:bldP spid="286" grpId="0" animBg="1"/>
      <p:bldP spid="292" grpId="0" animBg="1"/>
      <p:bldP spid="293" grpId="0" animBg="1"/>
      <p:bldP spid="294" grpId="0" animBg="1"/>
      <p:bldP spid="300" grpId="0" animBg="1"/>
      <p:bldP spid="301" grpId="0" animBg="1"/>
      <p:bldP spid="302" grpId="0" animBg="1"/>
      <p:bldP spid="308" grpId="0" animBg="1"/>
      <p:bldP spid="309" grpId="0" animBg="1"/>
      <p:bldP spid="310" grpId="0" animBg="1"/>
      <p:bldP spid="316" grpId="0" animBg="1"/>
      <p:bldP spid="321" grpId="0" animBg="1"/>
      <p:bldP spid="323" grpId="0" animBg="1"/>
      <p:bldP spid="334" grpId="0"/>
      <p:bldP spid="362" grpId="0" animBg="1"/>
      <p:bldP spid="363" grpId="0" animBg="1"/>
      <p:bldP spid="364" grpId="0" animBg="1"/>
      <p:bldP spid="365" grpId="0" animBg="1"/>
      <p:bldP spid="366" grpId="0"/>
      <p:bldP spid="367" grpId="0" animBg="1"/>
      <p:bldP spid="369" grpId="0"/>
      <p:bldP spid="391" grpId="0"/>
      <p:bldP spid="392" grpId="0"/>
      <p:bldP spid="393" grpId="0"/>
      <p:bldP spid="400" grpId="0" animBg="1"/>
      <p:bldP spid="401" grpId="0"/>
      <p:bldP spid="402" grpId="0" animBg="1"/>
      <p:bldP spid="403" grpId="0"/>
      <p:bldP spid="404" grpId="0"/>
      <p:bldP spid="410" grpId="0" animBg="1"/>
      <p:bldP spid="411" grpId="0" animBg="1"/>
      <p:bldP spid="412" grpId="0" animBg="1"/>
      <p:bldP spid="413" grpId="0" animBg="1"/>
      <p:bldP spid="414" grpId="0"/>
      <p:bldP spid="415" grpId="0" animBg="1"/>
      <p:bldP spid="235" grpId="0" animBg="1"/>
      <p:bldP spid="235" grpId="1" animBg="1"/>
      <p:bldP spid="243" grpId="0"/>
      <p:bldP spid="2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85A9E-15A8-B991-8E41-786FFA564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Ellipse 416">
            <a:extLst>
              <a:ext uri="{FF2B5EF4-FFF2-40B4-BE49-F238E27FC236}">
                <a16:creationId xmlns:a16="http://schemas.microsoft.com/office/drawing/2014/main" id="{D2014F20-1F2A-0C93-FADB-0033B59CBBE3}"/>
              </a:ext>
            </a:extLst>
          </p:cNvPr>
          <p:cNvSpPr/>
          <p:nvPr/>
        </p:nvSpPr>
        <p:spPr>
          <a:xfrm>
            <a:off x="8500242" y="1680506"/>
            <a:ext cx="334194" cy="334194"/>
          </a:xfrm>
          <a:prstGeom prst="ellipse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8" name="Ellipse 417">
            <a:extLst>
              <a:ext uri="{FF2B5EF4-FFF2-40B4-BE49-F238E27FC236}">
                <a16:creationId xmlns:a16="http://schemas.microsoft.com/office/drawing/2014/main" id="{A2C5D038-AECA-B1C5-2E2B-207711E6F8C7}"/>
              </a:ext>
            </a:extLst>
          </p:cNvPr>
          <p:cNvSpPr/>
          <p:nvPr/>
        </p:nvSpPr>
        <p:spPr>
          <a:xfrm>
            <a:off x="8504199" y="2110511"/>
            <a:ext cx="334194" cy="334194"/>
          </a:xfrm>
          <a:prstGeom prst="ellipse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9" name="Ellipse 418">
            <a:extLst>
              <a:ext uri="{FF2B5EF4-FFF2-40B4-BE49-F238E27FC236}">
                <a16:creationId xmlns:a16="http://schemas.microsoft.com/office/drawing/2014/main" id="{33D7A9FC-AC16-7D45-BBC5-AF1E63965C80}"/>
              </a:ext>
            </a:extLst>
          </p:cNvPr>
          <p:cNvSpPr/>
          <p:nvPr/>
        </p:nvSpPr>
        <p:spPr>
          <a:xfrm>
            <a:off x="8510292" y="2540495"/>
            <a:ext cx="334194" cy="334194"/>
          </a:xfrm>
          <a:prstGeom prst="ellipse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20" name="Ellipse 419">
            <a:extLst>
              <a:ext uri="{FF2B5EF4-FFF2-40B4-BE49-F238E27FC236}">
                <a16:creationId xmlns:a16="http://schemas.microsoft.com/office/drawing/2014/main" id="{74D73A4C-E396-AB5C-4B9E-F3FADA6D8C50}"/>
              </a:ext>
            </a:extLst>
          </p:cNvPr>
          <p:cNvSpPr/>
          <p:nvPr/>
        </p:nvSpPr>
        <p:spPr>
          <a:xfrm>
            <a:off x="8514249" y="2970500"/>
            <a:ext cx="334194" cy="334194"/>
          </a:xfrm>
          <a:prstGeom prst="ellipse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21" name="Ellipse 420">
            <a:extLst>
              <a:ext uri="{FF2B5EF4-FFF2-40B4-BE49-F238E27FC236}">
                <a16:creationId xmlns:a16="http://schemas.microsoft.com/office/drawing/2014/main" id="{614893E7-BB65-191F-E583-8E31849A711F}"/>
              </a:ext>
            </a:extLst>
          </p:cNvPr>
          <p:cNvSpPr/>
          <p:nvPr/>
        </p:nvSpPr>
        <p:spPr>
          <a:xfrm>
            <a:off x="8520342" y="3400484"/>
            <a:ext cx="334194" cy="334194"/>
          </a:xfrm>
          <a:prstGeom prst="ellipse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2" name="Ellipse 421">
            <a:extLst>
              <a:ext uri="{FF2B5EF4-FFF2-40B4-BE49-F238E27FC236}">
                <a16:creationId xmlns:a16="http://schemas.microsoft.com/office/drawing/2014/main" id="{9B1EBC4D-99F3-0AF1-3846-FA8829F8C656}"/>
              </a:ext>
            </a:extLst>
          </p:cNvPr>
          <p:cNvSpPr/>
          <p:nvPr/>
        </p:nvSpPr>
        <p:spPr>
          <a:xfrm>
            <a:off x="8500242" y="4270633"/>
            <a:ext cx="334194" cy="334194"/>
          </a:xfrm>
          <a:prstGeom prst="ellipse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26" name="Ellipse 225">
            <a:extLst>
              <a:ext uri="{FF2B5EF4-FFF2-40B4-BE49-F238E27FC236}">
                <a16:creationId xmlns:a16="http://schemas.microsoft.com/office/drawing/2014/main" id="{C4436101-46AA-0F52-A0D0-2923FE60977F}"/>
              </a:ext>
            </a:extLst>
          </p:cNvPr>
          <p:cNvSpPr/>
          <p:nvPr/>
        </p:nvSpPr>
        <p:spPr>
          <a:xfrm>
            <a:off x="8501640" y="1681904"/>
            <a:ext cx="334194" cy="334194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7" name="Ellipse 226">
            <a:extLst>
              <a:ext uri="{FF2B5EF4-FFF2-40B4-BE49-F238E27FC236}">
                <a16:creationId xmlns:a16="http://schemas.microsoft.com/office/drawing/2014/main" id="{D316C0CA-6E23-0A1E-1E90-EAE1F651E648}"/>
              </a:ext>
            </a:extLst>
          </p:cNvPr>
          <p:cNvSpPr/>
          <p:nvPr/>
        </p:nvSpPr>
        <p:spPr>
          <a:xfrm>
            <a:off x="8505597" y="2111909"/>
            <a:ext cx="334194" cy="334194"/>
          </a:xfrm>
          <a:prstGeom prst="ellipse">
            <a:avLst/>
          </a:prstGeom>
          <a:solidFill>
            <a:srgbClr val="C54646"/>
          </a:solidFill>
          <a:ln>
            <a:solidFill>
              <a:srgbClr val="C546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8" name="Ellipse 227">
            <a:extLst>
              <a:ext uri="{FF2B5EF4-FFF2-40B4-BE49-F238E27FC236}">
                <a16:creationId xmlns:a16="http://schemas.microsoft.com/office/drawing/2014/main" id="{597B4B42-F510-A4FA-7BFB-B006F273EB4B}"/>
              </a:ext>
            </a:extLst>
          </p:cNvPr>
          <p:cNvSpPr/>
          <p:nvPr/>
        </p:nvSpPr>
        <p:spPr>
          <a:xfrm>
            <a:off x="8511690" y="2541893"/>
            <a:ext cx="334194" cy="334194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9" name="Ellipse 228">
            <a:extLst>
              <a:ext uri="{FF2B5EF4-FFF2-40B4-BE49-F238E27FC236}">
                <a16:creationId xmlns:a16="http://schemas.microsoft.com/office/drawing/2014/main" id="{20C553D7-316C-C8B1-D926-A327D1FE57FB}"/>
              </a:ext>
            </a:extLst>
          </p:cNvPr>
          <p:cNvSpPr/>
          <p:nvPr/>
        </p:nvSpPr>
        <p:spPr>
          <a:xfrm>
            <a:off x="8515647" y="2971898"/>
            <a:ext cx="334194" cy="334194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0" name="Ellipse 229">
            <a:extLst>
              <a:ext uri="{FF2B5EF4-FFF2-40B4-BE49-F238E27FC236}">
                <a16:creationId xmlns:a16="http://schemas.microsoft.com/office/drawing/2014/main" id="{9568E7E3-4749-0B48-36CB-EBE18A57A5C3}"/>
              </a:ext>
            </a:extLst>
          </p:cNvPr>
          <p:cNvSpPr/>
          <p:nvPr/>
        </p:nvSpPr>
        <p:spPr>
          <a:xfrm>
            <a:off x="8521740" y="3401882"/>
            <a:ext cx="334194" cy="334194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1" name="Ellipse 230">
            <a:extLst>
              <a:ext uri="{FF2B5EF4-FFF2-40B4-BE49-F238E27FC236}">
                <a16:creationId xmlns:a16="http://schemas.microsoft.com/office/drawing/2014/main" id="{F07A97C8-1A40-2EC3-4B17-5B9FD0C73E39}"/>
              </a:ext>
            </a:extLst>
          </p:cNvPr>
          <p:cNvSpPr/>
          <p:nvPr/>
        </p:nvSpPr>
        <p:spPr>
          <a:xfrm>
            <a:off x="8501640" y="4272031"/>
            <a:ext cx="334194" cy="334194"/>
          </a:xfrm>
          <a:prstGeom prst="ellipse">
            <a:avLst/>
          </a:prstGeom>
          <a:solidFill>
            <a:srgbClr val="C54646"/>
          </a:solidFill>
          <a:ln>
            <a:solidFill>
              <a:srgbClr val="C546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8941EAC-61E5-980E-F0ED-B20C75AA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668" y="4878000"/>
            <a:ext cx="900000" cy="180000"/>
          </a:xfrm>
        </p:spPr>
        <p:txBody>
          <a:bodyPr/>
          <a:lstStyle/>
          <a:p>
            <a:r>
              <a:rPr lang="de-DE"/>
              <a:t>10.02.2017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3F75C6B-0220-3B1D-5BE3-8F27160623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53670" y="639670"/>
            <a:ext cx="4418330" cy="4054250"/>
          </a:xfrm>
          <a:prstGeom prst="rect">
            <a:avLst/>
          </a:prstGeom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1187C195-7DFA-B766-704B-CC82AA884851}"/>
              </a:ext>
            </a:extLst>
          </p:cNvPr>
          <p:cNvGrpSpPr/>
          <p:nvPr/>
        </p:nvGrpSpPr>
        <p:grpSpPr>
          <a:xfrm>
            <a:off x="4921798" y="177934"/>
            <a:ext cx="975360" cy="974598"/>
            <a:chOff x="5730240" y="1719072"/>
            <a:chExt cx="975360" cy="974598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71ABA21F-C568-3D3D-B948-E8E89FE98B95}"/>
                </a:ext>
              </a:extLst>
            </p:cNvPr>
            <p:cNvSpPr/>
            <p:nvPr/>
          </p:nvSpPr>
          <p:spPr>
            <a:xfrm>
              <a:off x="573024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92BDD694-C74F-4215-0C33-9DC2673F8016}"/>
                </a:ext>
              </a:extLst>
            </p:cNvPr>
            <p:cNvSpPr/>
            <p:nvPr/>
          </p:nvSpPr>
          <p:spPr>
            <a:xfrm>
              <a:off x="585216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1389C9A-852A-F918-26DD-48BE1A7D5C0A}"/>
                </a:ext>
              </a:extLst>
            </p:cNvPr>
            <p:cNvSpPr/>
            <p:nvPr/>
          </p:nvSpPr>
          <p:spPr>
            <a:xfrm>
              <a:off x="597408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0211ACD-F6EF-FF8A-BA36-BC4428A35DCA}"/>
                </a:ext>
              </a:extLst>
            </p:cNvPr>
            <p:cNvSpPr/>
            <p:nvPr/>
          </p:nvSpPr>
          <p:spPr>
            <a:xfrm>
              <a:off x="609600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10D661F-3817-1EE9-596A-E29D885C3D0C}"/>
                </a:ext>
              </a:extLst>
            </p:cNvPr>
            <p:cNvSpPr/>
            <p:nvPr/>
          </p:nvSpPr>
          <p:spPr>
            <a:xfrm>
              <a:off x="621792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45704A0-A52F-0435-6B39-9B65D6F4EA17}"/>
                </a:ext>
              </a:extLst>
            </p:cNvPr>
            <p:cNvSpPr/>
            <p:nvPr/>
          </p:nvSpPr>
          <p:spPr>
            <a:xfrm>
              <a:off x="633984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84D2567A-A389-EBEF-DF97-8F7B37706C86}"/>
                </a:ext>
              </a:extLst>
            </p:cNvPr>
            <p:cNvSpPr/>
            <p:nvPr/>
          </p:nvSpPr>
          <p:spPr>
            <a:xfrm>
              <a:off x="646176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E69B360-85FF-77E5-C3D2-64067F91A70B}"/>
                </a:ext>
              </a:extLst>
            </p:cNvPr>
            <p:cNvSpPr/>
            <p:nvPr/>
          </p:nvSpPr>
          <p:spPr>
            <a:xfrm>
              <a:off x="6583680" y="17190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C2E5653-88E9-8155-4802-A16359DDE5E2}"/>
                </a:ext>
              </a:extLst>
            </p:cNvPr>
            <p:cNvSpPr/>
            <p:nvPr/>
          </p:nvSpPr>
          <p:spPr>
            <a:xfrm>
              <a:off x="573024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F334C08A-DBB7-0EC3-9F67-FC35B3959D01}"/>
                </a:ext>
              </a:extLst>
            </p:cNvPr>
            <p:cNvSpPr/>
            <p:nvPr/>
          </p:nvSpPr>
          <p:spPr>
            <a:xfrm>
              <a:off x="585216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3BC635FC-E51F-61A2-B1F6-9F45C45C8CA5}"/>
                </a:ext>
              </a:extLst>
            </p:cNvPr>
            <p:cNvSpPr/>
            <p:nvPr/>
          </p:nvSpPr>
          <p:spPr>
            <a:xfrm>
              <a:off x="597408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23B04A5B-5F9B-D32C-9459-484F9AE15CF5}"/>
                </a:ext>
              </a:extLst>
            </p:cNvPr>
            <p:cNvSpPr/>
            <p:nvPr/>
          </p:nvSpPr>
          <p:spPr>
            <a:xfrm>
              <a:off x="609600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12C7A38A-34E9-11E2-C5E8-7657036C4C7D}"/>
                </a:ext>
              </a:extLst>
            </p:cNvPr>
            <p:cNvSpPr/>
            <p:nvPr/>
          </p:nvSpPr>
          <p:spPr>
            <a:xfrm>
              <a:off x="6217920" y="184099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7AEC81AA-5B22-7C5B-C6B9-BEC23B7EBC60}"/>
                </a:ext>
              </a:extLst>
            </p:cNvPr>
            <p:cNvSpPr/>
            <p:nvPr/>
          </p:nvSpPr>
          <p:spPr>
            <a:xfrm>
              <a:off x="633984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451DC764-1B62-CE7E-B98E-9B4B54B51BFF}"/>
                </a:ext>
              </a:extLst>
            </p:cNvPr>
            <p:cNvSpPr/>
            <p:nvPr/>
          </p:nvSpPr>
          <p:spPr>
            <a:xfrm>
              <a:off x="646176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85D4481C-8A21-DC29-696E-FD517C6F6252}"/>
                </a:ext>
              </a:extLst>
            </p:cNvPr>
            <p:cNvSpPr/>
            <p:nvPr/>
          </p:nvSpPr>
          <p:spPr>
            <a:xfrm>
              <a:off x="6583680" y="184099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F95146FB-99C3-B46D-9740-07BB618C1128}"/>
                </a:ext>
              </a:extLst>
            </p:cNvPr>
            <p:cNvSpPr/>
            <p:nvPr/>
          </p:nvSpPr>
          <p:spPr>
            <a:xfrm>
              <a:off x="573024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47C63984-1DF5-184D-2834-096506C23066}"/>
                </a:ext>
              </a:extLst>
            </p:cNvPr>
            <p:cNvSpPr/>
            <p:nvPr/>
          </p:nvSpPr>
          <p:spPr>
            <a:xfrm>
              <a:off x="585216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4340D917-3C48-6D6C-19D5-F404D78B5BAF}"/>
                </a:ext>
              </a:extLst>
            </p:cNvPr>
            <p:cNvSpPr/>
            <p:nvPr/>
          </p:nvSpPr>
          <p:spPr>
            <a:xfrm>
              <a:off x="597408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2CEC2D6F-5DE8-5E38-0CA4-2F54E42D562E}"/>
                </a:ext>
              </a:extLst>
            </p:cNvPr>
            <p:cNvSpPr/>
            <p:nvPr/>
          </p:nvSpPr>
          <p:spPr>
            <a:xfrm>
              <a:off x="6096000" y="196291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07F2C542-84BD-4002-37E7-861DE0818CD9}"/>
                </a:ext>
              </a:extLst>
            </p:cNvPr>
            <p:cNvSpPr/>
            <p:nvPr/>
          </p:nvSpPr>
          <p:spPr>
            <a:xfrm>
              <a:off x="6217920" y="196291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D20EF1BE-0B63-A8EE-EC76-A18147BC1C31}"/>
                </a:ext>
              </a:extLst>
            </p:cNvPr>
            <p:cNvSpPr/>
            <p:nvPr/>
          </p:nvSpPr>
          <p:spPr>
            <a:xfrm>
              <a:off x="633984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A91A2ED5-9A89-3CDD-231E-3BA3B38CEB7B}"/>
                </a:ext>
              </a:extLst>
            </p:cNvPr>
            <p:cNvSpPr/>
            <p:nvPr/>
          </p:nvSpPr>
          <p:spPr>
            <a:xfrm>
              <a:off x="646176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B741372A-CB8E-52C4-DD5B-5E18E584B9E9}"/>
                </a:ext>
              </a:extLst>
            </p:cNvPr>
            <p:cNvSpPr/>
            <p:nvPr/>
          </p:nvSpPr>
          <p:spPr>
            <a:xfrm>
              <a:off x="6583680" y="196291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9E9487A5-8FD9-896E-4116-9BA6A72132CA}"/>
                </a:ext>
              </a:extLst>
            </p:cNvPr>
            <p:cNvSpPr/>
            <p:nvPr/>
          </p:nvSpPr>
          <p:spPr>
            <a:xfrm>
              <a:off x="573024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908092A3-EC2E-DBC7-21F1-14ED2F6EDECC}"/>
                </a:ext>
              </a:extLst>
            </p:cNvPr>
            <p:cNvSpPr/>
            <p:nvPr/>
          </p:nvSpPr>
          <p:spPr>
            <a:xfrm>
              <a:off x="585216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FD3FC760-B290-22F7-D80C-727F7A3144C4}"/>
                </a:ext>
              </a:extLst>
            </p:cNvPr>
            <p:cNvSpPr/>
            <p:nvPr/>
          </p:nvSpPr>
          <p:spPr>
            <a:xfrm>
              <a:off x="5974080" y="208483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686322D8-28AF-9D8E-127E-B091E13BA1D8}"/>
                </a:ext>
              </a:extLst>
            </p:cNvPr>
            <p:cNvSpPr/>
            <p:nvPr/>
          </p:nvSpPr>
          <p:spPr>
            <a:xfrm>
              <a:off x="609600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F5D09B27-5F77-072A-3E0A-0FD96CC103B1}"/>
                </a:ext>
              </a:extLst>
            </p:cNvPr>
            <p:cNvSpPr/>
            <p:nvPr/>
          </p:nvSpPr>
          <p:spPr>
            <a:xfrm>
              <a:off x="6217920" y="208483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7E75E448-43E7-4181-49C6-F0F664ABA7EF}"/>
                </a:ext>
              </a:extLst>
            </p:cNvPr>
            <p:cNvSpPr/>
            <p:nvPr/>
          </p:nvSpPr>
          <p:spPr>
            <a:xfrm>
              <a:off x="633984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626EF134-EC86-9E1D-373A-6D9EC2B5C6C9}"/>
                </a:ext>
              </a:extLst>
            </p:cNvPr>
            <p:cNvSpPr/>
            <p:nvPr/>
          </p:nvSpPr>
          <p:spPr>
            <a:xfrm>
              <a:off x="646176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70B26DE4-B650-9B50-129C-EFC49E24AFB7}"/>
                </a:ext>
              </a:extLst>
            </p:cNvPr>
            <p:cNvSpPr/>
            <p:nvPr/>
          </p:nvSpPr>
          <p:spPr>
            <a:xfrm>
              <a:off x="6583680" y="208483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F0E7293B-584B-B1BE-B538-76D6D2894E93}"/>
                </a:ext>
              </a:extLst>
            </p:cNvPr>
            <p:cNvSpPr/>
            <p:nvPr/>
          </p:nvSpPr>
          <p:spPr>
            <a:xfrm>
              <a:off x="573024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92BF5545-2C20-74AF-D738-E1F606509792}"/>
                </a:ext>
              </a:extLst>
            </p:cNvPr>
            <p:cNvSpPr/>
            <p:nvPr/>
          </p:nvSpPr>
          <p:spPr>
            <a:xfrm>
              <a:off x="585216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F7CE7FF5-DBDE-522B-94EA-D3E7FE2AC917}"/>
                </a:ext>
              </a:extLst>
            </p:cNvPr>
            <p:cNvSpPr/>
            <p:nvPr/>
          </p:nvSpPr>
          <p:spPr>
            <a:xfrm>
              <a:off x="597408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49C31FA3-8A34-68F1-3E18-C2B9A762EEC2}"/>
                </a:ext>
              </a:extLst>
            </p:cNvPr>
            <p:cNvSpPr/>
            <p:nvPr/>
          </p:nvSpPr>
          <p:spPr>
            <a:xfrm>
              <a:off x="609600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87EB6CDD-72A0-D025-CC6B-AD72E029D2E1}"/>
                </a:ext>
              </a:extLst>
            </p:cNvPr>
            <p:cNvSpPr/>
            <p:nvPr/>
          </p:nvSpPr>
          <p:spPr>
            <a:xfrm>
              <a:off x="6217920" y="220675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7DD25979-549D-C09A-6542-38587F20BCD4}"/>
                </a:ext>
              </a:extLst>
            </p:cNvPr>
            <p:cNvSpPr/>
            <p:nvPr/>
          </p:nvSpPr>
          <p:spPr>
            <a:xfrm>
              <a:off x="633984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7D275894-7E4C-D074-77B7-B75354A5544A}"/>
                </a:ext>
              </a:extLst>
            </p:cNvPr>
            <p:cNvSpPr/>
            <p:nvPr/>
          </p:nvSpPr>
          <p:spPr>
            <a:xfrm>
              <a:off x="646176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45EA42A0-B074-BBC9-CA44-5E3BCF0C9769}"/>
                </a:ext>
              </a:extLst>
            </p:cNvPr>
            <p:cNvSpPr/>
            <p:nvPr/>
          </p:nvSpPr>
          <p:spPr>
            <a:xfrm>
              <a:off x="6583680" y="220675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891ADBB7-CC85-D7B8-F2B2-623887C2FA00}"/>
                </a:ext>
              </a:extLst>
            </p:cNvPr>
            <p:cNvSpPr/>
            <p:nvPr/>
          </p:nvSpPr>
          <p:spPr>
            <a:xfrm>
              <a:off x="573024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8488B447-D3F0-1CF4-C6E1-76330DFD216D}"/>
                </a:ext>
              </a:extLst>
            </p:cNvPr>
            <p:cNvSpPr/>
            <p:nvPr/>
          </p:nvSpPr>
          <p:spPr>
            <a:xfrm>
              <a:off x="585216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AAACA6E5-014C-46EB-803A-6C29B6E0AE58}"/>
                </a:ext>
              </a:extLst>
            </p:cNvPr>
            <p:cNvSpPr/>
            <p:nvPr/>
          </p:nvSpPr>
          <p:spPr>
            <a:xfrm>
              <a:off x="597408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FB52229-B9F3-931F-CBAE-934EDACFE9EC}"/>
                </a:ext>
              </a:extLst>
            </p:cNvPr>
            <p:cNvSpPr/>
            <p:nvPr/>
          </p:nvSpPr>
          <p:spPr>
            <a:xfrm>
              <a:off x="609600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A3E33B69-108E-C074-8224-924F63AA5073}"/>
                </a:ext>
              </a:extLst>
            </p:cNvPr>
            <p:cNvSpPr/>
            <p:nvPr/>
          </p:nvSpPr>
          <p:spPr>
            <a:xfrm>
              <a:off x="6217920" y="2328672"/>
              <a:ext cx="121920" cy="12192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8B6AE90D-F508-509C-CD73-BB1DA5329B4D}"/>
                </a:ext>
              </a:extLst>
            </p:cNvPr>
            <p:cNvSpPr/>
            <p:nvPr/>
          </p:nvSpPr>
          <p:spPr>
            <a:xfrm>
              <a:off x="633984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8F953C36-41D3-8D98-C1C3-BFCD91E2FEFB}"/>
                </a:ext>
              </a:extLst>
            </p:cNvPr>
            <p:cNvSpPr/>
            <p:nvPr/>
          </p:nvSpPr>
          <p:spPr>
            <a:xfrm>
              <a:off x="646176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FB6BC46B-DCD8-ED59-0BB9-424321BE844B}"/>
                </a:ext>
              </a:extLst>
            </p:cNvPr>
            <p:cNvSpPr/>
            <p:nvPr/>
          </p:nvSpPr>
          <p:spPr>
            <a:xfrm>
              <a:off x="6583680" y="2328672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3770A3B5-BF7F-3B9E-84AF-98E60ABF4591}"/>
                </a:ext>
              </a:extLst>
            </p:cNvPr>
            <p:cNvSpPr/>
            <p:nvPr/>
          </p:nvSpPr>
          <p:spPr>
            <a:xfrm>
              <a:off x="573024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29F4CE86-EE24-6188-D181-E6F847C45C5E}"/>
                </a:ext>
              </a:extLst>
            </p:cNvPr>
            <p:cNvSpPr/>
            <p:nvPr/>
          </p:nvSpPr>
          <p:spPr>
            <a:xfrm>
              <a:off x="585216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22808E23-9D83-BDF3-3927-E78D79ADA28E}"/>
                </a:ext>
              </a:extLst>
            </p:cNvPr>
            <p:cNvSpPr/>
            <p:nvPr/>
          </p:nvSpPr>
          <p:spPr>
            <a:xfrm>
              <a:off x="597408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B830DFA2-4667-C51C-AEB4-4053B8B350E2}"/>
                </a:ext>
              </a:extLst>
            </p:cNvPr>
            <p:cNvSpPr/>
            <p:nvPr/>
          </p:nvSpPr>
          <p:spPr>
            <a:xfrm>
              <a:off x="609600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FA6824DE-FA70-E505-FFC0-3410A5DD1EC3}"/>
                </a:ext>
              </a:extLst>
            </p:cNvPr>
            <p:cNvSpPr/>
            <p:nvPr/>
          </p:nvSpPr>
          <p:spPr>
            <a:xfrm>
              <a:off x="621792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8278F54B-3290-D149-8F1D-DE8851D374E3}"/>
                </a:ext>
              </a:extLst>
            </p:cNvPr>
            <p:cNvSpPr/>
            <p:nvPr/>
          </p:nvSpPr>
          <p:spPr>
            <a:xfrm>
              <a:off x="633984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1229FE11-D16C-E240-872F-704E87E4CAEB}"/>
                </a:ext>
              </a:extLst>
            </p:cNvPr>
            <p:cNvSpPr/>
            <p:nvPr/>
          </p:nvSpPr>
          <p:spPr>
            <a:xfrm>
              <a:off x="646176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DAA24AD7-8E77-BCB3-3B79-22C3BF5FDE0E}"/>
                </a:ext>
              </a:extLst>
            </p:cNvPr>
            <p:cNvSpPr/>
            <p:nvPr/>
          </p:nvSpPr>
          <p:spPr>
            <a:xfrm>
              <a:off x="6583680" y="244983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FDFD8183-DBA3-83AC-CFD5-2D36A7A2C11F}"/>
                </a:ext>
              </a:extLst>
            </p:cNvPr>
            <p:cNvSpPr/>
            <p:nvPr/>
          </p:nvSpPr>
          <p:spPr>
            <a:xfrm>
              <a:off x="573024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2065F9E1-768E-DF0E-62CB-113F93B7B64B}"/>
                </a:ext>
              </a:extLst>
            </p:cNvPr>
            <p:cNvSpPr/>
            <p:nvPr/>
          </p:nvSpPr>
          <p:spPr>
            <a:xfrm>
              <a:off x="585216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EDF62CBE-2979-385A-27E0-EEC3EB0908A5}"/>
                </a:ext>
              </a:extLst>
            </p:cNvPr>
            <p:cNvSpPr/>
            <p:nvPr/>
          </p:nvSpPr>
          <p:spPr>
            <a:xfrm>
              <a:off x="597408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Rechteck 67">
              <a:extLst>
                <a:ext uri="{FF2B5EF4-FFF2-40B4-BE49-F238E27FC236}">
                  <a16:creationId xmlns:a16="http://schemas.microsoft.com/office/drawing/2014/main" id="{F7991212-8227-6F0B-FBAF-094763587F62}"/>
                </a:ext>
              </a:extLst>
            </p:cNvPr>
            <p:cNvSpPr/>
            <p:nvPr/>
          </p:nvSpPr>
          <p:spPr>
            <a:xfrm>
              <a:off x="609600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CC59766F-527E-A11F-D03B-1FA5DEB519B4}"/>
                </a:ext>
              </a:extLst>
            </p:cNvPr>
            <p:cNvSpPr/>
            <p:nvPr/>
          </p:nvSpPr>
          <p:spPr>
            <a:xfrm>
              <a:off x="621792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7B14CC97-2987-387E-FEAD-4CBA4F571BB8}"/>
                </a:ext>
              </a:extLst>
            </p:cNvPr>
            <p:cNvSpPr/>
            <p:nvPr/>
          </p:nvSpPr>
          <p:spPr>
            <a:xfrm>
              <a:off x="633984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844F71C5-00E9-472E-BE14-BAA6125DCC10}"/>
                </a:ext>
              </a:extLst>
            </p:cNvPr>
            <p:cNvSpPr/>
            <p:nvPr/>
          </p:nvSpPr>
          <p:spPr>
            <a:xfrm>
              <a:off x="646176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7C8612C3-7985-1AE6-97B7-314656454783}"/>
                </a:ext>
              </a:extLst>
            </p:cNvPr>
            <p:cNvSpPr/>
            <p:nvPr/>
          </p:nvSpPr>
          <p:spPr>
            <a:xfrm>
              <a:off x="6583680" y="2571750"/>
              <a:ext cx="121920" cy="12192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52" name="Rechteck 251">
            <a:extLst>
              <a:ext uri="{FF2B5EF4-FFF2-40B4-BE49-F238E27FC236}">
                <a16:creationId xmlns:a16="http://schemas.microsoft.com/office/drawing/2014/main" id="{9B6069C7-A330-FEA3-C107-CBCA1463C41B}"/>
              </a:ext>
            </a:extLst>
          </p:cNvPr>
          <p:cNvSpPr/>
          <p:nvPr/>
        </p:nvSpPr>
        <p:spPr>
          <a:xfrm>
            <a:off x="5354778" y="136805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3" name="Rechteck 252">
            <a:extLst>
              <a:ext uri="{FF2B5EF4-FFF2-40B4-BE49-F238E27FC236}">
                <a16:creationId xmlns:a16="http://schemas.microsoft.com/office/drawing/2014/main" id="{001D0754-ECCF-16F6-9326-FAF19956FB73}"/>
              </a:ext>
            </a:extLst>
          </p:cNvPr>
          <p:cNvSpPr/>
          <p:nvPr/>
        </p:nvSpPr>
        <p:spPr>
          <a:xfrm>
            <a:off x="5354778" y="239907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4" name="Rechteck 253">
            <a:extLst>
              <a:ext uri="{FF2B5EF4-FFF2-40B4-BE49-F238E27FC236}">
                <a16:creationId xmlns:a16="http://schemas.microsoft.com/office/drawing/2014/main" id="{29A61C7C-6D40-3059-70D8-33DE4C06CA38}"/>
              </a:ext>
            </a:extLst>
          </p:cNvPr>
          <p:cNvSpPr/>
          <p:nvPr/>
        </p:nvSpPr>
        <p:spPr>
          <a:xfrm>
            <a:off x="5357299" y="343392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0" name="Rechteck 259">
            <a:extLst>
              <a:ext uri="{FF2B5EF4-FFF2-40B4-BE49-F238E27FC236}">
                <a16:creationId xmlns:a16="http://schemas.microsoft.com/office/drawing/2014/main" id="{7239B3D5-0C3B-D836-5484-0F724B222EE9}"/>
              </a:ext>
            </a:extLst>
          </p:cNvPr>
          <p:cNvSpPr/>
          <p:nvPr/>
        </p:nvSpPr>
        <p:spPr>
          <a:xfrm>
            <a:off x="5354778" y="148997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1" name="Rechteck 260">
            <a:extLst>
              <a:ext uri="{FF2B5EF4-FFF2-40B4-BE49-F238E27FC236}">
                <a16:creationId xmlns:a16="http://schemas.microsoft.com/office/drawing/2014/main" id="{DF428F60-5AA7-DED8-6425-440F5707F8A3}"/>
              </a:ext>
            </a:extLst>
          </p:cNvPr>
          <p:cNvSpPr/>
          <p:nvPr/>
        </p:nvSpPr>
        <p:spPr>
          <a:xfrm>
            <a:off x="5354778" y="252099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2" name="Rechteck 261">
            <a:extLst>
              <a:ext uri="{FF2B5EF4-FFF2-40B4-BE49-F238E27FC236}">
                <a16:creationId xmlns:a16="http://schemas.microsoft.com/office/drawing/2014/main" id="{4EB0F9DF-C041-3BEC-99CD-7A4783154E45}"/>
              </a:ext>
            </a:extLst>
          </p:cNvPr>
          <p:cNvSpPr/>
          <p:nvPr/>
        </p:nvSpPr>
        <p:spPr>
          <a:xfrm>
            <a:off x="5357299" y="355584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8" name="Rechteck 267">
            <a:extLst>
              <a:ext uri="{FF2B5EF4-FFF2-40B4-BE49-F238E27FC236}">
                <a16:creationId xmlns:a16="http://schemas.microsoft.com/office/drawing/2014/main" id="{3C36CEE4-C7CA-7B12-738A-3CD21D0F59A2}"/>
              </a:ext>
            </a:extLst>
          </p:cNvPr>
          <p:cNvSpPr/>
          <p:nvPr/>
        </p:nvSpPr>
        <p:spPr>
          <a:xfrm>
            <a:off x="5354778" y="161189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Rechteck 268">
            <a:extLst>
              <a:ext uri="{FF2B5EF4-FFF2-40B4-BE49-F238E27FC236}">
                <a16:creationId xmlns:a16="http://schemas.microsoft.com/office/drawing/2014/main" id="{3EFBFC1F-2DC1-33B3-2D38-3DFF3DE610D0}"/>
              </a:ext>
            </a:extLst>
          </p:cNvPr>
          <p:cNvSpPr/>
          <p:nvPr/>
        </p:nvSpPr>
        <p:spPr>
          <a:xfrm>
            <a:off x="5354778" y="264291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0" name="Rechteck 269">
            <a:extLst>
              <a:ext uri="{FF2B5EF4-FFF2-40B4-BE49-F238E27FC236}">
                <a16:creationId xmlns:a16="http://schemas.microsoft.com/office/drawing/2014/main" id="{0A9CA9FC-E76E-FAE4-4545-4052ABD5DF30}"/>
              </a:ext>
            </a:extLst>
          </p:cNvPr>
          <p:cNvSpPr/>
          <p:nvPr/>
        </p:nvSpPr>
        <p:spPr>
          <a:xfrm>
            <a:off x="5357299" y="367776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6" name="Rechteck 275">
            <a:extLst>
              <a:ext uri="{FF2B5EF4-FFF2-40B4-BE49-F238E27FC236}">
                <a16:creationId xmlns:a16="http://schemas.microsoft.com/office/drawing/2014/main" id="{B259D877-4C3C-0B8E-BAF4-52BF15A2A049}"/>
              </a:ext>
            </a:extLst>
          </p:cNvPr>
          <p:cNvSpPr/>
          <p:nvPr/>
        </p:nvSpPr>
        <p:spPr>
          <a:xfrm>
            <a:off x="5354778" y="173381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7" name="Rechteck 276">
            <a:extLst>
              <a:ext uri="{FF2B5EF4-FFF2-40B4-BE49-F238E27FC236}">
                <a16:creationId xmlns:a16="http://schemas.microsoft.com/office/drawing/2014/main" id="{89A15387-B3AB-C327-2D62-B82A825D2D21}"/>
              </a:ext>
            </a:extLst>
          </p:cNvPr>
          <p:cNvSpPr/>
          <p:nvPr/>
        </p:nvSpPr>
        <p:spPr>
          <a:xfrm>
            <a:off x="5354778" y="276483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8" name="Rechteck 277">
            <a:extLst>
              <a:ext uri="{FF2B5EF4-FFF2-40B4-BE49-F238E27FC236}">
                <a16:creationId xmlns:a16="http://schemas.microsoft.com/office/drawing/2014/main" id="{4C9F91E5-538C-80B7-BCC3-9FF55A237521}"/>
              </a:ext>
            </a:extLst>
          </p:cNvPr>
          <p:cNvSpPr/>
          <p:nvPr/>
        </p:nvSpPr>
        <p:spPr>
          <a:xfrm>
            <a:off x="5357299" y="3799685"/>
            <a:ext cx="121920" cy="121920"/>
          </a:xfrm>
          <a:prstGeom prst="rect">
            <a:avLst/>
          </a:prstGeom>
          <a:solidFill>
            <a:srgbClr val="FFFF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4" name="Rechteck 283">
            <a:extLst>
              <a:ext uri="{FF2B5EF4-FFF2-40B4-BE49-F238E27FC236}">
                <a16:creationId xmlns:a16="http://schemas.microsoft.com/office/drawing/2014/main" id="{FFEE58AB-E796-20F1-74D9-51F4E5F15FEE}"/>
              </a:ext>
            </a:extLst>
          </p:cNvPr>
          <p:cNvSpPr/>
          <p:nvPr/>
        </p:nvSpPr>
        <p:spPr>
          <a:xfrm>
            <a:off x="5354778" y="185573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5" name="Rechteck 284">
            <a:extLst>
              <a:ext uri="{FF2B5EF4-FFF2-40B4-BE49-F238E27FC236}">
                <a16:creationId xmlns:a16="http://schemas.microsoft.com/office/drawing/2014/main" id="{982427DB-9F07-EF98-8CC4-7C9A3EE624EC}"/>
              </a:ext>
            </a:extLst>
          </p:cNvPr>
          <p:cNvSpPr/>
          <p:nvPr/>
        </p:nvSpPr>
        <p:spPr>
          <a:xfrm>
            <a:off x="5354778" y="288675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6" name="Rechteck 285">
            <a:extLst>
              <a:ext uri="{FF2B5EF4-FFF2-40B4-BE49-F238E27FC236}">
                <a16:creationId xmlns:a16="http://schemas.microsoft.com/office/drawing/2014/main" id="{7C0FDA3D-AAFF-D7B2-4CFE-98FE1E11A56F}"/>
              </a:ext>
            </a:extLst>
          </p:cNvPr>
          <p:cNvSpPr/>
          <p:nvPr/>
        </p:nvSpPr>
        <p:spPr>
          <a:xfrm>
            <a:off x="5357299" y="392160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Rechteck 291">
            <a:extLst>
              <a:ext uri="{FF2B5EF4-FFF2-40B4-BE49-F238E27FC236}">
                <a16:creationId xmlns:a16="http://schemas.microsoft.com/office/drawing/2014/main" id="{2ABE11F3-63CC-9351-88BC-EE4B335B75E4}"/>
              </a:ext>
            </a:extLst>
          </p:cNvPr>
          <p:cNvSpPr/>
          <p:nvPr/>
        </p:nvSpPr>
        <p:spPr>
          <a:xfrm>
            <a:off x="5354778" y="1977658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3" name="Rechteck 292">
            <a:extLst>
              <a:ext uri="{FF2B5EF4-FFF2-40B4-BE49-F238E27FC236}">
                <a16:creationId xmlns:a16="http://schemas.microsoft.com/office/drawing/2014/main" id="{AC518A90-1540-D544-DF15-5DAF5EF8E48C}"/>
              </a:ext>
            </a:extLst>
          </p:cNvPr>
          <p:cNvSpPr/>
          <p:nvPr/>
        </p:nvSpPr>
        <p:spPr>
          <a:xfrm>
            <a:off x="5354778" y="3008672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4" name="Rechteck 293">
            <a:extLst>
              <a:ext uri="{FF2B5EF4-FFF2-40B4-BE49-F238E27FC236}">
                <a16:creationId xmlns:a16="http://schemas.microsoft.com/office/drawing/2014/main" id="{D37782EB-2F55-F603-C6F6-C9515CC6BF99}"/>
              </a:ext>
            </a:extLst>
          </p:cNvPr>
          <p:cNvSpPr/>
          <p:nvPr/>
        </p:nvSpPr>
        <p:spPr>
          <a:xfrm>
            <a:off x="5357299" y="4043525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0" name="Rechteck 299">
            <a:extLst>
              <a:ext uri="{FF2B5EF4-FFF2-40B4-BE49-F238E27FC236}">
                <a16:creationId xmlns:a16="http://schemas.microsoft.com/office/drawing/2014/main" id="{4D738CE1-65D7-A1C5-F2A0-129A0D87F3DC}"/>
              </a:ext>
            </a:extLst>
          </p:cNvPr>
          <p:cNvSpPr/>
          <p:nvPr/>
        </p:nvSpPr>
        <p:spPr>
          <a:xfrm>
            <a:off x="5354778" y="2098816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Rechteck 300">
            <a:extLst>
              <a:ext uri="{FF2B5EF4-FFF2-40B4-BE49-F238E27FC236}">
                <a16:creationId xmlns:a16="http://schemas.microsoft.com/office/drawing/2014/main" id="{12CE3C1B-9966-603C-0D1F-60E83420289E}"/>
              </a:ext>
            </a:extLst>
          </p:cNvPr>
          <p:cNvSpPr/>
          <p:nvPr/>
        </p:nvSpPr>
        <p:spPr>
          <a:xfrm>
            <a:off x="5354778" y="3129830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2" name="Rechteck 301">
            <a:extLst>
              <a:ext uri="{FF2B5EF4-FFF2-40B4-BE49-F238E27FC236}">
                <a16:creationId xmlns:a16="http://schemas.microsoft.com/office/drawing/2014/main" id="{948F3AD0-A058-D9AD-DBF8-515C0EC5AC8F}"/>
              </a:ext>
            </a:extLst>
          </p:cNvPr>
          <p:cNvSpPr/>
          <p:nvPr/>
        </p:nvSpPr>
        <p:spPr>
          <a:xfrm>
            <a:off x="5357299" y="4164683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8" name="Rechteck 307">
            <a:extLst>
              <a:ext uri="{FF2B5EF4-FFF2-40B4-BE49-F238E27FC236}">
                <a16:creationId xmlns:a16="http://schemas.microsoft.com/office/drawing/2014/main" id="{357A978B-F82F-CFEC-0DE6-61E31973FFBB}"/>
              </a:ext>
            </a:extLst>
          </p:cNvPr>
          <p:cNvSpPr/>
          <p:nvPr/>
        </p:nvSpPr>
        <p:spPr>
          <a:xfrm>
            <a:off x="5354778" y="2220736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9" name="Rechteck 308">
            <a:extLst>
              <a:ext uri="{FF2B5EF4-FFF2-40B4-BE49-F238E27FC236}">
                <a16:creationId xmlns:a16="http://schemas.microsoft.com/office/drawing/2014/main" id="{E0EC1C09-D9B3-02F8-CB66-BDDDAA36E0A5}"/>
              </a:ext>
            </a:extLst>
          </p:cNvPr>
          <p:cNvSpPr/>
          <p:nvPr/>
        </p:nvSpPr>
        <p:spPr>
          <a:xfrm>
            <a:off x="5354778" y="3251750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" name="Rechteck 309">
            <a:extLst>
              <a:ext uri="{FF2B5EF4-FFF2-40B4-BE49-F238E27FC236}">
                <a16:creationId xmlns:a16="http://schemas.microsoft.com/office/drawing/2014/main" id="{9235C361-6DC3-F2A3-49DB-A4462BFD74A5}"/>
              </a:ext>
            </a:extLst>
          </p:cNvPr>
          <p:cNvSpPr/>
          <p:nvPr/>
        </p:nvSpPr>
        <p:spPr>
          <a:xfrm>
            <a:off x="5357299" y="4286603"/>
            <a:ext cx="121920" cy="121920"/>
          </a:xfrm>
          <a:prstGeom prst="rect">
            <a:avLst/>
          </a:prstGeom>
          <a:solidFill>
            <a:srgbClr val="00206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Rechteck 315">
            <a:extLst>
              <a:ext uri="{FF2B5EF4-FFF2-40B4-BE49-F238E27FC236}">
                <a16:creationId xmlns:a16="http://schemas.microsoft.com/office/drawing/2014/main" id="{B481D705-5A6F-5F71-81E4-DADFB7BF3428}"/>
              </a:ext>
            </a:extLst>
          </p:cNvPr>
          <p:cNvSpPr/>
          <p:nvPr/>
        </p:nvSpPr>
        <p:spPr>
          <a:xfrm>
            <a:off x="4878618" y="128016"/>
            <a:ext cx="165100" cy="109118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1" name="Rechteck 320">
            <a:extLst>
              <a:ext uri="{FF2B5EF4-FFF2-40B4-BE49-F238E27FC236}">
                <a16:creationId xmlns:a16="http://schemas.microsoft.com/office/drawing/2014/main" id="{663CB9A1-0E09-F759-F423-1643BC0097E0}"/>
              </a:ext>
            </a:extLst>
          </p:cNvPr>
          <p:cNvSpPr/>
          <p:nvPr/>
        </p:nvSpPr>
        <p:spPr>
          <a:xfrm>
            <a:off x="5031282" y="127642"/>
            <a:ext cx="134357" cy="109118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3" name="Rechteck 322">
            <a:extLst>
              <a:ext uri="{FF2B5EF4-FFF2-40B4-BE49-F238E27FC236}">
                <a16:creationId xmlns:a16="http://schemas.microsoft.com/office/drawing/2014/main" id="{44511B07-8E62-0722-551D-3EE49820F942}"/>
              </a:ext>
            </a:extLst>
          </p:cNvPr>
          <p:cNvSpPr/>
          <p:nvPr/>
        </p:nvSpPr>
        <p:spPr>
          <a:xfrm>
            <a:off x="5153201" y="126757"/>
            <a:ext cx="134357" cy="1091184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25" name="Gerade Verbindung mit Pfeil 324">
            <a:extLst>
              <a:ext uri="{FF2B5EF4-FFF2-40B4-BE49-F238E27FC236}">
                <a16:creationId xmlns:a16="http://schemas.microsoft.com/office/drawing/2014/main" id="{55003BE0-EA5D-AE2D-B503-B72F5B5E317F}"/>
              </a:ext>
            </a:extLst>
          </p:cNvPr>
          <p:cNvCxnSpPr>
            <a:cxnSpLocks/>
            <a:stCxn id="316" idx="2"/>
            <a:endCxn id="284" idx="1"/>
          </p:cNvCxnSpPr>
          <p:nvPr/>
        </p:nvCxnSpPr>
        <p:spPr>
          <a:xfrm>
            <a:off x="4961168" y="1219200"/>
            <a:ext cx="393610" cy="697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Gerade Verbindung mit Pfeil 326">
            <a:extLst>
              <a:ext uri="{FF2B5EF4-FFF2-40B4-BE49-F238E27FC236}">
                <a16:creationId xmlns:a16="http://schemas.microsoft.com/office/drawing/2014/main" id="{D485A1CB-788C-3A7F-70B6-702FB5AA7575}"/>
              </a:ext>
            </a:extLst>
          </p:cNvPr>
          <p:cNvCxnSpPr>
            <a:cxnSpLocks/>
            <a:stCxn id="321" idx="2"/>
            <a:endCxn id="277" idx="0"/>
          </p:cNvCxnSpPr>
          <p:nvPr/>
        </p:nvCxnSpPr>
        <p:spPr>
          <a:xfrm>
            <a:off x="5098461" y="1218826"/>
            <a:ext cx="317277" cy="1546006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Gerade Verbindung mit Pfeil 330">
            <a:extLst>
              <a:ext uri="{FF2B5EF4-FFF2-40B4-BE49-F238E27FC236}">
                <a16:creationId xmlns:a16="http://schemas.microsoft.com/office/drawing/2014/main" id="{CCE1BE81-E9A3-2F1C-49B1-1CA65D231425}"/>
              </a:ext>
            </a:extLst>
          </p:cNvPr>
          <p:cNvCxnSpPr>
            <a:cxnSpLocks/>
            <a:stCxn id="323" idx="2"/>
            <a:endCxn id="278" idx="0"/>
          </p:cNvCxnSpPr>
          <p:nvPr/>
        </p:nvCxnSpPr>
        <p:spPr>
          <a:xfrm>
            <a:off x="5220380" y="1217941"/>
            <a:ext cx="197879" cy="2581744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Textfeld 333">
            <a:extLst>
              <a:ext uri="{FF2B5EF4-FFF2-40B4-BE49-F238E27FC236}">
                <a16:creationId xmlns:a16="http://schemas.microsoft.com/office/drawing/2014/main" id="{CE3F6DB5-CCA0-F45F-2CA8-1BF66C06BE23}"/>
              </a:ext>
            </a:extLst>
          </p:cNvPr>
          <p:cNvSpPr txBox="1"/>
          <p:nvPr/>
        </p:nvSpPr>
        <p:spPr>
          <a:xfrm>
            <a:off x="5402606" y="4389083"/>
            <a:ext cx="331276" cy="66262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900" dirty="0"/>
              <a:t>.</a:t>
            </a:r>
          </a:p>
          <a:p>
            <a:r>
              <a:rPr lang="en-GB" sz="900" dirty="0"/>
              <a:t>.</a:t>
            </a:r>
          </a:p>
          <a:p>
            <a:r>
              <a:rPr lang="en-GB" sz="900" dirty="0"/>
              <a:t>.</a:t>
            </a:r>
          </a:p>
        </p:txBody>
      </p:sp>
      <p:sp>
        <p:nvSpPr>
          <p:cNvPr id="362" name="Ellipse 361">
            <a:extLst>
              <a:ext uri="{FF2B5EF4-FFF2-40B4-BE49-F238E27FC236}">
                <a16:creationId xmlns:a16="http://schemas.microsoft.com/office/drawing/2014/main" id="{733E6FF5-A9A5-F9C3-A027-CA12FB3834D6}"/>
              </a:ext>
            </a:extLst>
          </p:cNvPr>
          <p:cNvSpPr/>
          <p:nvPr/>
        </p:nvSpPr>
        <p:spPr>
          <a:xfrm>
            <a:off x="6408679" y="1611898"/>
            <a:ext cx="334194" cy="33419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3" name="Ellipse 362">
            <a:extLst>
              <a:ext uri="{FF2B5EF4-FFF2-40B4-BE49-F238E27FC236}">
                <a16:creationId xmlns:a16="http://schemas.microsoft.com/office/drawing/2014/main" id="{EAD8CFA1-1B94-3944-CC65-116BECE24AD4}"/>
              </a:ext>
            </a:extLst>
          </p:cNvPr>
          <p:cNvSpPr/>
          <p:nvPr/>
        </p:nvSpPr>
        <p:spPr>
          <a:xfrm>
            <a:off x="6408679" y="2247053"/>
            <a:ext cx="334194" cy="33419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4" name="Ellipse 363">
            <a:extLst>
              <a:ext uri="{FF2B5EF4-FFF2-40B4-BE49-F238E27FC236}">
                <a16:creationId xmlns:a16="http://schemas.microsoft.com/office/drawing/2014/main" id="{A52E3032-5B56-7E1D-1553-0E7D7F2F301D}"/>
              </a:ext>
            </a:extLst>
          </p:cNvPr>
          <p:cNvSpPr/>
          <p:nvPr/>
        </p:nvSpPr>
        <p:spPr>
          <a:xfrm>
            <a:off x="6408679" y="2825792"/>
            <a:ext cx="334194" cy="33419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5" name="Ellipse 364">
            <a:extLst>
              <a:ext uri="{FF2B5EF4-FFF2-40B4-BE49-F238E27FC236}">
                <a16:creationId xmlns:a16="http://schemas.microsoft.com/office/drawing/2014/main" id="{F4DA3253-2540-87C6-1752-E14E57B1DA6C}"/>
              </a:ext>
            </a:extLst>
          </p:cNvPr>
          <p:cNvSpPr/>
          <p:nvPr/>
        </p:nvSpPr>
        <p:spPr>
          <a:xfrm>
            <a:off x="6406209" y="4213210"/>
            <a:ext cx="334194" cy="33419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6" name="Textfeld 365">
            <a:extLst>
              <a:ext uri="{FF2B5EF4-FFF2-40B4-BE49-F238E27FC236}">
                <a16:creationId xmlns:a16="http://schemas.microsoft.com/office/drawing/2014/main" id="{8168BA93-E517-C8F8-7812-F7199C1CAD6A}"/>
              </a:ext>
            </a:extLst>
          </p:cNvPr>
          <p:cNvSpPr txBox="1"/>
          <p:nvPr/>
        </p:nvSpPr>
        <p:spPr>
          <a:xfrm>
            <a:off x="6543790" y="3281525"/>
            <a:ext cx="331276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600" dirty="0"/>
              <a:t>.</a:t>
            </a:r>
          </a:p>
          <a:p>
            <a:r>
              <a:rPr lang="en-GB" sz="1600" dirty="0"/>
              <a:t>.</a:t>
            </a:r>
          </a:p>
          <a:p>
            <a:r>
              <a:rPr lang="en-GB" sz="1600" dirty="0"/>
              <a:t>.</a:t>
            </a:r>
          </a:p>
        </p:txBody>
      </p:sp>
      <p:sp>
        <p:nvSpPr>
          <p:cNvPr id="367" name="Rechteck 366">
            <a:extLst>
              <a:ext uri="{FF2B5EF4-FFF2-40B4-BE49-F238E27FC236}">
                <a16:creationId xmlns:a16="http://schemas.microsoft.com/office/drawing/2014/main" id="{98DBD432-909C-7448-8E80-14DD0424AA4D}"/>
              </a:ext>
            </a:extLst>
          </p:cNvPr>
          <p:cNvSpPr/>
          <p:nvPr/>
        </p:nvSpPr>
        <p:spPr>
          <a:xfrm>
            <a:off x="6227064" y="1429018"/>
            <a:ext cx="705173" cy="326490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Textfeld 368">
            <a:extLst>
              <a:ext uri="{FF2B5EF4-FFF2-40B4-BE49-F238E27FC236}">
                <a16:creationId xmlns:a16="http://schemas.microsoft.com/office/drawing/2014/main" id="{7F1A90D6-B5AB-491A-1549-5D5C059DEBF2}"/>
              </a:ext>
            </a:extLst>
          </p:cNvPr>
          <p:cNvSpPr txBox="1"/>
          <p:nvPr/>
        </p:nvSpPr>
        <p:spPr>
          <a:xfrm>
            <a:off x="6561932" y="4815459"/>
            <a:ext cx="1297351" cy="3111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 err="1"/>
              <a:t>hidden_dim</a:t>
            </a:r>
            <a:endParaRPr lang="en-GB" sz="1600" dirty="0"/>
          </a:p>
        </p:txBody>
      </p:sp>
      <p:cxnSp>
        <p:nvCxnSpPr>
          <p:cNvPr id="371" name="Gerade Verbindung mit Pfeil 370">
            <a:extLst>
              <a:ext uri="{FF2B5EF4-FFF2-40B4-BE49-F238E27FC236}">
                <a16:creationId xmlns:a16="http://schemas.microsoft.com/office/drawing/2014/main" id="{6F015034-70A3-FCAA-A2C4-B23425EEAC8D}"/>
              </a:ext>
            </a:extLst>
          </p:cNvPr>
          <p:cNvCxnSpPr/>
          <p:nvPr/>
        </p:nvCxnSpPr>
        <p:spPr>
          <a:xfrm>
            <a:off x="5544120" y="1429018"/>
            <a:ext cx="985455" cy="304800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Gerade Verbindung mit Pfeil 375">
            <a:extLst>
              <a:ext uri="{FF2B5EF4-FFF2-40B4-BE49-F238E27FC236}">
                <a16:creationId xmlns:a16="http://schemas.microsoft.com/office/drawing/2014/main" id="{B3135960-6019-296A-DF67-0B90E574A6D5}"/>
              </a:ext>
            </a:extLst>
          </p:cNvPr>
          <p:cNvCxnSpPr>
            <a:cxnSpLocks/>
          </p:cNvCxnSpPr>
          <p:nvPr/>
        </p:nvCxnSpPr>
        <p:spPr>
          <a:xfrm flipV="1">
            <a:off x="5534751" y="1877568"/>
            <a:ext cx="994824" cy="433335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Gerade Verbindung mit Pfeil 378">
            <a:extLst>
              <a:ext uri="{FF2B5EF4-FFF2-40B4-BE49-F238E27FC236}">
                <a16:creationId xmlns:a16="http://schemas.microsoft.com/office/drawing/2014/main" id="{4FFB1FF8-D7B5-9766-4FC5-8528C10DF388}"/>
              </a:ext>
            </a:extLst>
          </p:cNvPr>
          <p:cNvCxnSpPr>
            <a:cxnSpLocks/>
          </p:cNvCxnSpPr>
          <p:nvPr/>
        </p:nvCxnSpPr>
        <p:spPr>
          <a:xfrm flipV="1">
            <a:off x="5510802" y="1963040"/>
            <a:ext cx="1018773" cy="496831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Gerade Verbindung mit Pfeil 384">
            <a:extLst>
              <a:ext uri="{FF2B5EF4-FFF2-40B4-BE49-F238E27FC236}">
                <a16:creationId xmlns:a16="http://schemas.microsoft.com/office/drawing/2014/main" id="{0725774E-A4BE-30F7-9213-BF85248C5157}"/>
              </a:ext>
            </a:extLst>
          </p:cNvPr>
          <p:cNvCxnSpPr>
            <a:cxnSpLocks/>
          </p:cNvCxnSpPr>
          <p:nvPr/>
        </p:nvCxnSpPr>
        <p:spPr>
          <a:xfrm flipV="1">
            <a:off x="5515649" y="2047946"/>
            <a:ext cx="987967" cy="1459259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Textfeld 390">
            <a:extLst>
              <a:ext uri="{FF2B5EF4-FFF2-40B4-BE49-F238E27FC236}">
                <a16:creationId xmlns:a16="http://schemas.microsoft.com/office/drawing/2014/main" id="{1C002F88-7C3E-C93C-3ECD-7D64FED6D773}"/>
              </a:ext>
            </a:extLst>
          </p:cNvPr>
          <p:cNvSpPr txBox="1"/>
          <p:nvPr/>
        </p:nvSpPr>
        <p:spPr>
          <a:xfrm>
            <a:off x="5552657" y="1580732"/>
            <a:ext cx="331276" cy="58428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</p:txBody>
      </p:sp>
      <p:sp>
        <p:nvSpPr>
          <p:cNvPr id="392" name="Textfeld 391">
            <a:extLst>
              <a:ext uri="{FF2B5EF4-FFF2-40B4-BE49-F238E27FC236}">
                <a16:creationId xmlns:a16="http://schemas.microsoft.com/office/drawing/2014/main" id="{27DAF377-1F94-4E70-2534-9E02079B1B69}"/>
              </a:ext>
            </a:extLst>
          </p:cNvPr>
          <p:cNvSpPr txBox="1"/>
          <p:nvPr/>
        </p:nvSpPr>
        <p:spPr>
          <a:xfrm>
            <a:off x="5506525" y="2624794"/>
            <a:ext cx="331276" cy="58428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</p:txBody>
      </p:sp>
      <p:sp>
        <p:nvSpPr>
          <p:cNvPr id="393" name="Textfeld 392">
            <a:extLst>
              <a:ext uri="{FF2B5EF4-FFF2-40B4-BE49-F238E27FC236}">
                <a16:creationId xmlns:a16="http://schemas.microsoft.com/office/drawing/2014/main" id="{3A437C51-2834-3EA1-AA6A-8FAC11904F45}"/>
              </a:ext>
            </a:extLst>
          </p:cNvPr>
          <p:cNvSpPr txBox="1"/>
          <p:nvPr/>
        </p:nvSpPr>
        <p:spPr>
          <a:xfrm>
            <a:off x="5534621" y="3622728"/>
            <a:ext cx="331276" cy="58428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</p:txBody>
      </p:sp>
      <p:cxnSp>
        <p:nvCxnSpPr>
          <p:cNvPr id="394" name="Gerade Verbindung mit Pfeil 393">
            <a:extLst>
              <a:ext uri="{FF2B5EF4-FFF2-40B4-BE49-F238E27FC236}">
                <a16:creationId xmlns:a16="http://schemas.microsoft.com/office/drawing/2014/main" id="{5E2B416A-2198-B492-52E0-DE148CA58191}"/>
              </a:ext>
            </a:extLst>
          </p:cNvPr>
          <p:cNvCxnSpPr>
            <a:cxnSpLocks/>
          </p:cNvCxnSpPr>
          <p:nvPr/>
        </p:nvCxnSpPr>
        <p:spPr>
          <a:xfrm flipV="1">
            <a:off x="5531398" y="2038618"/>
            <a:ext cx="913147" cy="1278362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Gerade Verbindung mit Pfeil 396">
            <a:extLst>
              <a:ext uri="{FF2B5EF4-FFF2-40B4-BE49-F238E27FC236}">
                <a16:creationId xmlns:a16="http://schemas.microsoft.com/office/drawing/2014/main" id="{259D001B-3E4A-3A9D-0695-998F33129BBF}"/>
              </a:ext>
            </a:extLst>
          </p:cNvPr>
          <p:cNvCxnSpPr>
            <a:cxnSpLocks/>
          </p:cNvCxnSpPr>
          <p:nvPr/>
        </p:nvCxnSpPr>
        <p:spPr>
          <a:xfrm flipV="1">
            <a:off x="5538106" y="2047946"/>
            <a:ext cx="1005684" cy="2282852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Gleichschenkliges Dreieck 399">
            <a:extLst>
              <a:ext uri="{FF2B5EF4-FFF2-40B4-BE49-F238E27FC236}">
                <a16:creationId xmlns:a16="http://schemas.microsoft.com/office/drawing/2014/main" id="{7B0915A7-BFFC-8679-BE98-3CFBD2A9FBDD}"/>
              </a:ext>
            </a:extLst>
          </p:cNvPr>
          <p:cNvSpPr/>
          <p:nvPr/>
        </p:nvSpPr>
        <p:spPr>
          <a:xfrm rot="5400000">
            <a:off x="6840211" y="2918995"/>
            <a:ext cx="856526" cy="182118"/>
          </a:xfrm>
          <a:prstGeom prst="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1" name="Textfeld 400">
            <a:extLst>
              <a:ext uri="{FF2B5EF4-FFF2-40B4-BE49-F238E27FC236}">
                <a16:creationId xmlns:a16="http://schemas.microsoft.com/office/drawing/2014/main" id="{08B49978-CDA3-13CA-09DF-7DED30F35EFF}"/>
              </a:ext>
            </a:extLst>
          </p:cNvPr>
          <p:cNvSpPr txBox="1"/>
          <p:nvPr/>
        </p:nvSpPr>
        <p:spPr>
          <a:xfrm rot="16200000">
            <a:off x="6893502" y="2546983"/>
            <a:ext cx="735678" cy="6582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 err="1"/>
              <a:t>ReLU</a:t>
            </a:r>
            <a:endParaRPr lang="en-GB" sz="1600" dirty="0"/>
          </a:p>
        </p:txBody>
      </p:sp>
      <p:sp>
        <p:nvSpPr>
          <p:cNvPr id="402" name="Pfeil: nach rechts gekrümmt 401">
            <a:extLst>
              <a:ext uri="{FF2B5EF4-FFF2-40B4-BE49-F238E27FC236}">
                <a16:creationId xmlns:a16="http://schemas.microsoft.com/office/drawing/2014/main" id="{B99A3E97-3A2E-F03F-F417-03D1276E4D71}"/>
              </a:ext>
            </a:extLst>
          </p:cNvPr>
          <p:cNvSpPr/>
          <p:nvPr/>
        </p:nvSpPr>
        <p:spPr>
          <a:xfrm rot="21034133">
            <a:off x="4665003" y="1329744"/>
            <a:ext cx="459920" cy="2101329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3" name="Textfeld 402">
            <a:extLst>
              <a:ext uri="{FF2B5EF4-FFF2-40B4-BE49-F238E27FC236}">
                <a16:creationId xmlns:a16="http://schemas.microsoft.com/office/drawing/2014/main" id="{214FAF01-0AA3-2ED7-FC27-20A493088452}"/>
              </a:ext>
            </a:extLst>
          </p:cNvPr>
          <p:cNvSpPr txBox="1"/>
          <p:nvPr/>
        </p:nvSpPr>
        <p:spPr>
          <a:xfrm rot="16200000">
            <a:off x="4536402" y="1945100"/>
            <a:ext cx="735678" cy="4034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Flatten</a:t>
            </a:r>
          </a:p>
        </p:txBody>
      </p:sp>
      <p:sp>
        <p:nvSpPr>
          <p:cNvPr id="404" name="Textfeld 403">
            <a:extLst>
              <a:ext uri="{FF2B5EF4-FFF2-40B4-BE49-F238E27FC236}">
                <a16:creationId xmlns:a16="http://schemas.microsoft.com/office/drawing/2014/main" id="{06BD0362-0478-39AB-AF97-EFA6FDAFBC33}"/>
              </a:ext>
            </a:extLst>
          </p:cNvPr>
          <p:cNvSpPr txBox="1"/>
          <p:nvPr/>
        </p:nvSpPr>
        <p:spPr>
          <a:xfrm rot="16200000">
            <a:off x="5640681" y="3831245"/>
            <a:ext cx="735940" cy="4668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Linear </a:t>
            </a:r>
          </a:p>
        </p:txBody>
      </p:sp>
      <p:grpSp>
        <p:nvGrpSpPr>
          <p:cNvPr id="409" name="Gruppieren 408">
            <a:extLst>
              <a:ext uri="{FF2B5EF4-FFF2-40B4-BE49-F238E27FC236}">
                <a16:creationId xmlns:a16="http://schemas.microsoft.com/office/drawing/2014/main" id="{F7CE7E3D-CFEA-D31B-48FD-E804B15622B2}"/>
              </a:ext>
            </a:extLst>
          </p:cNvPr>
          <p:cNvGrpSpPr/>
          <p:nvPr/>
        </p:nvGrpSpPr>
        <p:grpSpPr>
          <a:xfrm>
            <a:off x="6281385" y="231105"/>
            <a:ext cx="953023" cy="881744"/>
            <a:chOff x="6491526" y="362405"/>
            <a:chExt cx="953023" cy="881744"/>
          </a:xfrm>
        </p:grpSpPr>
        <p:sp>
          <p:nvSpPr>
            <p:cNvPr id="405" name="Ellipse 404">
              <a:extLst>
                <a:ext uri="{FF2B5EF4-FFF2-40B4-BE49-F238E27FC236}">
                  <a16:creationId xmlns:a16="http://schemas.microsoft.com/office/drawing/2014/main" id="{14BE439D-6CAE-D844-43E2-67452C40D30B}"/>
                </a:ext>
              </a:extLst>
            </p:cNvPr>
            <p:cNvSpPr/>
            <p:nvPr/>
          </p:nvSpPr>
          <p:spPr>
            <a:xfrm>
              <a:off x="6528447" y="755295"/>
              <a:ext cx="334194" cy="33419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-</a:t>
              </a:r>
            </a:p>
          </p:txBody>
        </p:sp>
        <p:sp>
          <p:nvSpPr>
            <p:cNvPr id="406" name="Ellipse 405">
              <a:extLst>
                <a:ext uri="{FF2B5EF4-FFF2-40B4-BE49-F238E27FC236}">
                  <a16:creationId xmlns:a16="http://schemas.microsoft.com/office/drawing/2014/main" id="{F9B6F36F-C40E-C99F-C876-CC047BD9ECB6}"/>
                </a:ext>
              </a:extLst>
            </p:cNvPr>
            <p:cNvSpPr/>
            <p:nvPr/>
          </p:nvSpPr>
          <p:spPr>
            <a:xfrm>
              <a:off x="7037765" y="755295"/>
              <a:ext cx="334194" cy="334194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+</a:t>
              </a:r>
            </a:p>
          </p:txBody>
        </p:sp>
        <p:sp>
          <p:nvSpPr>
            <p:cNvPr id="407" name="Textfeld 406">
              <a:extLst>
                <a:ext uri="{FF2B5EF4-FFF2-40B4-BE49-F238E27FC236}">
                  <a16:creationId xmlns:a16="http://schemas.microsoft.com/office/drawing/2014/main" id="{0B8D3FE8-1E3E-6E99-8AC3-7E7D864E9B47}"/>
                </a:ext>
              </a:extLst>
            </p:cNvPr>
            <p:cNvSpPr txBox="1"/>
            <p:nvPr/>
          </p:nvSpPr>
          <p:spPr>
            <a:xfrm>
              <a:off x="6668762" y="443830"/>
              <a:ext cx="703197" cy="2858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2100"/>
                </a:lnSpc>
              </a:pPr>
              <a:r>
                <a:rPr lang="en-GB" sz="1600" dirty="0"/>
                <a:t>values</a:t>
              </a:r>
            </a:p>
          </p:txBody>
        </p:sp>
        <p:sp>
          <p:nvSpPr>
            <p:cNvPr id="408" name="Rechteck 407">
              <a:extLst>
                <a:ext uri="{FF2B5EF4-FFF2-40B4-BE49-F238E27FC236}">
                  <a16:creationId xmlns:a16="http://schemas.microsoft.com/office/drawing/2014/main" id="{6A717629-AFA0-5390-C10A-ACBAB702F765}"/>
                </a:ext>
              </a:extLst>
            </p:cNvPr>
            <p:cNvSpPr/>
            <p:nvPr/>
          </p:nvSpPr>
          <p:spPr>
            <a:xfrm>
              <a:off x="6491526" y="362405"/>
              <a:ext cx="953023" cy="8817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10" name="Ellipse 409">
            <a:extLst>
              <a:ext uri="{FF2B5EF4-FFF2-40B4-BE49-F238E27FC236}">
                <a16:creationId xmlns:a16="http://schemas.microsoft.com/office/drawing/2014/main" id="{43C53CBD-2113-26C4-B679-300EA00E1C9E}"/>
              </a:ext>
            </a:extLst>
          </p:cNvPr>
          <p:cNvSpPr/>
          <p:nvPr/>
        </p:nvSpPr>
        <p:spPr>
          <a:xfrm>
            <a:off x="7593966" y="1611898"/>
            <a:ext cx="334194" cy="334194"/>
          </a:xfrm>
          <a:prstGeom prst="ellipse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1" name="Ellipse 410">
            <a:extLst>
              <a:ext uri="{FF2B5EF4-FFF2-40B4-BE49-F238E27FC236}">
                <a16:creationId xmlns:a16="http://schemas.microsoft.com/office/drawing/2014/main" id="{D897DEEA-3389-8505-0E30-53731BE89789}"/>
              </a:ext>
            </a:extLst>
          </p:cNvPr>
          <p:cNvSpPr/>
          <p:nvPr/>
        </p:nvSpPr>
        <p:spPr>
          <a:xfrm>
            <a:off x="7593966" y="2247053"/>
            <a:ext cx="334194" cy="33419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2" name="Ellipse 411">
            <a:extLst>
              <a:ext uri="{FF2B5EF4-FFF2-40B4-BE49-F238E27FC236}">
                <a16:creationId xmlns:a16="http://schemas.microsoft.com/office/drawing/2014/main" id="{162C56A4-4B3B-F63E-9923-58D8F11A635F}"/>
              </a:ext>
            </a:extLst>
          </p:cNvPr>
          <p:cNvSpPr/>
          <p:nvPr/>
        </p:nvSpPr>
        <p:spPr>
          <a:xfrm>
            <a:off x="7593966" y="2825792"/>
            <a:ext cx="334194" cy="334194"/>
          </a:xfrm>
          <a:prstGeom prst="ellipse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3" name="Ellipse 412">
            <a:extLst>
              <a:ext uri="{FF2B5EF4-FFF2-40B4-BE49-F238E27FC236}">
                <a16:creationId xmlns:a16="http://schemas.microsoft.com/office/drawing/2014/main" id="{C0FEE7D9-9299-5E52-AA2F-4343D91E305D}"/>
              </a:ext>
            </a:extLst>
          </p:cNvPr>
          <p:cNvSpPr/>
          <p:nvPr/>
        </p:nvSpPr>
        <p:spPr>
          <a:xfrm>
            <a:off x="7591496" y="4213210"/>
            <a:ext cx="334194" cy="33419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4" name="Textfeld 413">
            <a:extLst>
              <a:ext uri="{FF2B5EF4-FFF2-40B4-BE49-F238E27FC236}">
                <a16:creationId xmlns:a16="http://schemas.microsoft.com/office/drawing/2014/main" id="{EC15D0A1-9952-4A15-FC6F-986F27B27584}"/>
              </a:ext>
            </a:extLst>
          </p:cNvPr>
          <p:cNvSpPr txBox="1"/>
          <p:nvPr/>
        </p:nvSpPr>
        <p:spPr>
          <a:xfrm>
            <a:off x="7729077" y="3281525"/>
            <a:ext cx="331276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600" dirty="0"/>
              <a:t>.</a:t>
            </a:r>
          </a:p>
          <a:p>
            <a:r>
              <a:rPr lang="en-GB" sz="1600" dirty="0"/>
              <a:t>.</a:t>
            </a:r>
          </a:p>
          <a:p>
            <a:r>
              <a:rPr lang="en-GB" sz="1600" dirty="0"/>
              <a:t>.</a:t>
            </a:r>
          </a:p>
        </p:txBody>
      </p:sp>
      <p:sp>
        <p:nvSpPr>
          <p:cNvPr id="415" name="Rechteck 414">
            <a:extLst>
              <a:ext uri="{FF2B5EF4-FFF2-40B4-BE49-F238E27FC236}">
                <a16:creationId xmlns:a16="http://schemas.microsoft.com/office/drawing/2014/main" id="{E484E850-49F6-B07D-9A55-75EF195F6C07}"/>
              </a:ext>
            </a:extLst>
          </p:cNvPr>
          <p:cNvSpPr/>
          <p:nvPr/>
        </p:nvSpPr>
        <p:spPr>
          <a:xfrm>
            <a:off x="7412351" y="1429018"/>
            <a:ext cx="705173" cy="326490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3" name="Textfeld 422">
            <a:extLst>
              <a:ext uri="{FF2B5EF4-FFF2-40B4-BE49-F238E27FC236}">
                <a16:creationId xmlns:a16="http://schemas.microsoft.com/office/drawing/2014/main" id="{B7EF2AC0-FA02-06BB-395C-11B23E84E5EB}"/>
              </a:ext>
            </a:extLst>
          </p:cNvPr>
          <p:cNvSpPr txBox="1"/>
          <p:nvPr/>
        </p:nvSpPr>
        <p:spPr>
          <a:xfrm>
            <a:off x="8655777" y="3723372"/>
            <a:ext cx="331276" cy="5971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</p:txBody>
      </p:sp>
      <p:cxnSp>
        <p:nvCxnSpPr>
          <p:cNvPr id="427" name="Gerade Verbindung mit Pfeil 426">
            <a:extLst>
              <a:ext uri="{FF2B5EF4-FFF2-40B4-BE49-F238E27FC236}">
                <a16:creationId xmlns:a16="http://schemas.microsoft.com/office/drawing/2014/main" id="{D06DD010-8AD0-DBC3-8F00-8F146AD9AC1B}"/>
              </a:ext>
            </a:extLst>
          </p:cNvPr>
          <p:cNvCxnSpPr>
            <a:cxnSpLocks/>
          </p:cNvCxnSpPr>
          <p:nvPr/>
        </p:nvCxnSpPr>
        <p:spPr>
          <a:xfrm>
            <a:off x="7981761" y="1778995"/>
            <a:ext cx="351303" cy="76743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Gerade Verbindung mit Pfeil 427">
            <a:extLst>
              <a:ext uri="{FF2B5EF4-FFF2-40B4-BE49-F238E27FC236}">
                <a16:creationId xmlns:a16="http://schemas.microsoft.com/office/drawing/2014/main" id="{157296E2-657F-22AC-BB63-6F1EC9FA6E39}"/>
              </a:ext>
            </a:extLst>
          </p:cNvPr>
          <p:cNvCxnSpPr>
            <a:cxnSpLocks/>
          </p:cNvCxnSpPr>
          <p:nvPr/>
        </p:nvCxnSpPr>
        <p:spPr>
          <a:xfrm flipV="1">
            <a:off x="7937751" y="1963040"/>
            <a:ext cx="440360" cy="347863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Gerade Verbindung mit Pfeil 429">
            <a:extLst>
              <a:ext uri="{FF2B5EF4-FFF2-40B4-BE49-F238E27FC236}">
                <a16:creationId xmlns:a16="http://schemas.microsoft.com/office/drawing/2014/main" id="{0D335ED4-502C-4071-D50E-CF5251E5E026}"/>
              </a:ext>
            </a:extLst>
          </p:cNvPr>
          <p:cNvCxnSpPr>
            <a:cxnSpLocks/>
          </p:cNvCxnSpPr>
          <p:nvPr/>
        </p:nvCxnSpPr>
        <p:spPr>
          <a:xfrm flipV="1">
            <a:off x="7947836" y="1976939"/>
            <a:ext cx="438829" cy="891701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Gerade Verbindung mit Pfeil 431">
            <a:extLst>
              <a:ext uri="{FF2B5EF4-FFF2-40B4-BE49-F238E27FC236}">
                <a16:creationId xmlns:a16="http://schemas.microsoft.com/office/drawing/2014/main" id="{42AFB082-372C-8EEC-8F45-2061F414A914}"/>
              </a:ext>
            </a:extLst>
          </p:cNvPr>
          <p:cNvCxnSpPr>
            <a:cxnSpLocks/>
          </p:cNvCxnSpPr>
          <p:nvPr/>
        </p:nvCxnSpPr>
        <p:spPr>
          <a:xfrm flipV="1">
            <a:off x="7937751" y="2014700"/>
            <a:ext cx="461096" cy="2265989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Gerade Verbindung mit Pfeil 437">
            <a:extLst>
              <a:ext uri="{FF2B5EF4-FFF2-40B4-BE49-F238E27FC236}">
                <a16:creationId xmlns:a16="http://schemas.microsoft.com/office/drawing/2014/main" id="{B612A93B-4546-084A-9ABC-283FE6286DB4}"/>
              </a:ext>
            </a:extLst>
          </p:cNvPr>
          <p:cNvCxnSpPr>
            <a:cxnSpLocks/>
          </p:cNvCxnSpPr>
          <p:nvPr/>
        </p:nvCxnSpPr>
        <p:spPr>
          <a:xfrm>
            <a:off x="7958509" y="1877568"/>
            <a:ext cx="419602" cy="311131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Gerade Verbindung mit Pfeil 440">
            <a:extLst>
              <a:ext uri="{FF2B5EF4-FFF2-40B4-BE49-F238E27FC236}">
                <a16:creationId xmlns:a16="http://schemas.microsoft.com/office/drawing/2014/main" id="{BD105FE3-261C-EF65-6DD5-226F00EABDF7}"/>
              </a:ext>
            </a:extLst>
          </p:cNvPr>
          <p:cNvCxnSpPr>
            <a:cxnSpLocks/>
          </p:cNvCxnSpPr>
          <p:nvPr/>
        </p:nvCxnSpPr>
        <p:spPr>
          <a:xfrm flipV="1">
            <a:off x="7958729" y="2310903"/>
            <a:ext cx="419382" cy="81838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Gerade Verbindung mit Pfeil 442">
            <a:extLst>
              <a:ext uri="{FF2B5EF4-FFF2-40B4-BE49-F238E27FC236}">
                <a16:creationId xmlns:a16="http://schemas.microsoft.com/office/drawing/2014/main" id="{F33A23BC-ACC5-36BE-F987-0DB55979E1F2}"/>
              </a:ext>
            </a:extLst>
          </p:cNvPr>
          <p:cNvCxnSpPr>
            <a:cxnSpLocks/>
          </p:cNvCxnSpPr>
          <p:nvPr/>
        </p:nvCxnSpPr>
        <p:spPr>
          <a:xfrm flipV="1">
            <a:off x="7983312" y="2376142"/>
            <a:ext cx="403353" cy="594252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Gerade Verbindung mit Pfeil 444">
            <a:extLst>
              <a:ext uri="{FF2B5EF4-FFF2-40B4-BE49-F238E27FC236}">
                <a16:creationId xmlns:a16="http://schemas.microsoft.com/office/drawing/2014/main" id="{A320DF04-7377-80DD-22B0-ECF63094EC8E}"/>
              </a:ext>
            </a:extLst>
          </p:cNvPr>
          <p:cNvCxnSpPr>
            <a:cxnSpLocks/>
          </p:cNvCxnSpPr>
          <p:nvPr/>
        </p:nvCxnSpPr>
        <p:spPr>
          <a:xfrm flipV="1">
            <a:off x="7955735" y="2395763"/>
            <a:ext cx="496011" cy="1884926"/>
          </a:xfrm>
          <a:prstGeom prst="straightConnector1">
            <a:avLst/>
          </a:prstGeom>
          <a:ln>
            <a:solidFill>
              <a:srgbClr val="18181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feld 446">
            <a:extLst>
              <a:ext uri="{FF2B5EF4-FFF2-40B4-BE49-F238E27FC236}">
                <a16:creationId xmlns:a16="http://schemas.microsoft.com/office/drawing/2014/main" id="{195EC102-442E-6111-438E-131A651AD65D}"/>
              </a:ext>
            </a:extLst>
          </p:cNvPr>
          <p:cNvSpPr txBox="1"/>
          <p:nvPr/>
        </p:nvSpPr>
        <p:spPr>
          <a:xfrm rot="16200000">
            <a:off x="7955889" y="3898889"/>
            <a:ext cx="735678" cy="331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/>
              <a:t>Linear</a:t>
            </a:r>
          </a:p>
        </p:txBody>
      </p:sp>
      <p:sp>
        <p:nvSpPr>
          <p:cNvPr id="225" name="Textfeld 224">
            <a:extLst>
              <a:ext uri="{FF2B5EF4-FFF2-40B4-BE49-F238E27FC236}">
                <a16:creationId xmlns:a16="http://schemas.microsoft.com/office/drawing/2014/main" id="{B163DC51-86DA-F1DA-2E28-4B5D7BA6614F}"/>
              </a:ext>
            </a:extLst>
          </p:cNvPr>
          <p:cNvSpPr txBox="1"/>
          <p:nvPr/>
        </p:nvSpPr>
        <p:spPr>
          <a:xfrm>
            <a:off x="7918622" y="4800239"/>
            <a:ext cx="1297351" cy="3111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 err="1"/>
              <a:t>output_dim</a:t>
            </a:r>
            <a:endParaRPr lang="en-GB" sz="1600" dirty="0"/>
          </a:p>
        </p:txBody>
      </p:sp>
      <p:sp>
        <p:nvSpPr>
          <p:cNvPr id="232" name="Textfeld 231">
            <a:extLst>
              <a:ext uri="{FF2B5EF4-FFF2-40B4-BE49-F238E27FC236}">
                <a16:creationId xmlns:a16="http://schemas.microsoft.com/office/drawing/2014/main" id="{9F519CF0-CC27-8A01-771A-10B270F3A3D6}"/>
              </a:ext>
            </a:extLst>
          </p:cNvPr>
          <p:cNvSpPr txBox="1"/>
          <p:nvPr/>
        </p:nvSpPr>
        <p:spPr>
          <a:xfrm>
            <a:off x="8657175" y="3724770"/>
            <a:ext cx="331276" cy="5971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  <a:p>
            <a:r>
              <a:rPr lang="en-GB" sz="1050" b="1" dirty="0"/>
              <a:t>.</a:t>
            </a:r>
          </a:p>
        </p:txBody>
      </p:sp>
      <p:sp>
        <p:nvSpPr>
          <p:cNvPr id="237" name="Rechteck 236">
            <a:extLst>
              <a:ext uri="{FF2B5EF4-FFF2-40B4-BE49-F238E27FC236}">
                <a16:creationId xmlns:a16="http://schemas.microsoft.com/office/drawing/2014/main" id="{E58D61E4-806F-C83E-F0C2-740D1D2BD67D}"/>
              </a:ext>
            </a:extLst>
          </p:cNvPr>
          <p:cNvSpPr/>
          <p:nvPr/>
        </p:nvSpPr>
        <p:spPr>
          <a:xfrm>
            <a:off x="1273712" y="2488206"/>
            <a:ext cx="3167778" cy="2561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3" name="Textfeld 242">
            <a:extLst>
              <a:ext uri="{FF2B5EF4-FFF2-40B4-BE49-F238E27FC236}">
                <a16:creationId xmlns:a16="http://schemas.microsoft.com/office/drawing/2014/main" id="{FB73D177-4163-0A85-796E-5076DABFEFD6}"/>
              </a:ext>
            </a:extLst>
          </p:cNvPr>
          <p:cNvSpPr txBox="1"/>
          <p:nvPr/>
        </p:nvSpPr>
        <p:spPr>
          <a:xfrm>
            <a:off x="4984034" y="4792917"/>
            <a:ext cx="1297351" cy="3111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600" dirty="0" err="1"/>
              <a:t>input_dim</a:t>
            </a:r>
            <a:endParaRPr lang="en-GB" sz="16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62FE76D-38A0-F755-B102-82EDE741807E}"/>
              </a:ext>
            </a:extLst>
          </p:cNvPr>
          <p:cNvSpPr txBox="1"/>
          <p:nvPr/>
        </p:nvSpPr>
        <p:spPr>
          <a:xfrm>
            <a:off x="254339" y="4752708"/>
            <a:ext cx="1540906" cy="311121"/>
          </a:xfrm>
          <a:prstGeom prst="rect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GB" sz="1200" dirty="0"/>
              <a:t> Linear: f(x) = </a:t>
            </a:r>
            <a:r>
              <a:rPr lang="en-GB" sz="1200" dirty="0" err="1"/>
              <a:t>xW</a:t>
            </a:r>
            <a:r>
              <a:rPr lang="en-GB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720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" grpId="0" animBg="1"/>
      <p:bldP spid="418" grpId="0" animBg="1"/>
      <p:bldP spid="419" grpId="0" animBg="1"/>
      <p:bldP spid="420" grpId="0" animBg="1"/>
      <p:bldP spid="421" grpId="0" animBg="1"/>
      <p:bldP spid="422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8" grpId="1" animBg="1"/>
      <p:bldP spid="229" grpId="0" animBg="1"/>
      <p:bldP spid="229" grpId="1" animBg="1"/>
      <p:bldP spid="230" grpId="0" animBg="1"/>
      <p:bldP spid="230" grpId="1" animBg="1"/>
      <p:bldP spid="231" grpId="0" animBg="1"/>
      <p:bldP spid="231" grpId="1" animBg="1"/>
      <p:bldP spid="252" grpId="0" animBg="1"/>
      <p:bldP spid="253" grpId="0" animBg="1"/>
      <p:bldP spid="254" grpId="0" animBg="1"/>
      <p:bldP spid="260" grpId="0" animBg="1"/>
      <p:bldP spid="261" grpId="0" animBg="1"/>
      <p:bldP spid="262" grpId="0" animBg="1"/>
      <p:bldP spid="268" grpId="0" animBg="1"/>
      <p:bldP spid="269" grpId="0" animBg="1"/>
      <p:bldP spid="270" grpId="0" animBg="1"/>
      <p:bldP spid="276" grpId="0" animBg="1"/>
      <p:bldP spid="277" grpId="0" animBg="1"/>
      <p:bldP spid="278" grpId="0" animBg="1"/>
      <p:bldP spid="284" grpId="0" animBg="1"/>
      <p:bldP spid="285" grpId="0" animBg="1"/>
      <p:bldP spid="286" grpId="0" animBg="1"/>
      <p:bldP spid="292" grpId="0" animBg="1"/>
      <p:bldP spid="293" grpId="0" animBg="1"/>
      <p:bldP spid="294" grpId="0" animBg="1"/>
      <p:bldP spid="300" grpId="0" animBg="1"/>
      <p:bldP spid="301" grpId="0" animBg="1"/>
      <p:bldP spid="302" grpId="0" animBg="1"/>
      <p:bldP spid="308" grpId="0" animBg="1"/>
      <p:bldP spid="309" grpId="0" animBg="1"/>
      <p:bldP spid="310" grpId="0" animBg="1"/>
      <p:bldP spid="316" grpId="0" animBg="1"/>
      <p:bldP spid="321" grpId="0" animBg="1"/>
      <p:bldP spid="323" grpId="0" animBg="1"/>
      <p:bldP spid="334" grpId="0"/>
      <p:bldP spid="362" grpId="0" animBg="1"/>
      <p:bldP spid="363" grpId="0" animBg="1"/>
      <p:bldP spid="364" grpId="0" animBg="1"/>
      <p:bldP spid="365" grpId="0" animBg="1"/>
      <p:bldP spid="366" grpId="0"/>
      <p:bldP spid="367" grpId="0" animBg="1"/>
      <p:bldP spid="369" grpId="0"/>
      <p:bldP spid="391" grpId="0"/>
      <p:bldP spid="392" grpId="0"/>
      <p:bldP spid="393" grpId="0"/>
      <p:bldP spid="400" grpId="0" animBg="1"/>
      <p:bldP spid="401" grpId="0"/>
      <p:bldP spid="402" grpId="0" animBg="1"/>
      <p:bldP spid="403" grpId="0"/>
      <p:bldP spid="404" grpId="0"/>
      <p:bldP spid="410" grpId="0" animBg="1"/>
      <p:bldP spid="411" grpId="0" animBg="1"/>
      <p:bldP spid="412" grpId="0" animBg="1"/>
      <p:bldP spid="413" grpId="0" animBg="1"/>
      <p:bldP spid="414" grpId="0"/>
      <p:bldP spid="415" grpId="0" animBg="1"/>
      <p:bldP spid="423" grpId="0"/>
      <p:bldP spid="447" grpId="0"/>
      <p:bldP spid="225" grpId="0"/>
      <p:bldP spid="232" grpId="0"/>
      <p:bldP spid="232" grpId="1"/>
      <p:bldP spid="237" grpId="0" animBg="1"/>
      <p:bldP spid="237" grpId="1" animBg="1"/>
      <p:bldP spid="243" grpId="0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AF171-9708-681B-AB7C-0EE23BC16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460626E-B7A5-8240-B63B-4957A488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85D4A75-588D-C511-3F07-50912D68F2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53670" y="639670"/>
            <a:ext cx="4418330" cy="4054250"/>
          </a:xfrm>
          <a:prstGeom prst="rect">
            <a:avLst/>
          </a:prstGeom>
        </p:spPr>
      </p:pic>
      <p:sp>
        <p:nvSpPr>
          <p:cNvPr id="258" name="Rechteck 257">
            <a:extLst>
              <a:ext uri="{FF2B5EF4-FFF2-40B4-BE49-F238E27FC236}">
                <a16:creationId xmlns:a16="http://schemas.microsoft.com/office/drawing/2014/main" id="{405C8B50-4519-27B2-8E97-7A3B542D4BE9}"/>
              </a:ext>
            </a:extLst>
          </p:cNvPr>
          <p:cNvSpPr/>
          <p:nvPr/>
        </p:nvSpPr>
        <p:spPr>
          <a:xfrm>
            <a:off x="477202" y="3036640"/>
            <a:ext cx="3986848" cy="1496695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61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4AAE1-356B-3A5C-812C-DA911707B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2038457-5100-B639-F0FE-7930D659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F72B973-6BB5-79B5-56F9-3316DCDA5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53670" y="639670"/>
            <a:ext cx="4418330" cy="405425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7AA677C-42A3-428A-9A8D-414FD68BD840}"/>
              </a:ext>
            </a:extLst>
          </p:cNvPr>
          <p:cNvSpPr/>
          <p:nvPr/>
        </p:nvSpPr>
        <p:spPr>
          <a:xfrm>
            <a:off x="990000" y="3603942"/>
            <a:ext cx="3474050" cy="2561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4" name="Rechteck 223">
            <a:extLst>
              <a:ext uri="{FF2B5EF4-FFF2-40B4-BE49-F238E27FC236}">
                <a16:creationId xmlns:a16="http://schemas.microsoft.com/office/drawing/2014/main" id="{CE1F4C88-B526-918F-C3E4-A6B3B8A37840}"/>
              </a:ext>
            </a:extLst>
          </p:cNvPr>
          <p:cNvSpPr/>
          <p:nvPr/>
        </p:nvSpPr>
        <p:spPr>
          <a:xfrm>
            <a:off x="990000" y="1558911"/>
            <a:ext cx="1216305" cy="2561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8" name="Pfeil: nach rechts gekrümmt 237">
            <a:extLst>
              <a:ext uri="{FF2B5EF4-FFF2-40B4-BE49-F238E27FC236}">
                <a16:creationId xmlns:a16="http://schemas.microsoft.com/office/drawing/2014/main" id="{4409E0C7-667B-B2D0-127E-C5D5B7ED79B0}"/>
              </a:ext>
            </a:extLst>
          </p:cNvPr>
          <p:cNvSpPr/>
          <p:nvPr/>
        </p:nvSpPr>
        <p:spPr>
          <a:xfrm>
            <a:off x="464121" y="1683659"/>
            <a:ext cx="459920" cy="2101329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0" name="Textfeld 239">
            <a:extLst>
              <a:ext uri="{FF2B5EF4-FFF2-40B4-BE49-F238E27FC236}">
                <a16:creationId xmlns:a16="http://schemas.microsoft.com/office/drawing/2014/main" id="{42FD0C90-2946-4599-8F55-E96524942BFD}"/>
              </a:ext>
            </a:extLst>
          </p:cNvPr>
          <p:cNvSpPr txBox="1"/>
          <p:nvPr/>
        </p:nvSpPr>
        <p:spPr>
          <a:xfrm>
            <a:off x="5536474" y="1529563"/>
            <a:ext cx="26175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 err="1"/>
              <a:t>We</a:t>
            </a:r>
            <a:r>
              <a:rPr lang="de-DE" sz="1400" b="1" dirty="0"/>
              <a:t> </a:t>
            </a:r>
            <a:r>
              <a:rPr lang="de-DE" sz="1400" b="1" dirty="0" err="1"/>
              <a:t>need</a:t>
            </a:r>
            <a:r>
              <a:rPr lang="de-DE" sz="1400" b="1" dirty="0"/>
              <a:t> to </a:t>
            </a:r>
            <a:r>
              <a:rPr lang="de-DE" sz="1400" b="1" dirty="0" err="1"/>
              <a:t>call</a:t>
            </a:r>
            <a:r>
              <a:rPr lang="de-DE" sz="1400" b="1" dirty="0"/>
              <a:t> the </a:t>
            </a:r>
            <a:r>
              <a:rPr lang="de-DE" sz="1400" b="1" dirty="0" err="1"/>
              <a:t>defined</a:t>
            </a:r>
            <a:r>
              <a:rPr lang="de-DE" sz="1400" b="1" dirty="0"/>
              <a:t> </a:t>
            </a:r>
            <a:r>
              <a:rPr lang="de-DE" sz="1400" b="1" dirty="0" err="1"/>
              <a:t>container</a:t>
            </a:r>
            <a:r>
              <a:rPr lang="de-DE" sz="1400" b="1" dirty="0"/>
              <a:t>(s) in the </a:t>
            </a:r>
            <a:r>
              <a:rPr lang="de-DE" sz="1400" b="1" dirty="0" err="1"/>
              <a:t>forward</a:t>
            </a:r>
            <a:r>
              <a:rPr lang="de-DE" sz="1400" b="1" dirty="0"/>
              <a:t> </a:t>
            </a:r>
            <a:r>
              <a:rPr lang="de-DE" sz="1400" b="1" dirty="0" err="1"/>
              <a:t>function</a:t>
            </a:r>
            <a:endParaRPr lang="de-DE" sz="1400" b="1" dirty="0"/>
          </a:p>
          <a:p>
            <a:endParaRPr lang="de-DE" sz="1400" b="1" dirty="0"/>
          </a:p>
        </p:txBody>
      </p:sp>
    </p:spTree>
    <p:extLst>
      <p:ext uri="{BB962C8B-B14F-4D97-AF65-F5344CB8AC3E}">
        <p14:creationId xmlns:p14="http://schemas.microsoft.com/office/powerpoint/2010/main" val="199544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4" grpId="0" animBg="1"/>
      <p:bldP spid="238" grpId="0" animBg="1"/>
      <p:bldP spid="2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5BBAC-F19F-9777-05A9-C46952F6E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1780FD7-4E02-E361-9330-0B10D254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38D2934-CA3D-61FF-CAE5-572385781C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53670" y="639670"/>
            <a:ext cx="4418330" cy="405425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84856BE-B45E-D0E6-A114-2697AB1FA7BD}"/>
              </a:ext>
            </a:extLst>
          </p:cNvPr>
          <p:cNvSpPr/>
          <p:nvPr/>
        </p:nvSpPr>
        <p:spPr>
          <a:xfrm>
            <a:off x="990000" y="3603942"/>
            <a:ext cx="3474050" cy="2561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4" name="Rechteck 223">
            <a:extLst>
              <a:ext uri="{FF2B5EF4-FFF2-40B4-BE49-F238E27FC236}">
                <a16:creationId xmlns:a16="http://schemas.microsoft.com/office/drawing/2014/main" id="{018A278E-DD69-5029-77B5-BCF3FE81E89C}"/>
              </a:ext>
            </a:extLst>
          </p:cNvPr>
          <p:cNvSpPr/>
          <p:nvPr/>
        </p:nvSpPr>
        <p:spPr>
          <a:xfrm>
            <a:off x="990000" y="1558911"/>
            <a:ext cx="1216305" cy="2561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8" name="Pfeil: nach rechts gekrümmt 237">
            <a:extLst>
              <a:ext uri="{FF2B5EF4-FFF2-40B4-BE49-F238E27FC236}">
                <a16:creationId xmlns:a16="http://schemas.microsoft.com/office/drawing/2014/main" id="{AFA39E70-5D39-1C74-9E58-BD0E54119F17}"/>
              </a:ext>
            </a:extLst>
          </p:cNvPr>
          <p:cNvSpPr/>
          <p:nvPr/>
        </p:nvSpPr>
        <p:spPr>
          <a:xfrm>
            <a:off x="464121" y="1683659"/>
            <a:ext cx="459920" cy="2101329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0" name="Textfeld 239">
            <a:extLst>
              <a:ext uri="{FF2B5EF4-FFF2-40B4-BE49-F238E27FC236}">
                <a16:creationId xmlns:a16="http://schemas.microsoft.com/office/drawing/2014/main" id="{04D5324B-1431-AE2D-8C63-24B56BF8579E}"/>
              </a:ext>
            </a:extLst>
          </p:cNvPr>
          <p:cNvSpPr txBox="1"/>
          <p:nvPr/>
        </p:nvSpPr>
        <p:spPr>
          <a:xfrm>
            <a:off x="5536474" y="1529563"/>
            <a:ext cx="26175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 err="1"/>
              <a:t>We</a:t>
            </a:r>
            <a:r>
              <a:rPr lang="de-DE" sz="1400" b="1" dirty="0"/>
              <a:t> </a:t>
            </a:r>
            <a:r>
              <a:rPr lang="de-DE" sz="1400" b="1" dirty="0" err="1"/>
              <a:t>need</a:t>
            </a:r>
            <a:r>
              <a:rPr lang="de-DE" sz="1400" b="1" dirty="0"/>
              <a:t> to </a:t>
            </a:r>
            <a:r>
              <a:rPr lang="de-DE" sz="1400" b="1" dirty="0" err="1"/>
              <a:t>call</a:t>
            </a:r>
            <a:r>
              <a:rPr lang="de-DE" sz="1400" b="1" dirty="0"/>
              <a:t> the </a:t>
            </a:r>
            <a:r>
              <a:rPr lang="de-DE" sz="1400" b="1" dirty="0" err="1"/>
              <a:t>defined</a:t>
            </a:r>
            <a:r>
              <a:rPr lang="de-DE" sz="1400" b="1" dirty="0"/>
              <a:t> </a:t>
            </a:r>
            <a:r>
              <a:rPr lang="de-DE" sz="1400" b="1" dirty="0" err="1"/>
              <a:t>container</a:t>
            </a:r>
            <a:r>
              <a:rPr lang="de-DE" sz="1400" b="1" dirty="0"/>
              <a:t>(s) in the </a:t>
            </a:r>
            <a:r>
              <a:rPr lang="de-DE" sz="1400" b="1" dirty="0" err="1"/>
              <a:t>forward</a:t>
            </a:r>
            <a:r>
              <a:rPr lang="de-DE" sz="1400" b="1" dirty="0"/>
              <a:t> </a:t>
            </a:r>
            <a:r>
              <a:rPr lang="de-DE" sz="1400" b="1" dirty="0" err="1"/>
              <a:t>function</a:t>
            </a:r>
            <a:endParaRPr lang="de-DE" sz="1400" b="1" dirty="0"/>
          </a:p>
          <a:p>
            <a:endParaRPr lang="de-DE" sz="1400" b="1" dirty="0"/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D9F290A3-D671-3122-295C-974310D42A34}"/>
              </a:ext>
            </a:extLst>
          </p:cNvPr>
          <p:cNvSpPr txBox="1"/>
          <p:nvPr/>
        </p:nvSpPr>
        <p:spPr>
          <a:xfrm>
            <a:off x="5536474" y="3335624"/>
            <a:ext cx="32551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We could also call everything individually (see Jupyter Notebook)</a:t>
            </a:r>
          </a:p>
        </p:txBody>
      </p:sp>
      <p:cxnSp>
        <p:nvCxnSpPr>
          <p:cNvPr id="244" name="Gerade Verbindung mit Pfeil 243">
            <a:extLst>
              <a:ext uri="{FF2B5EF4-FFF2-40B4-BE49-F238E27FC236}">
                <a16:creationId xmlns:a16="http://schemas.microsoft.com/office/drawing/2014/main" id="{21702D89-798C-41BD-EA6A-0358CBC54DC6}"/>
              </a:ext>
            </a:extLst>
          </p:cNvPr>
          <p:cNvCxnSpPr>
            <a:cxnSpLocks/>
          </p:cNvCxnSpPr>
          <p:nvPr/>
        </p:nvCxnSpPr>
        <p:spPr>
          <a:xfrm flipH="1">
            <a:off x="2541864" y="2264895"/>
            <a:ext cx="185161" cy="936159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Runde Klammer links/rechts 246">
            <a:extLst>
              <a:ext uri="{FF2B5EF4-FFF2-40B4-BE49-F238E27FC236}">
                <a16:creationId xmlns:a16="http://schemas.microsoft.com/office/drawing/2014/main" id="{7CAE55F7-CF16-8D15-F1AF-62E4971BFC48}"/>
              </a:ext>
            </a:extLst>
          </p:cNvPr>
          <p:cNvSpPr/>
          <p:nvPr/>
        </p:nvSpPr>
        <p:spPr>
          <a:xfrm>
            <a:off x="5536474" y="3352402"/>
            <a:ext cx="2777016" cy="738664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6" name="Textfeld 255">
            <a:extLst>
              <a:ext uri="{FF2B5EF4-FFF2-40B4-BE49-F238E27FC236}">
                <a16:creationId xmlns:a16="http://schemas.microsoft.com/office/drawing/2014/main" id="{F92A160D-0C20-11C9-8250-976F1407B0E8}"/>
              </a:ext>
            </a:extLst>
          </p:cNvPr>
          <p:cNvSpPr txBox="1"/>
          <p:nvPr/>
        </p:nvSpPr>
        <p:spPr>
          <a:xfrm>
            <a:off x="2634444" y="2686873"/>
            <a:ext cx="1828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>
                <a:solidFill>
                  <a:srgbClr val="FF0000"/>
                </a:solidFill>
              </a:rPr>
              <a:t>Defines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 err="1">
                <a:solidFill>
                  <a:srgbClr val="FF0000"/>
                </a:solidFill>
              </a:rPr>
              <a:t>input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 err="1">
                <a:solidFill>
                  <a:srgbClr val="FF0000"/>
                </a:solidFill>
              </a:rPr>
              <a:t>dimensions</a:t>
            </a:r>
            <a:endParaRPr lang="de-DE" sz="1100" dirty="0">
              <a:solidFill>
                <a:srgbClr val="FF0000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84088CE-D454-8041-1DBD-11FACBFD963D}"/>
              </a:ext>
            </a:extLst>
          </p:cNvPr>
          <p:cNvSpPr txBox="1"/>
          <p:nvPr/>
        </p:nvSpPr>
        <p:spPr>
          <a:xfrm>
            <a:off x="5536474" y="2386427"/>
            <a:ext cx="26175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The </a:t>
            </a:r>
            <a:r>
              <a:rPr lang="de-DE" sz="1400" dirty="0" err="1"/>
              <a:t>input</a:t>
            </a:r>
            <a:r>
              <a:rPr lang="de-DE" sz="1400" dirty="0"/>
              <a:t> in the </a:t>
            </a:r>
            <a:r>
              <a:rPr lang="de-DE" sz="1400" dirty="0" err="1"/>
              <a:t>forward</a:t>
            </a:r>
            <a:r>
              <a:rPr lang="de-DE" sz="1400" dirty="0"/>
              <a:t> </a:t>
            </a:r>
            <a:r>
              <a:rPr lang="de-DE" sz="1400" dirty="0" err="1"/>
              <a:t>function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</a:t>
            </a:r>
            <a:r>
              <a:rPr lang="de-DE" sz="1400" dirty="0" err="1"/>
              <a:t>our</a:t>
            </a:r>
            <a:r>
              <a:rPr lang="de-DE" sz="1400" dirty="0"/>
              <a:t> </a:t>
            </a:r>
            <a:r>
              <a:rPr lang="de-DE" sz="1400" dirty="0" err="1"/>
              <a:t>model</a:t>
            </a:r>
            <a:r>
              <a:rPr lang="de-DE" sz="1400" dirty="0"/>
              <a:t> </a:t>
            </a:r>
            <a:r>
              <a:rPr lang="de-DE" sz="1400" dirty="0" err="1"/>
              <a:t>input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235647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4" grpId="0" animBg="1"/>
      <p:bldP spid="238" grpId="0" animBg="1"/>
      <p:bldP spid="240" grpId="0"/>
      <p:bldP spid="242" grpId="0"/>
      <p:bldP spid="247" grpId="0" animBg="1"/>
      <p:bldP spid="25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38BC-B095-B2A6-FAD3-476D76F5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A349C12-FA7C-2733-D5F1-552EFEEA5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86" y="639669"/>
            <a:ext cx="4418330" cy="441833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1D71CC9-7EBF-9803-AB2B-AABDFD01C9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63186" y="639669"/>
            <a:ext cx="4418330" cy="405425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188899C-2480-4089-8FE2-33C2C04DDAE2}"/>
              </a:ext>
            </a:extLst>
          </p:cNvPr>
          <p:cNvSpPr txBox="1"/>
          <p:nvPr/>
        </p:nvSpPr>
        <p:spPr>
          <a:xfrm>
            <a:off x="5519866" y="2302601"/>
            <a:ext cx="28019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 err="1"/>
              <a:t>When</a:t>
            </a:r>
            <a:r>
              <a:rPr lang="de-DE" sz="1400" b="1" dirty="0"/>
              <a:t> </a:t>
            </a:r>
            <a:r>
              <a:rPr lang="de-DE" sz="1400" b="1" dirty="0" err="1"/>
              <a:t>we</a:t>
            </a:r>
            <a:r>
              <a:rPr lang="de-DE" sz="1400" b="1" dirty="0"/>
              <a:t> </a:t>
            </a:r>
            <a:r>
              <a:rPr lang="de-DE" sz="1400" b="1" dirty="0" err="1"/>
              <a:t>now</a:t>
            </a:r>
            <a:r>
              <a:rPr lang="de-DE" sz="1400" b="1" dirty="0"/>
              <a:t> </a:t>
            </a:r>
            <a:r>
              <a:rPr lang="de-DE" sz="1400" b="1" dirty="0" err="1"/>
              <a:t>create</a:t>
            </a:r>
            <a:r>
              <a:rPr lang="de-DE" sz="1400" b="1" dirty="0"/>
              <a:t> an </a:t>
            </a:r>
            <a:r>
              <a:rPr lang="de-DE" sz="1400" b="1" dirty="0" err="1"/>
              <a:t>object</a:t>
            </a:r>
            <a:r>
              <a:rPr lang="de-DE" sz="1400" b="1" dirty="0"/>
              <a:t> of </a:t>
            </a:r>
            <a:r>
              <a:rPr lang="de-DE" sz="1400" b="1" dirty="0" err="1"/>
              <a:t>this</a:t>
            </a:r>
            <a:r>
              <a:rPr lang="de-DE" sz="1400" b="1" dirty="0"/>
              <a:t> </a:t>
            </a:r>
            <a:r>
              <a:rPr lang="de-DE" sz="1400" b="1" dirty="0" err="1"/>
              <a:t>class</a:t>
            </a:r>
            <a:r>
              <a:rPr lang="de-DE" sz="1400" b="1" dirty="0"/>
              <a:t>, </a:t>
            </a:r>
            <a:r>
              <a:rPr lang="de-DE" sz="1400" b="1" dirty="0" err="1"/>
              <a:t>we</a:t>
            </a:r>
            <a:r>
              <a:rPr lang="de-DE" sz="1400" b="1" dirty="0"/>
              <a:t> </a:t>
            </a:r>
            <a:r>
              <a:rPr lang="de-DE" sz="1400" b="1" dirty="0" err="1"/>
              <a:t>can</a:t>
            </a:r>
            <a:r>
              <a:rPr lang="de-DE" sz="1400" b="1" dirty="0"/>
              <a:t> </a:t>
            </a:r>
            <a:r>
              <a:rPr lang="de-DE" sz="1400" b="1" dirty="0" err="1"/>
              <a:t>use</a:t>
            </a:r>
            <a:r>
              <a:rPr lang="de-DE" sz="1400" b="1" dirty="0"/>
              <a:t> </a:t>
            </a:r>
            <a:r>
              <a:rPr lang="de-DE" sz="1400" b="1" dirty="0" err="1"/>
              <a:t>this</a:t>
            </a:r>
            <a:r>
              <a:rPr lang="de-DE" sz="1400" b="1" dirty="0"/>
              <a:t> </a:t>
            </a:r>
            <a:r>
              <a:rPr lang="de-DE" sz="1400" b="1" dirty="0" err="1"/>
              <a:t>object</a:t>
            </a:r>
            <a:r>
              <a:rPr lang="de-DE" sz="1400" b="1" dirty="0"/>
              <a:t> to </a:t>
            </a:r>
            <a:r>
              <a:rPr lang="de-DE" sz="1400" b="1" dirty="0" err="1"/>
              <a:t>call</a:t>
            </a:r>
            <a:r>
              <a:rPr lang="de-DE" sz="1400" b="1" dirty="0"/>
              <a:t> the </a:t>
            </a:r>
            <a:r>
              <a:rPr lang="de-DE" sz="1400" b="1" dirty="0" err="1"/>
              <a:t>model</a:t>
            </a:r>
            <a:r>
              <a:rPr lang="de-DE" sz="1400" b="1" dirty="0"/>
              <a:t> </a:t>
            </a:r>
            <a:r>
              <a:rPr lang="de-DE" sz="1400" b="1" dirty="0" err="1"/>
              <a:t>with</a:t>
            </a:r>
            <a:r>
              <a:rPr lang="de-DE" sz="1400" b="1" dirty="0"/>
              <a:t> the </a:t>
            </a:r>
            <a:r>
              <a:rPr lang="de-DE" sz="1400" b="1" dirty="0" err="1"/>
              <a:t>input</a:t>
            </a:r>
            <a:r>
              <a:rPr lang="de-DE" sz="1400" b="1" dirty="0"/>
              <a:t> </a:t>
            </a:r>
          </a:p>
          <a:p>
            <a:endParaRPr lang="de-DE" sz="1400" b="1" dirty="0"/>
          </a:p>
          <a:p>
            <a:endParaRPr lang="de-DE" sz="2000" b="1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5ECC814-E205-6EFD-1830-80E21CBC3676}"/>
              </a:ext>
            </a:extLst>
          </p:cNvPr>
          <p:cNvSpPr/>
          <p:nvPr/>
        </p:nvSpPr>
        <p:spPr>
          <a:xfrm>
            <a:off x="246681" y="4709287"/>
            <a:ext cx="2988297" cy="291576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85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A6CA-27D2-56A0-1A61-03A5C7D11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0BF48F4-4342-646F-08A7-CCF070DC6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86" y="639669"/>
            <a:ext cx="4418330" cy="441833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6FC86B2-99A0-FDCB-E703-A2B968D9AC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40"/>
          <a:stretch>
            <a:fillRect/>
          </a:stretch>
        </p:blipFill>
        <p:spPr>
          <a:xfrm>
            <a:off x="163186" y="639669"/>
            <a:ext cx="4418330" cy="405425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907BF10-C95C-80EB-5307-F304310970DF}"/>
              </a:ext>
            </a:extLst>
          </p:cNvPr>
          <p:cNvSpPr txBox="1"/>
          <p:nvPr/>
        </p:nvSpPr>
        <p:spPr>
          <a:xfrm>
            <a:off x="5519867" y="2417861"/>
            <a:ext cx="261752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/>
              <a:t>How do </a:t>
            </a:r>
            <a:r>
              <a:rPr lang="de-DE" sz="1400" b="1" dirty="0" err="1"/>
              <a:t>we</a:t>
            </a:r>
            <a:r>
              <a:rPr lang="de-DE" sz="1400" b="1" dirty="0"/>
              <a:t> </a:t>
            </a:r>
            <a:r>
              <a:rPr lang="de-DE" sz="1400" b="1" dirty="0" err="1"/>
              <a:t>now</a:t>
            </a:r>
            <a:r>
              <a:rPr lang="de-DE" sz="1400" b="1" dirty="0"/>
              <a:t> </a:t>
            </a:r>
            <a:r>
              <a:rPr lang="de-DE" sz="1400" b="1" dirty="0" err="1"/>
              <a:t>train</a:t>
            </a:r>
            <a:r>
              <a:rPr lang="de-DE" sz="1400" b="1" dirty="0"/>
              <a:t> and </a:t>
            </a:r>
            <a:r>
              <a:rPr lang="de-DE" sz="1400" b="1" dirty="0" err="1"/>
              <a:t>use</a:t>
            </a:r>
            <a:r>
              <a:rPr lang="de-DE" sz="1400" b="1" dirty="0"/>
              <a:t> </a:t>
            </a:r>
            <a:r>
              <a:rPr lang="de-DE" sz="1400" b="1" dirty="0" err="1"/>
              <a:t>this</a:t>
            </a:r>
            <a:r>
              <a:rPr lang="de-DE" sz="1400" b="1" dirty="0"/>
              <a:t>?</a:t>
            </a:r>
          </a:p>
          <a:p>
            <a:endParaRPr lang="de-DE" sz="1400" b="1" dirty="0"/>
          </a:p>
          <a:p>
            <a:endParaRPr lang="de-DE" sz="2000" b="1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DA6E457-0ADB-FEA2-94C8-CAEDFF2DD5FA}"/>
              </a:ext>
            </a:extLst>
          </p:cNvPr>
          <p:cNvSpPr/>
          <p:nvPr/>
        </p:nvSpPr>
        <p:spPr>
          <a:xfrm>
            <a:off x="246681" y="4709287"/>
            <a:ext cx="2988297" cy="291576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24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0CC8C7F-1F2E-CCD2-24BF-155A6A60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537177-24B4-A034-6494-8D877A155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190667-FC5C-7F4A-196B-610BC5E46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25</a:t>
            </a:fld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F140E645-82DB-D4F6-4A9D-A9953CA11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269875"/>
            <a:ext cx="6821488" cy="717550"/>
          </a:xfrm>
        </p:spPr>
        <p:txBody>
          <a:bodyPr/>
          <a:lstStyle/>
          <a:p>
            <a:r>
              <a:rPr lang="en-GB" dirty="0" err="1"/>
              <a:t>PyTorch</a:t>
            </a:r>
            <a:r>
              <a:rPr lang="en-GB" dirty="0"/>
              <a:t> - Training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E1F15B4-7766-4A0B-0806-D8F91A59B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266969"/>
            <a:ext cx="5205894" cy="1331487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6C445DD1-C975-827D-277F-97C2843BF4CE}"/>
              </a:ext>
            </a:extLst>
          </p:cNvPr>
          <p:cNvSpPr txBox="1"/>
          <p:nvPr/>
        </p:nvSpPr>
        <p:spPr>
          <a:xfrm>
            <a:off x="457200" y="154812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First, </a:t>
            </a:r>
            <a:r>
              <a:rPr lang="de-DE" sz="1400" dirty="0" err="1"/>
              <a:t>we</a:t>
            </a:r>
            <a:r>
              <a:rPr lang="de-DE" sz="1400" dirty="0"/>
              <a:t> </a:t>
            </a:r>
            <a:r>
              <a:rPr lang="de-DE" sz="1400" dirty="0" err="1"/>
              <a:t>need</a:t>
            </a:r>
            <a:r>
              <a:rPr lang="de-DE" sz="1400" dirty="0"/>
              <a:t> to:</a:t>
            </a:r>
            <a:endParaRPr lang="de-DE" sz="2000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E55A7D6-C5B9-9BFE-E47E-129E55ED4EDF}"/>
              </a:ext>
            </a:extLst>
          </p:cNvPr>
          <p:cNvCxnSpPr>
            <a:cxnSpLocks/>
          </p:cNvCxnSpPr>
          <p:nvPr/>
        </p:nvCxnSpPr>
        <p:spPr>
          <a:xfrm flipV="1">
            <a:off x="3231396" y="1950992"/>
            <a:ext cx="3442381" cy="46561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FC82879-E2A1-C094-8AAB-13F342FEF801}"/>
              </a:ext>
            </a:extLst>
          </p:cNvPr>
          <p:cNvCxnSpPr>
            <a:cxnSpLocks/>
          </p:cNvCxnSpPr>
          <p:nvPr/>
        </p:nvCxnSpPr>
        <p:spPr>
          <a:xfrm flipV="1">
            <a:off x="4026367" y="2696817"/>
            <a:ext cx="2647410" cy="1870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5C6BFA2-0106-BC63-FD03-1C66A9A83D50}"/>
              </a:ext>
            </a:extLst>
          </p:cNvPr>
          <p:cNvCxnSpPr>
            <a:cxnSpLocks/>
          </p:cNvCxnSpPr>
          <p:nvPr/>
        </p:nvCxnSpPr>
        <p:spPr>
          <a:xfrm>
            <a:off x="5607384" y="3332737"/>
            <a:ext cx="1066393" cy="3479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7EE59F2B-930E-1547-4175-F52A6206A2E4}"/>
              </a:ext>
            </a:extLst>
          </p:cNvPr>
          <p:cNvSpPr txBox="1"/>
          <p:nvPr/>
        </p:nvSpPr>
        <p:spPr>
          <a:xfrm>
            <a:off x="6798478" y="1627826"/>
            <a:ext cx="21710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Create an </a:t>
            </a:r>
            <a:r>
              <a:rPr lang="de-DE" sz="1200" dirty="0" err="1"/>
              <a:t>object</a:t>
            </a:r>
            <a:r>
              <a:rPr lang="de-DE" sz="1200" dirty="0"/>
              <a:t> </a:t>
            </a:r>
            <a:r>
              <a:rPr lang="de-DE" sz="1200" dirty="0" err="1"/>
              <a:t>that</a:t>
            </a:r>
            <a:r>
              <a:rPr lang="de-DE" sz="1200" dirty="0"/>
              <a:t> </a:t>
            </a:r>
            <a:r>
              <a:rPr lang="de-DE" sz="1200" dirty="0" err="1"/>
              <a:t>holds</a:t>
            </a:r>
            <a:r>
              <a:rPr lang="de-DE" sz="1200" dirty="0"/>
              <a:t> </a:t>
            </a:r>
            <a:r>
              <a:rPr lang="de-DE" sz="1200" dirty="0" err="1"/>
              <a:t>our</a:t>
            </a:r>
            <a:r>
              <a:rPr lang="de-DE" sz="1200" dirty="0"/>
              <a:t> </a:t>
            </a:r>
            <a:r>
              <a:rPr lang="de-DE" sz="1200" dirty="0" err="1"/>
              <a:t>architecture</a:t>
            </a:r>
            <a:r>
              <a:rPr lang="de-DE" sz="1200" dirty="0"/>
              <a:t> and the </a:t>
            </a:r>
            <a:r>
              <a:rPr lang="de-DE" sz="1200" dirty="0" err="1"/>
              <a:t>forward</a:t>
            </a:r>
            <a:r>
              <a:rPr lang="de-DE" sz="1200" dirty="0"/>
              <a:t> pass</a:t>
            </a:r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1D0BE73-9A89-3484-2961-CDAA8CD4CB21}"/>
              </a:ext>
            </a:extLst>
          </p:cNvPr>
          <p:cNvSpPr txBox="1"/>
          <p:nvPr/>
        </p:nvSpPr>
        <p:spPr>
          <a:xfrm>
            <a:off x="6798478" y="2480489"/>
            <a:ext cx="21710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Define the </a:t>
            </a:r>
            <a:r>
              <a:rPr lang="de-DE" sz="1200" dirty="0" err="1"/>
              <a:t>loss</a:t>
            </a:r>
            <a:r>
              <a:rPr lang="de-DE" sz="1200" dirty="0"/>
              <a:t> </a:t>
            </a:r>
            <a:r>
              <a:rPr lang="de-DE" sz="1200" dirty="0" err="1"/>
              <a:t>function</a:t>
            </a:r>
            <a:r>
              <a:rPr lang="de-DE" sz="1200" dirty="0"/>
              <a:t> </a:t>
            </a:r>
            <a:r>
              <a:rPr lang="de-DE" sz="1200" dirty="0" err="1"/>
              <a:t>thats</a:t>
            </a:r>
            <a:r>
              <a:rPr lang="de-DE" sz="1200" dirty="0"/>
              <a:t> </a:t>
            </a:r>
            <a:r>
              <a:rPr lang="de-DE" sz="1200" dirty="0" err="1"/>
              <a:t>applicable</a:t>
            </a:r>
            <a:r>
              <a:rPr lang="de-DE" sz="1200" dirty="0"/>
              <a:t> for </a:t>
            </a:r>
            <a:r>
              <a:rPr lang="de-DE" sz="1200" dirty="0" err="1"/>
              <a:t>our</a:t>
            </a:r>
            <a:r>
              <a:rPr lang="de-DE" sz="1200" dirty="0"/>
              <a:t> </a:t>
            </a:r>
            <a:r>
              <a:rPr lang="de-DE" sz="1200" dirty="0" err="1"/>
              <a:t>problem</a:t>
            </a:r>
            <a:r>
              <a:rPr lang="de-DE" sz="1200" dirty="0"/>
              <a:t> (</a:t>
            </a:r>
            <a:r>
              <a:rPr lang="de-DE" sz="1200" dirty="0" err="1"/>
              <a:t>here</a:t>
            </a:r>
            <a:r>
              <a:rPr lang="de-DE" sz="1200" dirty="0"/>
              <a:t>: </a:t>
            </a:r>
            <a:r>
              <a:rPr lang="de-DE" sz="1200" dirty="0" err="1"/>
              <a:t>cross</a:t>
            </a:r>
            <a:r>
              <a:rPr lang="de-DE" sz="1200" dirty="0"/>
              <a:t> </a:t>
            </a:r>
            <a:r>
              <a:rPr lang="de-DE" sz="1200" dirty="0" err="1"/>
              <a:t>entropy</a:t>
            </a:r>
            <a:r>
              <a:rPr lang="de-DE" sz="1200" dirty="0"/>
              <a:t>)</a:t>
            </a:r>
            <a:endParaRPr lang="de-DE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7DEAB30-A220-3F7D-E139-0534FA49387E}"/>
              </a:ext>
            </a:extLst>
          </p:cNvPr>
          <p:cNvSpPr txBox="1"/>
          <p:nvPr/>
        </p:nvSpPr>
        <p:spPr>
          <a:xfrm>
            <a:off x="6798411" y="3448329"/>
            <a:ext cx="21710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Define the </a:t>
            </a:r>
            <a:r>
              <a:rPr lang="de-DE" sz="1200" dirty="0" err="1"/>
              <a:t>optimizer</a:t>
            </a:r>
            <a:r>
              <a:rPr lang="de-DE" sz="1200" dirty="0"/>
              <a:t> </a:t>
            </a:r>
            <a:r>
              <a:rPr lang="de-DE" sz="1200" dirty="0" err="1"/>
              <a:t>function</a:t>
            </a:r>
            <a:r>
              <a:rPr lang="de-DE" sz="1200" dirty="0"/>
              <a:t> </a:t>
            </a:r>
            <a:r>
              <a:rPr lang="de-DE" sz="1200" dirty="0" err="1"/>
              <a:t>that</a:t>
            </a:r>
            <a:r>
              <a:rPr lang="de-DE" sz="1200" dirty="0"/>
              <a:t> </a:t>
            </a:r>
            <a:r>
              <a:rPr lang="de-DE" sz="1200" dirty="0" err="1"/>
              <a:t>updates</a:t>
            </a:r>
            <a:r>
              <a:rPr lang="de-DE" sz="1200" dirty="0"/>
              <a:t> the </a:t>
            </a:r>
            <a:r>
              <a:rPr lang="de-DE" sz="1200" dirty="0" err="1"/>
              <a:t>weights</a:t>
            </a:r>
            <a:r>
              <a:rPr lang="de-DE" sz="1200" dirty="0"/>
              <a:t> </a:t>
            </a:r>
            <a:r>
              <a:rPr lang="de-DE" sz="1200" dirty="0" err="1"/>
              <a:t>according</a:t>
            </a:r>
            <a:r>
              <a:rPr lang="de-DE" sz="1200" dirty="0"/>
              <a:t> to the </a:t>
            </a:r>
            <a:r>
              <a:rPr lang="de-DE" sz="1200" dirty="0" err="1"/>
              <a:t>gradients</a:t>
            </a:r>
            <a:r>
              <a:rPr lang="de-DE" sz="1200" dirty="0"/>
              <a:t>. </a:t>
            </a:r>
            <a:r>
              <a:rPr lang="de-DE" sz="1200" dirty="0" err="1"/>
              <a:t>We</a:t>
            </a:r>
            <a:r>
              <a:rPr lang="de-DE" sz="1200" dirty="0"/>
              <a:t> </a:t>
            </a:r>
            <a:r>
              <a:rPr lang="de-DE" sz="1200" dirty="0" err="1"/>
              <a:t>need</a:t>
            </a:r>
            <a:r>
              <a:rPr lang="de-DE" sz="1200" dirty="0"/>
              <a:t> to </a:t>
            </a:r>
            <a:r>
              <a:rPr lang="de-DE" sz="1200" dirty="0" err="1"/>
              <a:t>set</a:t>
            </a:r>
            <a:r>
              <a:rPr lang="de-DE" sz="1200" dirty="0"/>
              <a:t> the </a:t>
            </a:r>
            <a:r>
              <a:rPr lang="de-DE" sz="1200" dirty="0" err="1"/>
              <a:t>learning</a:t>
            </a:r>
            <a:r>
              <a:rPr lang="de-DE" sz="1200" dirty="0"/>
              <a:t> rate (</a:t>
            </a:r>
            <a:r>
              <a:rPr lang="de-DE" sz="1200" dirty="0" err="1"/>
              <a:t>lr</a:t>
            </a:r>
            <a:r>
              <a:rPr lang="de-DE" sz="1200" dirty="0"/>
              <a:t>)!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524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121D1-B7C0-09B6-B948-782115013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>
            <a:extLst>
              <a:ext uri="{FF2B5EF4-FFF2-40B4-BE49-F238E27FC236}">
                <a16:creationId xmlns:a16="http://schemas.microsoft.com/office/drawing/2014/main" id="{0EE29350-0CAF-75A6-129F-ED8C75369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1915244"/>
            <a:ext cx="4001351" cy="203508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300A56-4633-8D45-ED5B-789D0B7E0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PyTorch</a:t>
            </a:r>
            <a:r>
              <a:rPr lang="en-GB" dirty="0"/>
              <a:t> - Training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5772AA-33AA-4C11-E55F-75F374B2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26</a:t>
            </a:fld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95D7F9B-26C9-164E-E286-AEE5E7DA6E81}"/>
              </a:ext>
            </a:extLst>
          </p:cNvPr>
          <p:cNvCxnSpPr>
            <a:cxnSpLocks/>
          </p:cNvCxnSpPr>
          <p:nvPr/>
        </p:nvCxnSpPr>
        <p:spPr>
          <a:xfrm flipV="1">
            <a:off x="2812943" y="1394212"/>
            <a:ext cx="2735450" cy="7053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28FFCC9-B3C3-E037-3808-627CB92FFFAC}"/>
              </a:ext>
            </a:extLst>
          </p:cNvPr>
          <p:cNvCxnSpPr>
            <a:cxnSpLocks/>
          </p:cNvCxnSpPr>
          <p:nvPr/>
        </p:nvCxnSpPr>
        <p:spPr>
          <a:xfrm flipV="1">
            <a:off x="3231396" y="2211102"/>
            <a:ext cx="2290992" cy="3557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5DCF98A9-9A52-DB38-C304-1BC23147190A}"/>
              </a:ext>
            </a:extLst>
          </p:cNvPr>
          <p:cNvCxnSpPr>
            <a:cxnSpLocks/>
          </p:cNvCxnSpPr>
          <p:nvPr/>
        </p:nvCxnSpPr>
        <p:spPr>
          <a:xfrm>
            <a:off x="4482000" y="3020621"/>
            <a:ext cx="106639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6CDC043-42E0-A0FE-765C-791E6D387F0A}"/>
              </a:ext>
            </a:extLst>
          </p:cNvPr>
          <p:cNvCxnSpPr>
            <a:cxnSpLocks/>
          </p:cNvCxnSpPr>
          <p:nvPr/>
        </p:nvCxnSpPr>
        <p:spPr>
          <a:xfrm>
            <a:off x="2235607" y="3281509"/>
            <a:ext cx="3312786" cy="5162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4776500A-F91C-FE13-04B3-C2096165490D}"/>
              </a:ext>
            </a:extLst>
          </p:cNvPr>
          <p:cNvSpPr txBox="1"/>
          <p:nvPr/>
        </p:nvSpPr>
        <p:spPr>
          <a:xfrm>
            <a:off x="5582147" y="1114688"/>
            <a:ext cx="3561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We need to s</a:t>
            </a:r>
            <a:r>
              <a:rPr lang="de-DE" sz="1200" dirty="0"/>
              <a:t>et </a:t>
            </a:r>
            <a:r>
              <a:rPr lang="de-DE" sz="1200" dirty="0" err="1"/>
              <a:t>gradients</a:t>
            </a:r>
            <a:r>
              <a:rPr lang="de-DE" sz="1200" dirty="0"/>
              <a:t> </a:t>
            </a:r>
            <a:r>
              <a:rPr lang="de-DE" sz="1200" dirty="0" err="1"/>
              <a:t>from</a:t>
            </a:r>
            <a:r>
              <a:rPr lang="de-DE" sz="1200" dirty="0"/>
              <a:t> </a:t>
            </a:r>
            <a:r>
              <a:rPr lang="de-DE" sz="1200" dirty="0" err="1"/>
              <a:t>previous</a:t>
            </a:r>
            <a:r>
              <a:rPr lang="de-DE" sz="1200" dirty="0"/>
              <a:t> </a:t>
            </a:r>
            <a:r>
              <a:rPr lang="de-DE" sz="1200" dirty="0" err="1"/>
              <a:t>batch</a:t>
            </a:r>
            <a:r>
              <a:rPr lang="de-DE" sz="1200" dirty="0"/>
              <a:t> to 0 </a:t>
            </a:r>
            <a:r>
              <a:rPr lang="de-DE" sz="1200" dirty="0" err="1"/>
              <a:t>before</a:t>
            </a:r>
            <a:r>
              <a:rPr lang="de-DE" sz="1200" dirty="0"/>
              <a:t> </a:t>
            </a:r>
            <a:r>
              <a:rPr lang="de-DE" sz="1200" dirty="0" err="1"/>
              <a:t>calculating</a:t>
            </a:r>
            <a:r>
              <a:rPr lang="de-DE" sz="1200" dirty="0"/>
              <a:t> </a:t>
            </a:r>
            <a:r>
              <a:rPr lang="de-DE" sz="1200" dirty="0" err="1"/>
              <a:t>gradients</a:t>
            </a:r>
            <a:r>
              <a:rPr lang="de-DE" sz="1200" dirty="0"/>
              <a:t> for the </a:t>
            </a:r>
            <a:r>
              <a:rPr lang="de-DE" sz="1200" dirty="0" err="1"/>
              <a:t>current</a:t>
            </a:r>
            <a:r>
              <a:rPr lang="de-DE" sz="1200" dirty="0"/>
              <a:t> </a:t>
            </a:r>
            <a:r>
              <a:rPr lang="de-DE" sz="1200" dirty="0" err="1"/>
              <a:t>batch</a:t>
            </a:r>
            <a:endParaRPr lang="de-DE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4E2E9675-A68C-7F08-BC06-BF84F715B377}"/>
              </a:ext>
            </a:extLst>
          </p:cNvPr>
          <p:cNvSpPr txBox="1"/>
          <p:nvPr/>
        </p:nvSpPr>
        <p:spPr>
          <a:xfrm>
            <a:off x="5548393" y="2046400"/>
            <a:ext cx="3561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We call the model with the training samples as input </a:t>
            </a:r>
            <a:endParaRPr lang="de-DE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EF387CD-B204-75D6-3BE0-A208DB39BEA2}"/>
              </a:ext>
            </a:extLst>
          </p:cNvPr>
          <p:cNvSpPr txBox="1"/>
          <p:nvPr/>
        </p:nvSpPr>
        <p:spPr>
          <a:xfrm>
            <a:off x="5514639" y="2813077"/>
            <a:ext cx="3561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We</a:t>
            </a:r>
            <a:r>
              <a:rPr lang="de-DE" sz="1200" dirty="0"/>
              <a:t> </a:t>
            </a:r>
            <a:r>
              <a:rPr lang="de-DE" sz="1200" dirty="0" err="1"/>
              <a:t>calculate</a:t>
            </a:r>
            <a:r>
              <a:rPr lang="de-DE" sz="1200" dirty="0"/>
              <a:t> the </a:t>
            </a:r>
            <a:r>
              <a:rPr lang="de-DE" sz="1200" dirty="0" err="1"/>
              <a:t>loss</a:t>
            </a:r>
            <a:r>
              <a:rPr lang="de-DE" sz="1200" dirty="0"/>
              <a:t> </a:t>
            </a:r>
            <a:r>
              <a:rPr lang="de-DE" sz="1200" dirty="0" err="1"/>
              <a:t>using</a:t>
            </a:r>
            <a:r>
              <a:rPr lang="de-DE" sz="1200" dirty="0"/>
              <a:t> the </a:t>
            </a:r>
            <a:r>
              <a:rPr lang="de-DE" sz="1200" dirty="0" err="1"/>
              <a:t>defined</a:t>
            </a:r>
            <a:r>
              <a:rPr lang="de-DE" sz="1200" dirty="0"/>
              <a:t> </a:t>
            </a:r>
            <a:r>
              <a:rPr lang="de-DE" sz="1200" dirty="0" err="1"/>
              <a:t>loss</a:t>
            </a:r>
            <a:r>
              <a:rPr lang="de-DE" sz="1200" dirty="0"/>
              <a:t> </a:t>
            </a:r>
            <a:r>
              <a:rPr lang="de-DE" sz="1200" dirty="0" err="1"/>
              <a:t>function</a:t>
            </a:r>
            <a:endParaRPr lang="de-DE" dirty="0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67A798FB-0039-61D1-5155-9B014D36DF27}"/>
              </a:ext>
            </a:extLst>
          </p:cNvPr>
          <p:cNvCxnSpPr>
            <a:cxnSpLocks/>
          </p:cNvCxnSpPr>
          <p:nvPr/>
        </p:nvCxnSpPr>
        <p:spPr>
          <a:xfrm>
            <a:off x="2269361" y="3777211"/>
            <a:ext cx="3279032" cy="731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1F1E96E0-E0BF-6723-DFCA-D0D0714521B8}"/>
              </a:ext>
            </a:extLst>
          </p:cNvPr>
          <p:cNvSpPr txBox="1"/>
          <p:nvPr/>
        </p:nvSpPr>
        <p:spPr>
          <a:xfrm>
            <a:off x="5497077" y="3539611"/>
            <a:ext cx="3561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We</a:t>
            </a:r>
            <a:r>
              <a:rPr lang="de-DE" sz="1200" dirty="0"/>
              <a:t> </a:t>
            </a:r>
            <a:r>
              <a:rPr lang="de-DE" sz="1200" dirty="0" err="1"/>
              <a:t>calculate</a:t>
            </a:r>
            <a:r>
              <a:rPr lang="de-DE" sz="1200" dirty="0"/>
              <a:t> the </a:t>
            </a:r>
            <a:r>
              <a:rPr lang="de-DE" sz="1200" dirty="0" err="1"/>
              <a:t>gradients</a:t>
            </a:r>
            <a:r>
              <a:rPr lang="de-DE" sz="1200" dirty="0"/>
              <a:t> for the </a:t>
            </a:r>
            <a:r>
              <a:rPr lang="de-DE" sz="1200" dirty="0" err="1"/>
              <a:t>current</a:t>
            </a:r>
            <a:r>
              <a:rPr lang="de-DE" sz="1200" dirty="0"/>
              <a:t> </a:t>
            </a:r>
            <a:r>
              <a:rPr lang="de-DE" sz="1200" dirty="0" err="1"/>
              <a:t>loss</a:t>
            </a:r>
            <a:r>
              <a:rPr lang="de-DE" sz="1200" dirty="0"/>
              <a:t> via </a:t>
            </a:r>
            <a:r>
              <a:rPr lang="de-DE" sz="1200" dirty="0" err="1"/>
              <a:t>backpropagation</a:t>
            </a:r>
            <a:endParaRPr lang="de-DE" sz="1200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3D1AC09D-2AFC-619B-3E6D-C847395D68D7}"/>
              </a:ext>
            </a:extLst>
          </p:cNvPr>
          <p:cNvSpPr txBox="1"/>
          <p:nvPr/>
        </p:nvSpPr>
        <p:spPr>
          <a:xfrm>
            <a:off x="5543550" y="4248628"/>
            <a:ext cx="3561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We</a:t>
            </a:r>
            <a:r>
              <a:rPr lang="de-DE" sz="1200" dirty="0"/>
              <a:t> update the </a:t>
            </a:r>
            <a:r>
              <a:rPr lang="de-DE" sz="1200" dirty="0" err="1"/>
              <a:t>models</a:t>
            </a:r>
            <a:r>
              <a:rPr lang="de-DE" sz="1200" dirty="0"/>
              <a:t> </a:t>
            </a:r>
            <a:r>
              <a:rPr lang="de-DE" sz="1200" dirty="0" err="1"/>
              <a:t>training</a:t>
            </a:r>
            <a:r>
              <a:rPr lang="de-DE" sz="1200" dirty="0"/>
              <a:t> </a:t>
            </a:r>
            <a:r>
              <a:rPr lang="de-DE" sz="1200" dirty="0" err="1"/>
              <a:t>parameters</a:t>
            </a:r>
            <a:r>
              <a:rPr lang="de-DE" sz="1200" dirty="0"/>
              <a:t> </a:t>
            </a:r>
            <a:r>
              <a:rPr lang="de-DE" sz="1200" dirty="0" err="1"/>
              <a:t>according</a:t>
            </a:r>
            <a:r>
              <a:rPr lang="de-DE" sz="1200" dirty="0"/>
              <a:t> to the </a:t>
            </a:r>
            <a:r>
              <a:rPr lang="de-DE" sz="1200" dirty="0" err="1"/>
              <a:t>gradients</a:t>
            </a:r>
            <a:r>
              <a:rPr lang="de-DE" sz="1200" dirty="0"/>
              <a:t> and the </a:t>
            </a:r>
            <a:r>
              <a:rPr lang="de-DE" sz="1200" dirty="0" err="1"/>
              <a:t>optimizer</a:t>
            </a:r>
            <a:r>
              <a:rPr lang="de-DE" sz="1200" dirty="0"/>
              <a:t> </a:t>
            </a:r>
            <a:r>
              <a:rPr lang="de-DE" sz="1200" dirty="0" err="1"/>
              <a:t>function</a:t>
            </a:r>
            <a:endParaRPr lang="de-DE" sz="1100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E8C6CC03-B6E8-C600-B760-64A99E5CD574}"/>
              </a:ext>
            </a:extLst>
          </p:cNvPr>
          <p:cNvSpPr txBox="1"/>
          <p:nvPr/>
        </p:nvSpPr>
        <p:spPr>
          <a:xfrm>
            <a:off x="465440" y="1170390"/>
            <a:ext cx="35618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Then, </a:t>
            </a:r>
            <a:r>
              <a:rPr lang="de-DE" sz="1400" dirty="0" err="1"/>
              <a:t>we</a:t>
            </a:r>
            <a:r>
              <a:rPr lang="de-DE" sz="1400" dirty="0"/>
              <a:t> </a:t>
            </a:r>
            <a:r>
              <a:rPr lang="de-DE" sz="1400" dirty="0" err="1"/>
              <a:t>can</a:t>
            </a:r>
            <a:r>
              <a:rPr lang="de-DE" sz="1400" dirty="0"/>
              <a:t> do the </a:t>
            </a:r>
            <a:r>
              <a:rPr lang="de-DE" sz="1400" dirty="0" err="1"/>
              <a:t>training</a:t>
            </a:r>
            <a:r>
              <a:rPr lang="de-DE" sz="1400" dirty="0"/>
              <a:t>. For </a:t>
            </a:r>
            <a:r>
              <a:rPr lang="de-DE" sz="1400" dirty="0" err="1"/>
              <a:t>one</a:t>
            </a:r>
            <a:r>
              <a:rPr lang="de-DE" sz="1400" dirty="0"/>
              <a:t>  step of </a:t>
            </a:r>
            <a:r>
              <a:rPr lang="de-DE" sz="1400" dirty="0" err="1"/>
              <a:t>training</a:t>
            </a:r>
            <a:r>
              <a:rPr lang="de-DE" sz="1400" dirty="0"/>
              <a:t>, </a:t>
            </a:r>
            <a:r>
              <a:rPr lang="de-DE" sz="1400" dirty="0" err="1"/>
              <a:t>we</a:t>
            </a:r>
            <a:r>
              <a:rPr lang="de-DE" sz="1400" dirty="0"/>
              <a:t> </a:t>
            </a:r>
            <a:r>
              <a:rPr lang="de-DE" sz="1400" dirty="0" err="1"/>
              <a:t>need</a:t>
            </a:r>
            <a:r>
              <a:rPr lang="de-DE" sz="1400" dirty="0"/>
              <a:t> to </a:t>
            </a:r>
            <a:r>
              <a:rPr lang="de-DE" sz="1400" dirty="0" err="1"/>
              <a:t>call</a:t>
            </a:r>
            <a:r>
              <a:rPr lang="de-DE" sz="1400" dirty="0"/>
              <a:t>: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88708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4BD4-26F6-20F2-DB49-046332FD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>
            <a:extLst>
              <a:ext uri="{FF2B5EF4-FFF2-40B4-BE49-F238E27FC236}">
                <a16:creationId xmlns:a16="http://schemas.microsoft.com/office/drawing/2014/main" id="{D3C6562A-5008-B94D-613B-87A17E4C6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1915244"/>
            <a:ext cx="4001351" cy="203508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2256B52-9042-1A41-B85F-593425F0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PyTorch</a:t>
            </a:r>
            <a:r>
              <a:rPr lang="en-GB" dirty="0"/>
              <a:t> - Training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7FA034-E8C2-1AA7-E3C0-9369111D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27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9DB35E1-BCD5-6202-60F8-712DCC7DA0D5}"/>
              </a:ext>
            </a:extLst>
          </p:cNvPr>
          <p:cNvSpPr txBox="1"/>
          <p:nvPr/>
        </p:nvSpPr>
        <p:spPr>
          <a:xfrm>
            <a:off x="5046771" y="1275503"/>
            <a:ext cx="3561853" cy="302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We need to iterate over multiple epochs </a:t>
            </a:r>
          </a:p>
          <a:p>
            <a:pPr>
              <a:lnSpc>
                <a:spcPts val="2100"/>
              </a:lnSpc>
            </a:pPr>
            <a:endParaRPr lang="en-GB" sz="1400" dirty="0"/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Every epoch is trained using batches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One batch contains one or multiple samples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Larger batches allow faster training</a:t>
            </a:r>
          </a:p>
        </p:txBody>
      </p:sp>
    </p:spTree>
    <p:extLst>
      <p:ext uri="{BB962C8B-B14F-4D97-AF65-F5344CB8AC3E}">
        <p14:creationId xmlns:p14="http://schemas.microsoft.com/office/powerpoint/2010/main" val="699236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57ADB-8D70-7480-3EBB-150D9924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784813-0F86-C76D-723C-8EEE4DE77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PyTorch</a:t>
            </a:r>
            <a:r>
              <a:rPr lang="en-GB" dirty="0"/>
              <a:t> - </a:t>
            </a:r>
            <a:r>
              <a:rPr lang="en-GB" dirty="0" err="1"/>
              <a:t>Dataloader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F54AAC-7DED-182F-BB31-3B9EB1D20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28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19D6C6D-D9AC-224A-B95C-59BB1E0AA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412" y="1558201"/>
            <a:ext cx="2642588" cy="251045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F75225A-6220-CF30-B542-88D773542222}"/>
              </a:ext>
            </a:extLst>
          </p:cNvPr>
          <p:cNvSpPr txBox="1"/>
          <p:nvPr/>
        </p:nvSpPr>
        <p:spPr>
          <a:xfrm>
            <a:off x="812868" y="4307721"/>
            <a:ext cx="3759132" cy="331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GB" sz="1100" dirty="0"/>
              <a:t>In our case: Dimensions are then (64, 1, 28, 28)</a:t>
            </a:r>
          </a:p>
        </p:txBody>
      </p:sp>
      <p:sp>
        <p:nvSpPr>
          <p:cNvPr id="9" name="Pfeil: nach unten 8">
            <a:extLst>
              <a:ext uri="{FF2B5EF4-FFF2-40B4-BE49-F238E27FC236}">
                <a16:creationId xmlns:a16="http://schemas.microsoft.com/office/drawing/2014/main" id="{D52DF8C2-F598-2126-8647-77F5DA958467}"/>
              </a:ext>
            </a:extLst>
          </p:cNvPr>
          <p:cNvSpPr/>
          <p:nvPr/>
        </p:nvSpPr>
        <p:spPr>
          <a:xfrm>
            <a:off x="2358999" y="4157062"/>
            <a:ext cx="545566" cy="215153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4BA8D18-19BA-1BDF-4EAD-202E0829FDA9}"/>
              </a:ext>
            </a:extLst>
          </p:cNvPr>
          <p:cNvSpPr txBox="1"/>
          <p:nvPr/>
        </p:nvSpPr>
        <p:spPr>
          <a:xfrm>
            <a:off x="5046771" y="897168"/>
            <a:ext cx="3561853" cy="3832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We need to iterate over multiple epochs </a:t>
            </a:r>
          </a:p>
          <a:p>
            <a:pPr>
              <a:lnSpc>
                <a:spcPts val="2100"/>
              </a:lnSpc>
            </a:pPr>
            <a:endParaRPr lang="en-GB" sz="1400" dirty="0"/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Every epoch is trained using batches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One batch contains one or multiple samples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Larger batches allow faster training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GB" sz="1400" dirty="0" err="1"/>
              <a:t>PyTorch</a:t>
            </a:r>
            <a:r>
              <a:rPr lang="en-GB" sz="1400" dirty="0"/>
              <a:t> creates batches with the </a:t>
            </a:r>
            <a:r>
              <a:rPr lang="en-GB" sz="1400" dirty="0" err="1"/>
              <a:t>DataLoader</a:t>
            </a:r>
            <a:r>
              <a:rPr lang="en-GB" sz="1400" dirty="0"/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val="3650579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29AE-5894-F74A-8B80-ADF02DFC8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>
            <a:extLst>
              <a:ext uri="{FF2B5EF4-FFF2-40B4-BE49-F238E27FC236}">
                <a16:creationId xmlns:a16="http://schemas.microsoft.com/office/drawing/2014/main" id="{738D183A-279C-ABC0-94A3-922DFF817F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913" b="54669"/>
          <a:stretch>
            <a:fillRect/>
          </a:stretch>
        </p:blipFill>
        <p:spPr>
          <a:xfrm>
            <a:off x="539750" y="2361188"/>
            <a:ext cx="4001351" cy="47656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D0D64A7-D4A8-AB46-931C-1E582CFE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PyTorch</a:t>
            </a:r>
            <a:r>
              <a:rPr lang="en-GB" dirty="0"/>
              <a:t> – After training: Inference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7E4179-A93E-B439-9F3D-D8FD5490B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29</a:t>
            </a:fld>
            <a:endParaRPr lang="de-DE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F4CF7D4A-010A-9995-1F56-AC467D3B6EEA}"/>
              </a:ext>
            </a:extLst>
          </p:cNvPr>
          <p:cNvCxnSpPr>
            <a:cxnSpLocks/>
          </p:cNvCxnSpPr>
          <p:nvPr/>
        </p:nvCxnSpPr>
        <p:spPr>
          <a:xfrm flipV="1">
            <a:off x="3231396" y="2211102"/>
            <a:ext cx="2290992" cy="3557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7CEE9F9F-9857-E5D6-235B-AC58DC307F98}"/>
              </a:ext>
            </a:extLst>
          </p:cNvPr>
          <p:cNvSpPr txBox="1"/>
          <p:nvPr/>
        </p:nvSpPr>
        <p:spPr>
          <a:xfrm>
            <a:off x="5548393" y="2046400"/>
            <a:ext cx="31420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We call the trained model to predict new instances of data</a:t>
            </a:r>
            <a:endParaRPr lang="de-DE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709171F3-41C1-522A-7DEB-4A4BBD98C5DF}"/>
              </a:ext>
            </a:extLst>
          </p:cNvPr>
          <p:cNvSpPr txBox="1"/>
          <p:nvPr/>
        </p:nvSpPr>
        <p:spPr>
          <a:xfrm>
            <a:off x="605354" y="1421042"/>
            <a:ext cx="3771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For </a:t>
            </a:r>
            <a:r>
              <a:rPr lang="de-DE" sz="1400" dirty="0" err="1"/>
              <a:t>inference</a:t>
            </a:r>
            <a:r>
              <a:rPr lang="de-DE" sz="1400" dirty="0"/>
              <a:t>, </a:t>
            </a:r>
            <a:r>
              <a:rPr lang="de-DE" sz="1400" dirty="0" err="1"/>
              <a:t>we</a:t>
            </a:r>
            <a:r>
              <a:rPr lang="de-DE" sz="1400" dirty="0"/>
              <a:t> </a:t>
            </a:r>
            <a:r>
              <a:rPr lang="de-DE" sz="1400" dirty="0" err="1"/>
              <a:t>only</a:t>
            </a:r>
            <a:r>
              <a:rPr lang="de-DE" sz="1400" dirty="0"/>
              <a:t> </a:t>
            </a:r>
            <a:r>
              <a:rPr lang="de-DE" sz="1400" dirty="0" err="1"/>
              <a:t>need</a:t>
            </a:r>
            <a:r>
              <a:rPr lang="de-DE" sz="1400" dirty="0"/>
              <a:t> to </a:t>
            </a:r>
            <a:r>
              <a:rPr lang="de-DE" sz="1400" dirty="0" err="1"/>
              <a:t>call</a:t>
            </a:r>
            <a:r>
              <a:rPr lang="de-DE" sz="1400" dirty="0"/>
              <a:t> the </a:t>
            </a:r>
            <a:r>
              <a:rPr lang="de-DE" sz="1400" dirty="0" err="1"/>
              <a:t>trained</a:t>
            </a:r>
            <a:r>
              <a:rPr lang="de-DE" sz="1400" dirty="0"/>
              <a:t> </a:t>
            </a:r>
            <a:r>
              <a:rPr lang="de-DE" sz="1400" dirty="0" err="1"/>
              <a:t>model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589809254"/>
      </p:ext>
    </p:extLst>
  </p:cSld>
  <p:clrMapOvr>
    <a:masterClrMapping/>
  </p:clrMapOvr>
</p:sld>
</file>

<file path=ppt/theme/theme1.xml><?xml version="1.0" encoding="utf-8"?>
<a:theme xmlns:a="http://schemas.openxmlformats.org/drawingml/2006/main" name="BAM_16zu9_master">
  <a:themeElements>
    <a:clrScheme name="BAM">
      <a:dk1>
        <a:srgbClr val="000000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FF00"/>
      </a:accent6>
      <a:hlink>
        <a:srgbClr val="002832"/>
      </a:hlink>
      <a:folHlink>
        <a:srgbClr val="002832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FF00"/>
        </a:accent6>
        <a:hlink>
          <a:srgbClr val="002832"/>
        </a:hlink>
        <a:folHlink>
          <a:srgbClr val="002832"/>
        </a:folHlink>
      </a:clrScheme>
    </a:extraClrScheme>
  </a:extraClrSchemeLst>
  <a:extLst>
    <a:ext uri="{05A4C25C-085E-4340-85A3-A5531E510DB2}">
      <thm15:themeFamily xmlns:thm15="http://schemas.microsoft.com/office/thememl/2012/main" name="BAM_16zu9_master" id="{C9821BEF-2ACB-2B4B-8DCE-EE3870480A58}" vid="{C73E6368-F41D-804E-8BA9-C0FF5A538FBE}"/>
    </a:ext>
  </a:extLst>
</a:theme>
</file>

<file path=ppt/theme/theme2.xml><?xml version="1.0" encoding="utf-8"?>
<a:theme xmlns:a="http://schemas.openxmlformats.org/drawingml/2006/main" name="BAM - Master">
  <a:themeElements>
    <a:clrScheme name="BAM">
      <a:dk1>
        <a:srgbClr val="002832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DC00"/>
      </a:accent6>
      <a:hlink>
        <a:srgbClr val="DC2328"/>
      </a:hlink>
      <a:folHlink>
        <a:srgbClr val="00556E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DC00"/>
        </a:accent6>
        <a:hlink>
          <a:srgbClr val="002832"/>
        </a:hlink>
        <a:folHlink>
          <a:srgbClr val="002832"/>
        </a:folHlink>
      </a:clrScheme>
    </a:extraClrScheme>
  </a:extraClrScheme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BAM_16zu9</Template>
  <TotalTime>0</TotalTime>
  <Words>2192</Words>
  <Application>Microsoft Office PowerPoint</Application>
  <PresentationFormat>Bildschirmpräsentation (16:9)</PresentationFormat>
  <Paragraphs>498</Paragraphs>
  <Slides>29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5" baseType="lpstr">
      <vt:lpstr>.AppleSystemUIFont</vt:lpstr>
      <vt:lpstr>Arial</vt:lpstr>
      <vt:lpstr>Calibri</vt:lpstr>
      <vt:lpstr>Verdana</vt:lpstr>
      <vt:lpstr>Wingdings</vt:lpstr>
      <vt:lpstr>BAM_16zu9_master</vt:lpstr>
      <vt:lpstr>Your first Neural Network in PyTorch  –  An Introduction</vt:lpstr>
      <vt:lpstr>We will use existing code</vt:lpstr>
      <vt:lpstr>What we will do today</vt:lpstr>
      <vt:lpstr>General approach to data centric modeling</vt:lpstr>
      <vt:lpstr>Specific example today</vt:lpstr>
      <vt:lpstr>An illustration</vt:lpstr>
      <vt:lpstr>Data creation</vt:lpstr>
      <vt:lpstr>Confusion Matrix – Evaluation Metrics </vt:lpstr>
      <vt:lpstr>Confusion Matrix – Evaluation Metrics </vt:lpstr>
      <vt:lpstr>Confusion Matrix – Evaluation Metrics </vt:lpstr>
      <vt:lpstr>MNIST dataset for training for our example</vt:lpstr>
      <vt:lpstr>PyTorch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PyTorch - Training</vt:lpstr>
      <vt:lpstr>PyTorch - Training</vt:lpstr>
      <vt:lpstr>PyTorch - Training</vt:lpstr>
      <vt:lpstr>PyTorch - Dataloader</vt:lpstr>
      <vt:lpstr>PyTorch – After training: 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Müller, Simon</dc:creator>
  <cp:lastModifiedBy>Müller, Simon</cp:lastModifiedBy>
  <cp:revision>138</cp:revision>
  <dcterms:created xsi:type="dcterms:W3CDTF">2026-08-19T12:05:13Z</dcterms:created>
  <dcterms:modified xsi:type="dcterms:W3CDTF">2026-09-07T16:53:50Z</dcterms:modified>
  <cp:category>Präsentation</cp:category>
  <cp:contentStatus>2017-04-11</cp:contentStatus>
</cp:coreProperties>
</file>